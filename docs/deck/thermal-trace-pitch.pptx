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who we are, then the product in one sentence, then the ask up front. Pause after the headline. We are Generative Gains, and this is Thermal Trace. It turns a cargo's temperature history into two numbers: how much safe life it has left, and how much value can still be recovered from it. We are raising QAR 1.85 million, pre-seed, to prove it in the field: Qatar first, then the GCC.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then straight to the product. 13% of food is lost between harvest and retail; another 19% is wasted after (FAO / UNEP 2024). This is UN SDG target 12.3, and it serves SDG 2 and SDG 13.</a:t>
            </a:r>
          </a:p>
          <a:p/>
          <a:p>
            <a:r>
              <a:t>Make it local in one breath: Qatar imports most of its fresh food across summers above 45 °C, and the National Food Security Strategy 2030 targets −30% food loss. Today's systems raise an alarm; none of them says how much value is left.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we start in Qatar. It is an import-dependent region with a brutal summer. Food arrives by sea and over land, waits in customs holds and border queues, and crosses 42 °C afternoons. Every one of those stops adds thermal debt: shelf life spent before the food reaches a shelf.</a:t>
            </a:r>
          </a:p>
          <a:p/>
          <a:p>
            <a:r>
              <a:t>And the policy is already pointing the same way: TASMU's National Food Security Analytics and Qatar's National Food Security Strategy target efficient supply chains and less food waste. They work at national level. Thermal Trace is the operator-level layer that complements them: one truck, one cold room, one pallet at a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idea in two pictures. Today a crate of food is treated as a liability that decays toward a printed date. Nobody knows what it is worth until it is marked down or thrown away.</a:t>
            </a:r>
          </a:p>
          <a:p/>
          <a:p>
            <a:r>
              <a:t>We treat the same crate as an asset with a live value: its real thermal history tells us how long it has, live demand tells us where it sells, and we act while there is still value to recover.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spine of the product: four layers, each built on the one below. Layer 1, the Thermal Trace, is ground truth: a continuous, timestamped memory of temperature and stress. Layer 2, the Thermal Reserve, is the physical budget left before quality is compromised. Layer 3, the Commercial Reserve, is the economic runway: how much of that remaining life can still be turned into money, CR = Qr × Pr × Vr. Layer 4, the Decision Reserve, is the window left to act before the good options disappear.</a:t>
            </a:r>
          </a:p>
          <a:p/>
          <a:p>
            <a:r>
              <a:t>Safety rules stay deterministic at layers 1 and 2. Commercial optimisation runs inside them, never around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platform, sold as two divisions, each on its own clock. The physical clock is the Thermal Reserve, for 3PLs, fleets and warehouses. Sensors and edge gateways record the Thermal Trace and give a live countdown: this load has, say, 45 minutes left.</a:t>
            </a:r>
          </a:p>
          <a:p/>
          <a:p>
            <a:r>
              <a:t>The commercial clock is the Commercial Reserve, for hypermarkets and hotels, restaurants and caterers. It joins that physical state with point-of-sale, ERP and warehouse data to route stock to where it sells, and price it to clear.</a:t>
            </a:r>
          </a:p>
          <a:p/>
          <a:p>
            <a:r>
              <a:t>Thermal Reserve is the entry point. Commercial Reserve follows as a controlled extension, once the physical layer is trusted. The 45 minutes is an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per sensor if you have time; otherwise read the three outputs at the bottom and move on. Temperature and humidity are the cold chain's vital signs. Shock explains bruising that temperature cannot. Ethylene is the food itself reporting that it has started to ripen. NIR sees inside the box before anything shows outside it, and a camera sees the surface.</a:t>
            </a:r>
          </a:p>
          <a:p/>
          <a:p>
            <a:r>
              <a:t>Be straight about the tiers: temperature, humidity and shock flow through the pipeline today; gas, NIR and vision are the designed next layer, not built. Every sensor publishes the same MQTT message, so adding one changes nothing downstream.</a:t>
            </a:r>
          </a:p>
          <a:p/>
          <a:p>
            <a:r>
              <a:t>Then land the point: these six signals exist to produce three numbers - is it deteriorating, how long is it still good for, and how much damage has already been done.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physical foundation, and it is pure physics. Thermal exposure is the sum of the degrees above the safe limit over time: the shaded area. Deterioration runs at an Arrhenius rate relative to the product's ideal temperature. Add it up and you get the share of shelf life already spent, and the Thermal Reserve that is left: L times one minus D.</a:t>
            </a:r>
          </a:p>
          <a:p/>
          <a:p>
            <a:r>
              <a:t>So a load whose label says seven days can arrive with four and a half. The label assumes it was kept cold the whole way; the trace knows it was not. Every one of these numbers is deterministic Python; no AI model touches them. They are prototype models with literature constants, calibrated per product in the pilot. The 7.0 vs 4.5 days is an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 is not the same as sellable, and this is where most systems stop thinking. The Thermal Reserve is the physical clock. It asks whether the food can still be eaten, it runs from production through transport to the shelf-life boundary, and its job is to protect physical life.</a:t>
            </a:r>
          </a:p>
          <a:p/>
          <a:p>
            <a:r>
              <a:t>The Commercial Reserve is the commercial clock. It asks whether the food can still earn its value. It runs from arrival through customer exposure to sell-through and replenishment, and its job is to protect economic life.</a:t>
            </a:r>
          </a:p>
          <a:p/>
          <a:p>
            <a:r>
              <a:t>Health creates the possibility of selling; demand creates the possibility of realising value. Commercial Reserve lives where the two meet: the quantity that can realistically be sold, times the probability it sells in time, times the expected value per unit. These are estimates with uncertainty; food-safety release always stays with authorised people.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redefine what “in transit” means. A load is in transit until the profit is booked, not until it reaches the dock. Kinetic transit: on the truck, burning fuel and thermal life. This is where routing turns at-risk stock back into sales. Static transit: on the shelf, burning shelf life while it waits for customers; this is the Commercial Reserve's territory. Consumer transit: into the customer's cart, the moment value is actually realised. Consolidation: point-of-sale data flows back, the profit reaches the ledger, and the demand signal triggers replenishment.</a:t>
            </a:r>
          </a:p>
          <a:p/>
          <a:p>
            <a:r>
              <a:t>The line is the value bleeding away at every stage. The trace follows it from farm to ledger. The curve is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layer turns reserves into an action, before the window closes. A reefer truck's compressor is failing. The Thermal Reserve says 45 minutes; the planned hypermarket is 90 minutes away, so the load would arrive spoiled. A buyer 20 minutes away fits the reserve. That leaves about 25 minutes to commit: that is the Decision Reserve.</a:t>
            </a:r>
          </a:p>
          <a:p/>
          <a:p>
            <a:r>
              <a:t>The choice is an optimization, not an opinion: minimise transport, food-loss and delay cost, under hard constraints. The AI layers never pick it: a local model corroborates, a language model explains in plain words, and neither may invent a number. Times are the example scenario.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AI layers, both on a leash. Laya is System 1: a local, offline, Apache-2.0 decision model. It answers typed questions in a single forward pass (condition, action, urgency, needs human review) and cannot write text, so it cannot invent a number. It corroborates the deterministic decision and never overrides it.</a:t>
            </a:r>
          </a:p>
          <a:p/>
          <a:p>
            <a:r>
              <a:t>System 2 is DeepSeek V4.1 Flash, a cloud language model reached through OpenRouter, the explainer: it turns code-computed facts into plain language. It may only move the spoilage estimate within a fixed band and only rank options that are already feasible. With no API key the system still runs; only the prose is plainer.</a:t>
            </a:r>
          </a:p>
          <a:p/>
          <a:p>
            <a:r>
              <a:t>The chips at the bottom are deterministic code, not AI.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shift in one table. The legacy supply chain plays defence: delay spoilage, treat stock as a degrading object, ship by the printed date, wait for a temperature alarm, and absorb waste as an invisible tax.</a:t>
            </a:r>
          </a:p>
          <a:p/>
          <a:p>
            <a:r>
              <a:t>Thermal Trace plays offence: maximise the value recovered, treat stock as an asset with a live value, ship the lowest Commercial Reserve first out, act through routing and early markdowns, and turn waste into a quantified, bounded value at risk.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makes money: we price against value we can prove. A paid pilot of 12 to 16 weeks, QAR 100 to 175 thousand depending on sites and integrations. Then an enterprise subscription, QAR 120 to 240 thousand a year, plus implementation fees for heavy installs.</a:t>
            </a:r>
          </a:p>
          <a:p/>
          <a:p>
            <a:r>
              <a:t>The test we hold ourselves to: measured avoided loss of at least three times the fee. On a QAR 180,000 fee that is QAR 540,000 of benefit, measured against a baseline we agree with the customer up front.</a:t>
            </a:r>
          </a:p>
          <a:p/>
          <a:p>
            <a:r>
              <a:t>The target for the end of the first year is QAR 300 to 500 thousand of contracted ARR. Prices are hypotheses to validate with customers; the ARR is a target, not a forecast.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land. We are raising QAR 1.85 million, about 508 thousand US dollars, as a pre-seed or strategic round, to run for 12 months. 55% builds the core five-person engineering team. 23.5% goes to sensors, deployment, cloud and integration. 10.8% to food-domain validation, customer development and legal. 10.5% is a contingency reserve, released only with documented approval from founders and investors.</a:t>
            </a:r>
          </a:p>
          <a:p/>
          <a:p>
            <a:r>
              <a:t>What it buys: one anchor customer live at three to five facilities, avoided loss measured at three times our fee or more, Commercial Reserve tested in controlled trials, and an annual contract with a second customer behind it. Every kilogram saved is logged: evidence toward SDG 12.3.</a:t>
            </a:r>
          </a:p>
          <a:p/>
          <a:p>
            <a:r>
              <a:t>The next five slides show exactly where it goes: the flow, the team, the equipment, the months, and the risks.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riyal through the round. Of QAR 1.85 million, 1.02 million, 55%, is the engineering team: that is where the product gets built. 435 thousand is hardware and platform: sensors and edge equipment, deployment and calibration, cloud and security, and integration with the customer's systems. 200 thousand is validation and go-to-market: food-safety experts, customer development, and the legal work behind data access and contracts. And 195 thousand is a contingency reserve that nobody can spend without documented approval from founders and investors.</a:t>
            </a:r>
          </a:p>
          <a:p/>
          <a:p>
            <a:r>
              <a:t>The next three slides open each of those boxes.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than half the round is people, so here is exactly who. Five engineers, one owner per part of the product. A CTO and systems architect owns architecture, scope, data contracts, security and delivery. A thermal-intelligence and data engineer owns the thermal state, exposure, risk models, shelf-life logic and validation. A backend and data-platform engineer owns ingestion, databases, APIs, identity and integrations. An IoT and edge engineer owns sensors, gateways, connectivity, calibration and diagnostics. And an application and workflow engineer owns the operator interface, alerts, approvals and the ERP and warehouse workflows.</a:t>
            </a:r>
          </a:p>
          <a:p/>
          <a:p>
            <a:r>
              <a:t>QAR 76,000 a month gross, 912,000 a year, plus about 109,000 of employment costs: about QAR 1.02 million. The CEO leads investors, anchor customers and sales. Food-safety experts are hired fractionally from the validation line. These are lean planning assumptions, not guaranteed market rates.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QAR 830,000, line by line. Hardware and platform, 435 thousand: sensors and edge gateways for three to five facilities across two or three asset classes (cold rooms, reefer trucks, dispatch areas); installing, calibrating and testing them; twelve months of cloud, storage and security; and a few high-value data flows into the customer's product, shipment, ERP and warehouse records.</a:t>
            </a:r>
          </a:p>
          <a:p/>
          <a:p>
            <a:r>
              <a:t>Validation and go-to-market, 200 thousand: fractional food-safety experts to review the thresholds and shelf-life models; the anchor-customer pilot itself, from site survey to conversion; and the data-access agreements and contracts.</a:t>
            </a:r>
          </a:p>
          <a:p/>
          <a:p>
            <a:r>
              <a:t>Contingency, 195 thousand: released only with documented approval from founders and investors.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turns into proof over twelve months. Months one and two: secure the pilot, survey the sites, agree with the customer how value will be measured, and build the baseline. Three and four: install devices, build ingestion and the asset history, test outages and alerts. Five and six: run the excursion logic, risk estimates and the approved intervention workflow. Seven to nine: compare against the baseline, quantify the value, and start controlled Commercial Reserve tests. Ten to twelve: convert to an annual contract and pursue a second customer.</a:t>
            </a:r>
          </a:p>
          <a:p/>
          <a:p>
            <a:r>
              <a:t>The team costs about QAR 85,000 a month the whole way through (1.02 million over twelve months). The other lines follow the work; the phasing shown is indicative. The bar the pilot has to clear: measured avoided loss of at least three times the platform fee, linked from the equipment anomaly to the economic exposure.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could go wrong with the money, and what we do about it. Customer data access: we sign data access and a named sponsor before anything is installed. False precision: validated assumptions, uncertainty shown on screen, and domain review. Integration complexity: a few high-value data flows with clear contracts, not a big-bang integration. A long sales cycle: named decision-makers, agreed success criteria and conversion terms in the pilot contract. And building both divisions too early: Thermal Reserve first, Commercial Reserve staged after it.</a:t>
            </a:r>
          </a:p>
          <a:p/>
          <a:p>
            <a:r>
              <a:t>Behind all of that sits the 10.5% contingency, which needs documented approval from founders and investors to spend.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future, after everything that exists today. Trace, state, reserve, decision is not a food feature; it is a general primitive. Any industry where an asset deteriorates, cures or loses viability under the stress of time needs the same architecture. Biopharma has stability budgets and needs to intercept a shipment before it fails. Energy grids read inverter telemetry and need a flexibility reserve. Space cargo bleeds propellant and cycles thermally and needs a mission reserve. Defence logistics tracks munition shock and degradation for readiness.</a:t>
            </a:r>
          </a:p>
          <a:p/>
          <a:p>
            <a:r>
              <a:t>We start where the loss is largest and the data is easiest: the food cold chain in Qatar. These are directions, not products we have built. Then: thank you.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while taking questions. Restate the ask in one line: Generative Gains is raising QAR 1.85 million, for twelve months, to prove Thermal Trace in the field: that a failing fridge's cost can be measured and recovered.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 Id="rId12" Type="http://schemas.openxmlformats.org/officeDocument/2006/relationships/image" Target="../media/image47.png"/><Relationship Id="rId13" Type="http://schemas.openxmlformats.org/officeDocument/2006/relationships/image" Target="../media/image48.png"/><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image" Target="../media/image56.png"/><Relationship Id="rId10" Type="http://schemas.openxmlformats.org/officeDocument/2006/relationships/image" Target="../media/image57.png"/><Relationship Id="rId11" Type="http://schemas.openxmlformats.org/officeDocument/2006/relationships/image" Target="../media/image58.png"/><Relationship Id="rId12" Type="http://schemas.openxmlformats.org/officeDocument/2006/relationships/image" Target="../media/image59.png"/><Relationship Id="rId13" Type="http://schemas.openxmlformats.org/officeDocument/2006/relationships/image" Target="../media/image60.png"/><Relationship Id="rId14" Type="http://schemas.openxmlformats.org/officeDocument/2006/relationships/image" Target="../media/image61.png"/><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image" Target="../media/image74.png"/><Relationship Id="rId8" Type="http://schemas.openxmlformats.org/officeDocument/2006/relationships/image" Target="../media/image75.png"/><Relationship Id="rId9" Type="http://schemas.openxmlformats.org/officeDocument/2006/relationships/image" Target="../media/image76.png"/><Relationship Id="rId10" Type="http://schemas.openxmlformats.org/officeDocument/2006/relationships/image" Target="../media/image77.png"/><Relationship Id="rId11" Type="http://schemas.openxmlformats.org/officeDocument/2006/relationships/image" Target="../media/image78.png"/><Relationship Id="rId12" Type="http://schemas.openxmlformats.org/officeDocument/2006/relationships/image" Target="../media/image79.png"/><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image" Target="../media/image87.png"/><Relationship Id="rId10" Type="http://schemas.openxmlformats.org/officeDocument/2006/relationships/image" Target="../media/image88.png"/><Relationship Id="rId11" Type="http://schemas.openxmlformats.org/officeDocument/2006/relationships/image" Target="../media/image89.png"/><Relationship Id="rId12" Type="http://schemas.openxmlformats.org/officeDocument/2006/relationships/image" Target="../media/image90.png"/><Relationship Id="rId13" Type="http://schemas.openxmlformats.org/officeDocument/2006/relationships/image" Target="../media/image91.png"/><Relationship Id="rId14" Type="http://schemas.openxmlformats.org/officeDocument/2006/relationships/image" Target="../media/image92.png"/><Relationship Id="rId15" Type="http://schemas.openxmlformats.org/officeDocument/2006/relationships/image" Target="../media/image93.png"/><Relationship Id="rId16" Type="http://schemas.openxmlformats.org/officeDocument/2006/relationships/image" Target="../media/image94.png"/><Relationship Id="rId17" Type="http://schemas.openxmlformats.org/officeDocument/2006/relationships/image" Target="../media/image95.png"/><Relationship Id="rId18" Type="http://schemas.openxmlformats.org/officeDocument/2006/relationships/image" Target="../media/image96.png"/><Relationship Id="rId1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image" Target="../media/image102.png"/><Relationship Id="rId8" Type="http://schemas.openxmlformats.org/officeDocument/2006/relationships/image" Target="../media/image103.png"/><Relationship Id="rId9" Type="http://schemas.openxmlformats.org/officeDocument/2006/relationships/image" Target="../media/image104.png"/><Relationship Id="rId10" Type="http://schemas.openxmlformats.org/officeDocument/2006/relationships/image" Target="../media/image105.png"/><Relationship Id="rId11" Type="http://schemas.openxmlformats.org/officeDocument/2006/relationships/image" Target="../media/image106.png"/><Relationship Id="rId12" Type="http://schemas.openxmlformats.org/officeDocument/2006/relationships/image" Target="../media/image107.png"/><Relationship Id="rId13" Type="http://schemas.openxmlformats.org/officeDocument/2006/relationships/image" Target="../media/image108.png"/><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 Id="rId3" Type="http://schemas.openxmlformats.org/officeDocument/2006/relationships/image" Target="../media/image110.png"/><Relationship Id="rId4" Type="http://schemas.openxmlformats.org/officeDocument/2006/relationships/image" Target="../media/image111.png"/><Relationship Id="rId5" Type="http://schemas.openxmlformats.org/officeDocument/2006/relationships/image" Target="../media/image112.png"/><Relationship Id="rId6" Type="http://schemas.openxmlformats.org/officeDocument/2006/relationships/image" Target="../media/image113.png"/><Relationship Id="rId7" Type="http://schemas.openxmlformats.org/officeDocument/2006/relationships/image" Target="../media/image114.png"/><Relationship Id="rId8" Type="http://schemas.openxmlformats.org/officeDocument/2006/relationships/image" Target="../media/image115.png"/><Relationship Id="rId9" Type="http://schemas.openxmlformats.org/officeDocument/2006/relationships/image" Target="../media/image116.png"/><Relationship Id="rId10" Type="http://schemas.openxmlformats.org/officeDocument/2006/relationships/image" Target="../media/image117.png"/><Relationship Id="rId11" Type="http://schemas.openxmlformats.org/officeDocument/2006/relationships/image" Target="../media/image118.png"/><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 Id="rId3" Type="http://schemas.openxmlformats.org/officeDocument/2006/relationships/image" Target="../media/image81.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image" Target="../media/image124.png"/><Relationship Id="rId9" Type="http://schemas.openxmlformats.org/officeDocument/2006/relationships/image" Target="../media/image125.png"/><Relationship Id="rId10" Type="http://schemas.openxmlformats.org/officeDocument/2006/relationships/image" Target="../media/image126.png"/><Relationship Id="rId11" Type="http://schemas.openxmlformats.org/officeDocument/2006/relationships/image" Target="../media/image127.png"/><Relationship Id="rId12" Type="http://schemas.openxmlformats.org/officeDocument/2006/relationships/image" Target="../media/image128.png"/><Relationship Id="rId13" Type="http://schemas.openxmlformats.org/officeDocument/2006/relationships/image" Target="../media/image129.png"/><Relationship Id="rId14" Type="http://schemas.openxmlformats.org/officeDocument/2006/relationships/image" Target="../media/image130.png"/><Relationship Id="rId15" Type="http://schemas.openxmlformats.org/officeDocument/2006/relationships/image" Target="../media/image131.png"/><Relationship Id="rId16" Type="http://schemas.openxmlformats.org/officeDocument/2006/relationships/image" Target="../media/image132.png"/><Relationship Id="rId17" Type="http://schemas.openxmlformats.org/officeDocument/2006/relationships/image" Target="../media/image133.png"/><Relationship Id="rId18" Type="http://schemas.openxmlformats.org/officeDocument/2006/relationships/image" Target="../media/image134.png"/><Relationship Id="rId1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 Id="rId7" Type="http://schemas.openxmlformats.org/officeDocument/2006/relationships/image" Target="../media/image140.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 Id="rId3" Type="http://schemas.openxmlformats.org/officeDocument/2006/relationships/image" Target="../media/image146.png"/><Relationship Id="rId4" Type="http://schemas.openxmlformats.org/officeDocument/2006/relationships/image" Target="../media/image147.png"/><Relationship Id="rId5" Type="http://schemas.openxmlformats.org/officeDocument/2006/relationships/image" Target="../media/image148.png"/><Relationship Id="rId6" Type="http://schemas.openxmlformats.org/officeDocument/2006/relationships/image" Target="../media/image149.png"/><Relationship Id="rId7" Type="http://schemas.openxmlformats.org/officeDocument/2006/relationships/image" Target="../media/image150.png"/><Relationship Id="rId8" Type="http://schemas.openxmlformats.org/officeDocument/2006/relationships/image" Target="../media/image151.png"/><Relationship Id="rId9" Type="http://schemas.openxmlformats.org/officeDocument/2006/relationships/image" Target="../media/image152.png"/><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png"/><Relationship Id="rId3" Type="http://schemas.openxmlformats.org/officeDocument/2006/relationships/image" Target="../media/image154.png"/><Relationship Id="rId4" Type="http://schemas.openxmlformats.org/officeDocument/2006/relationships/image" Target="../media/image155.png"/><Relationship Id="rId5" Type="http://schemas.openxmlformats.org/officeDocument/2006/relationships/image" Target="../media/image156.png"/><Relationship Id="rId6" Type="http://schemas.openxmlformats.org/officeDocument/2006/relationships/image" Target="../media/image157.png"/><Relationship Id="rId7" Type="http://schemas.openxmlformats.org/officeDocument/2006/relationships/image" Target="../media/image158.png"/><Relationship Id="rId8" Type="http://schemas.openxmlformats.org/officeDocument/2006/relationships/image" Target="../media/image159.png"/><Relationship Id="rId9" Type="http://schemas.openxmlformats.org/officeDocument/2006/relationships/image" Target="../media/image160.png"/><Relationship Id="rId10" Type="http://schemas.openxmlformats.org/officeDocument/2006/relationships/image" Target="../media/image161.png"/><Relationship Id="rId11" Type="http://schemas.openxmlformats.org/officeDocument/2006/relationships/image" Target="../media/image162.png"/><Relationship Id="rId12" Type="http://schemas.openxmlformats.org/officeDocument/2006/relationships/image" Target="../media/image163.png"/><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4.png"/><Relationship Id="rId3" Type="http://schemas.openxmlformats.org/officeDocument/2006/relationships/image" Target="../media/image165.png"/><Relationship Id="rId4" Type="http://schemas.openxmlformats.org/officeDocument/2006/relationships/image" Target="../media/image166.png"/><Relationship Id="rId5" Type="http://schemas.openxmlformats.org/officeDocument/2006/relationships/image" Target="../media/image167.png"/><Relationship Id="rId6" Type="http://schemas.openxmlformats.org/officeDocument/2006/relationships/image" Target="../media/image168.png"/><Relationship Id="rId7" Type="http://schemas.openxmlformats.org/officeDocument/2006/relationships/image" Target="../media/image169.png"/><Relationship Id="rId8" Type="http://schemas.openxmlformats.org/officeDocument/2006/relationships/image" Target="../media/image170.png"/><Relationship Id="rId9" Type="http://schemas.openxmlformats.org/officeDocument/2006/relationships/image" Target="../media/image171.png"/><Relationship Id="rId10" Type="http://schemas.openxmlformats.org/officeDocument/2006/relationships/image" Target="../media/image172.png"/><Relationship Id="rId11" Type="http://schemas.openxmlformats.org/officeDocument/2006/relationships/image" Target="../media/image173.png"/><Relationship Id="rId12" Type="http://schemas.openxmlformats.org/officeDocument/2006/relationships/image" Target="../media/image174.png"/><Relationship Id="rId13" Type="http://schemas.openxmlformats.org/officeDocument/2006/relationships/image" Target="../media/image175.png"/><Relationship Id="rId14" Type="http://schemas.openxmlformats.org/officeDocument/2006/relationships/image" Target="../media/image176.png"/><Relationship Id="rId15" Type="http://schemas.openxmlformats.org/officeDocument/2006/relationships/image" Target="../media/image177.png"/><Relationship Id="rId16" Type="http://schemas.openxmlformats.org/officeDocument/2006/relationships/image" Target="../media/image178.png"/><Relationship Id="rId17" Type="http://schemas.openxmlformats.org/officeDocument/2006/relationships/image" Target="../media/image179.png"/><Relationship Id="rId18" Type="http://schemas.openxmlformats.org/officeDocument/2006/relationships/image" Target="../media/image180.png"/><Relationship Id="rId19" Type="http://schemas.openxmlformats.org/officeDocument/2006/relationships/image" Target="../media/image181.png"/><Relationship Id="rId20" Type="http://schemas.openxmlformats.org/officeDocument/2006/relationships/image" Target="../media/image182.png"/><Relationship Id="rId21" Type="http://schemas.openxmlformats.org/officeDocument/2006/relationships/image" Target="../media/image183.png"/><Relationship Id="rId22" Type="http://schemas.openxmlformats.org/officeDocument/2006/relationships/image" Target="../media/image184.png"/><Relationship Id="rId23" Type="http://schemas.openxmlformats.org/officeDocument/2006/relationships/image" Target="../media/image185.png"/><Relationship Id="rId24" Type="http://schemas.openxmlformats.org/officeDocument/2006/relationships/image" Target="../media/image186.png"/><Relationship Id="rId25" Type="http://schemas.openxmlformats.org/officeDocument/2006/relationships/image" Target="../media/image187.png"/><Relationship Id="rId26" Type="http://schemas.openxmlformats.org/officeDocument/2006/relationships/image" Target="../media/image188.png"/><Relationship Id="rId27" Type="http://schemas.openxmlformats.org/officeDocument/2006/relationships/image" Target="../media/image189.png"/><Relationship Id="rId28" Type="http://schemas.openxmlformats.org/officeDocument/2006/relationships/image" Target="../media/image190.png"/><Relationship Id="rId29" Type="http://schemas.openxmlformats.org/officeDocument/2006/relationships/image" Target="../media/image191.png"/><Relationship Id="rId30" Type="http://schemas.openxmlformats.org/officeDocument/2006/relationships/image" Target="../media/image192.png"/><Relationship Id="rId31" Type="http://schemas.openxmlformats.org/officeDocument/2006/relationships/image" Target="../media/image193.png"/><Relationship Id="rId32" Type="http://schemas.openxmlformats.org/officeDocument/2006/relationships/image" Target="../media/image194.png"/><Relationship Id="rId33" Type="http://schemas.openxmlformats.org/officeDocument/2006/relationships/image" Target="../media/image195.png"/><Relationship Id="rId34" Type="http://schemas.openxmlformats.org/officeDocument/2006/relationships/image" Target="../media/image196.png"/><Relationship Id="rId35" Type="http://schemas.openxmlformats.org/officeDocument/2006/relationships/image" Target="../media/image197.png"/><Relationship Id="rId36" Type="http://schemas.openxmlformats.org/officeDocument/2006/relationships/image" Target="../media/image198.png"/><Relationship Id="rId37" Type="http://schemas.openxmlformats.org/officeDocument/2006/relationships/image" Target="../media/image199.png"/><Relationship Id="rId38" Type="http://schemas.openxmlformats.org/officeDocument/2006/relationships/image" Target="../media/image200.png"/><Relationship Id="rId39" Type="http://schemas.openxmlformats.org/officeDocument/2006/relationships/image" Target="../media/image201.png"/><Relationship Id="rId40" Type="http://schemas.openxmlformats.org/officeDocument/2006/relationships/image" Target="../media/image202.png"/><Relationship Id="rId41" Type="http://schemas.openxmlformats.org/officeDocument/2006/relationships/image" Target="../media/image203.png"/><Relationship Id="rId4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4.png"/><Relationship Id="rId3" Type="http://schemas.openxmlformats.org/officeDocument/2006/relationships/image" Target="../media/image205.png"/><Relationship Id="rId4" Type="http://schemas.openxmlformats.org/officeDocument/2006/relationships/image" Target="../media/image206.png"/><Relationship Id="rId5" Type="http://schemas.openxmlformats.org/officeDocument/2006/relationships/image" Target="../media/image207.png"/><Relationship Id="rId6" Type="http://schemas.openxmlformats.org/officeDocument/2006/relationships/image" Target="../media/image208.png"/><Relationship Id="rId7" Type="http://schemas.openxmlformats.org/officeDocument/2006/relationships/image" Target="../media/image209.pn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0.png"/><Relationship Id="rId3" Type="http://schemas.openxmlformats.org/officeDocument/2006/relationships/image" Target="../media/image211.png"/><Relationship Id="rId4" Type="http://schemas.openxmlformats.org/officeDocument/2006/relationships/image" Target="../media/image212.png"/><Relationship Id="rId5" Type="http://schemas.openxmlformats.org/officeDocument/2006/relationships/image" Target="../media/image213.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4.png"/><Relationship Id="rId3" Type="http://schemas.openxmlformats.org/officeDocument/2006/relationships/image" Target="../media/image215.png"/><Relationship Id="rId4" Type="http://schemas.openxmlformats.org/officeDocument/2006/relationships/image" Target="../media/image216.png"/><Relationship Id="rId5" Type="http://schemas.openxmlformats.org/officeDocument/2006/relationships/image" Target="../media/image217.png"/><Relationship Id="rId6" Type="http://schemas.openxmlformats.org/officeDocument/2006/relationships/image" Target="../media/image218.png"/><Relationship Id="rId7" Type="http://schemas.openxmlformats.org/officeDocument/2006/relationships/image" Target="../media/image219.png"/><Relationship Id="rId8" Type="http://schemas.openxmlformats.org/officeDocument/2006/relationships/image" Target="../media/image220.png"/><Relationship Id="rId9" Type="http://schemas.openxmlformats.org/officeDocument/2006/relationships/image" Target="../media/image221.png"/><Relationship Id="rId10" Type="http://schemas.openxmlformats.org/officeDocument/2006/relationships/image" Target="../media/image222.png"/><Relationship Id="rId11" Type="http://schemas.openxmlformats.org/officeDocument/2006/relationships/image" Target="../media/image223.png"/><Relationship Id="rId12" Type="http://schemas.openxmlformats.org/officeDocument/2006/relationships/image" Target="../media/image224.png"/><Relationship Id="rId13" Type="http://schemas.openxmlformats.org/officeDocument/2006/relationships/image" Target="../media/image225.png"/><Relationship Id="rId14" Type="http://schemas.openxmlformats.org/officeDocument/2006/relationships/image" Target="../media/image226.png"/><Relationship Id="rId1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7.png"/><Relationship Id="rId3" Type="http://schemas.openxmlformats.org/officeDocument/2006/relationships/image" Target="../media/image228.png"/><Relationship Id="rId4" Type="http://schemas.openxmlformats.org/officeDocument/2006/relationships/image" Target="../media/image229.png"/><Relationship Id="rId5" Type="http://schemas.openxmlformats.org/officeDocument/2006/relationships/image" Target="../media/image230.png"/><Relationship Id="rId6" Type="http://schemas.openxmlformats.org/officeDocument/2006/relationships/image" Target="../media/image231.png"/><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40.png"/><Relationship Id="rId11" Type="http://schemas.openxmlformats.org/officeDocument/2006/relationships/image" Target="../media/image241.png"/><Relationship Id="rId12" Type="http://schemas.openxmlformats.org/officeDocument/2006/relationships/image" Target="../media/image242.png"/><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3.png"/><Relationship Id="rId3" Type="http://schemas.openxmlformats.org/officeDocument/2006/relationships/image" Target="../media/image244.png"/><Relationship Id="rId4" Type="http://schemas.openxmlformats.org/officeDocument/2006/relationships/image" Target="../media/image245.png"/><Relationship Id="rId5" Type="http://schemas.openxmlformats.org/officeDocument/2006/relationships/image" Target="../media/image246.png"/><Relationship Id="rId6" Type="http://schemas.openxmlformats.org/officeDocument/2006/relationships/image" Target="../media/image247.png"/><Relationship Id="rId7" Type="http://schemas.openxmlformats.org/officeDocument/2006/relationships/image" Target="../media/image248.png"/><Relationship Id="rId8" Type="http://schemas.openxmlformats.org/officeDocument/2006/relationships/image" Target="../media/image249.png"/><Relationship Id="rId9" Type="http://schemas.openxmlformats.org/officeDocument/2006/relationships/image" Target="../media/image250.png"/><Relationship Id="rId10" Type="http://schemas.openxmlformats.org/officeDocument/2006/relationships/image" Target="../media/image251.png"/><Relationship Id="rId11" Type="http://schemas.openxmlformats.org/officeDocument/2006/relationships/image" Target="../media/image252.png"/><Relationship Id="rId12" Type="http://schemas.openxmlformats.org/officeDocument/2006/relationships/image" Target="../media/image253.png"/><Relationship Id="rId1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Thermal Trace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Presented by" descr="Presented by"/>
          <p:cNvPicPr>
            <a:picLocks noChangeAspect="1"/>
          </p:cNvPicPr>
          <p:nvPr/>
        </p:nvPicPr>
        <p:blipFill>
          <a:blip r:embed="rId3"/>
          <a:stretch>
            <a:fillRect/>
          </a:stretch>
        </p:blipFill>
        <p:spPr>
          <a:xfrm>
            <a:off x="8686800" y="508000"/>
            <a:ext cx="2844800" cy="1968500"/>
          </a:xfrm>
          <a:prstGeom prst="rect">
            <a:avLst/>
          </a:prstGeom>
        </p:spPr>
      </p:pic>
      <p:pic>
        <p:nvPicPr>
          <p:cNvPr id="4" name="01 wipe · graphic" descr=""/>
          <p:cNvPicPr>
            <a:picLocks noChangeAspect="1"/>
          </p:cNvPicPr>
          <p:nvPr/>
        </p:nvPicPr>
        <p:blipFill>
          <a:blip r:embed="rId4"/>
          <a:stretch>
            <a:fillRect/>
          </a:stretch>
        </p:blipFill>
        <p:spPr>
          <a:xfrm>
            <a:off x="8166100" y="4292600"/>
            <a:ext cx="4025900" cy="1384300"/>
          </a:xfrm>
          <a:prstGeom prst="rect">
            <a:avLst/>
          </a:prstGeom>
        </p:spPr>
      </p:pic>
      <p:pic>
        <p:nvPicPr>
          <p:cNvPr id="5" name="02 draw · graphic" descr=""/>
          <p:cNvPicPr>
            <a:picLocks noChangeAspect="1"/>
          </p:cNvPicPr>
          <p:nvPr/>
        </p:nvPicPr>
        <p:blipFill>
          <a:blip r:embed="rId5"/>
          <a:stretch>
            <a:fillRect/>
          </a:stretch>
        </p:blipFill>
        <p:spPr>
          <a:xfrm>
            <a:off x="0" y="4292600"/>
            <a:ext cx="12192000" cy="1968500"/>
          </a:xfrm>
          <a:prstGeom prst="rect">
            <a:avLst/>
          </a:prstGeom>
        </p:spPr>
      </p:pic>
      <p:pic>
        <p:nvPicPr>
          <p:cNvPr id="6" name="03 zoom · graphic" descr=""/>
          <p:cNvPicPr>
            <a:picLocks noChangeAspect="1"/>
          </p:cNvPicPr>
          <p:nvPr/>
        </p:nvPicPr>
        <p:blipFill>
          <a:blip r:embed="rId6"/>
          <a:stretch>
            <a:fillRect/>
          </a:stretch>
        </p:blipFill>
        <p:spPr>
          <a:xfrm>
            <a:off x="673100" y="1638300"/>
            <a:ext cx="1231900" cy="1238250"/>
          </a:xfrm>
          <a:prstGeom prst="rect">
            <a:avLst/>
          </a:prstGeom>
        </p:spPr>
      </p:pic>
      <p:pic>
        <p:nvPicPr>
          <p:cNvPr id="7" name="04 draw · graphic" descr=""/>
          <p:cNvPicPr>
            <a:picLocks noChangeAspect="1"/>
          </p:cNvPicPr>
          <p:nvPr/>
        </p:nvPicPr>
        <p:blipFill>
          <a:blip r:embed="rId7"/>
          <a:stretch>
            <a:fillRect/>
          </a:stretch>
        </p:blipFill>
        <p:spPr>
          <a:xfrm>
            <a:off x="1136650" y="1778000"/>
            <a:ext cx="304800" cy="965200"/>
          </a:xfrm>
          <a:prstGeom prst="rect">
            <a:avLst/>
          </a:prstGeom>
        </p:spPr>
      </p:pic>
      <p:pic>
        <p:nvPicPr>
          <p:cNvPr id="8" name="05 draw · graphic" descr=""/>
          <p:cNvPicPr>
            <a:picLocks noChangeAspect="1"/>
          </p:cNvPicPr>
          <p:nvPr/>
        </p:nvPicPr>
        <p:blipFill>
          <a:blip r:embed="rId8"/>
          <a:stretch>
            <a:fillRect/>
          </a:stretch>
        </p:blipFill>
        <p:spPr>
          <a:xfrm>
            <a:off x="850900" y="1936750"/>
            <a:ext cx="876300" cy="641350"/>
          </a:xfrm>
          <a:prstGeom prst="rect">
            <a:avLst/>
          </a:prstGeom>
        </p:spPr>
      </p:pic>
      <p:pic>
        <p:nvPicPr>
          <p:cNvPr id="9" name="06 draw · graphic" descr=""/>
          <p:cNvPicPr>
            <a:picLocks noChangeAspect="1"/>
          </p:cNvPicPr>
          <p:nvPr/>
        </p:nvPicPr>
        <p:blipFill>
          <a:blip r:embed="rId9"/>
          <a:stretch>
            <a:fillRect/>
          </a:stretch>
        </p:blipFill>
        <p:spPr>
          <a:xfrm>
            <a:off x="850900" y="1936750"/>
            <a:ext cx="876300" cy="641350"/>
          </a:xfrm>
          <a:prstGeom prst="rect">
            <a:avLst/>
          </a:prstGeom>
        </p:spPr>
      </p:pic>
      <p:pic>
        <p:nvPicPr>
          <p:cNvPr id="10" name="07 draw · graphic" descr=""/>
          <p:cNvPicPr>
            <a:picLocks noChangeAspect="1"/>
          </p:cNvPicPr>
          <p:nvPr/>
        </p:nvPicPr>
        <p:blipFill>
          <a:blip r:embed="rId10"/>
          <a:stretch>
            <a:fillRect/>
          </a:stretch>
        </p:blipFill>
        <p:spPr>
          <a:xfrm>
            <a:off x="1041400" y="1835150"/>
            <a:ext cx="495300" cy="400050"/>
          </a:xfrm>
          <a:prstGeom prst="rect">
            <a:avLst/>
          </a:prstGeom>
        </p:spPr>
      </p:pic>
      <p:pic>
        <p:nvPicPr>
          <p:cNvPr id="11" name="08 draw · graphic" descr=""/>
          <p:cNvPicPr>
            <a:picLocks noChangeAspect="1"/>
          </p:cNvPicPr>
          <p:nvPr/>
        </p:nvPicPr>
        <p:blipFill>
          <a:blip r:embed="rId11"/>
          <a:stretch>
            <a:fillRect/>
          </a:stretch>
        </p:blipFill>
        <p:spPr>
          <a:xfrm>
            <a:off x="1041400" y="2279650"/>
            <a:ext cx="495300" cy="400050"/>
          </a:xfrm>
          <a:prstGeom prst="rect">
            <a:avLst/>
          </a:prstGeom>
        </p:spPr>
      </p:pic>
      <p:pic>
        <p:nvPicPr>
          <p:cNvPr id="12" name="09 left · Thermal Trace" descr="Thermal Trace"/>
          <p:cNvPicPr>
            <a:picLocks noChangeAspect="1"/>
          </p:cNvPicPr>
          <p:nvPr/>
        </p:nvPicPr>
        <p:blipFill>
          <a:blip r:embed="rId12"/>
          <a:stretch>
            <a:fillRect/>
          </a:stretch>
        </p:blipFill>
        <p:spPr>
          <a:xfrm>
            <a:off x="1866900" y="1600200"/>
            <a:ext cx="5803900" cy="1047750"/>
          </a:xfrm>
          <a:prstGeom prst="rect">
            <a:avLst/>
          </a:prstGeom>
        </p:spPr>
      </p:pic>
      <p:pic>
        <p:nvPicPr>
          <p:cNvPr id="13" name="10 fade · Pre-seed · QAR 1.85M · Qatar f" descr="Pre-seed · QAR 1.85M · Qatar first, GCC next"/>
          <p:cNvPicPr>
            <a:picLocks noChangeAspect="1"/>
          </p:cNvPicPr>
          <p:nvPr/>
        </p:nvPicPr>
        <p:blipFill>
          <a:blip r:embed="rId13"/>
          <a:stretch>
            <a:fillRect/>
          </a:stretch>
        </p:blipFill>
        <p:spPr>
          <a:xfrm>
            <a:off x="1866900" y="2451100"/>
            <a:ext cx="5803900" cy="463550"/>
          </a:xfrm>
          <a:prstGeom prst="rect">
            <a:avLst/>
          </a:prstGeom>
        </p:spPr>
      </p:pic>
      <p:pic>
        <p:nvPicPr>
          <p:cNvPr id="14" name="11 up · Know what a failing fridge is " descr="Know what a failing fridge is costing before the gate does."/>
          <p:cNvPicPr>
            <a:picLocks noChangeAspect="1"/>
          </p:cNvPicPr>
          <p:nvPr/>
        </p:nvPicPr>
        <p:blipFill>
          <a:blip r:embed="rId14"/>
          <a:stretch>
            <a:fillRect/>
          </a:stretch>
        </p:blipFill>
        <p:spPr>
          <a:xfrm>
            <a:off x="660400" y="3009900"/>
            <a:ext cx="9194800" cy="1219200"/>
          </a:xfrm>
          <a:prstGeom prst="rect">
            <a:avLst/>
          </a:prstGeom>
        </p:spPr>
      </p:pic>
      <p:pic>
        <p:nvPicPr>
          <p:cNvPr id="15" name="12 up · Cold-chain intelligence: physi" descr="Cold-chain intelligence: physical risk and commercial value, in one reserve."/>
          <p:cNvPicPr>
            <a:picLocks noChangeAspect="1"/>
          </p:cNvPicPr>
          <p:nvPr/>
        </p:nvPicPr>
        <p:blipFill>
          <a:blip r:embed="rId15"/>
          <a:stretch>
            <a:fillRect/>
          </a:stretch>
        </p:blipFill>
        <p:spPr>
          <a:xfrm>
            <a:off x="660400" y="4095750"/>
            <a:ext cx="7797800" cy="5905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130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7" presetID="22" presetClass="entr" presetSubtype="8" fill="hold" decel="100000" nodeType="withEffect">
                                  <p:stCondLst>
                                    <p:cond delay="2600"/>
                                  </p:stCondLst>
                                  <p:childTnLst>
                                    <p:set>
                                      <p:cBhvr>
                                        <p:cTn id="8" dur="1" fill="hold">
                                          <p:stCondLst>
                                            <p:cond delay="0"/>
                                          </p:stCondLst>
                                        </p:cTn>
                                        <p:tgtEl>
                                          <p:spTgt spid="4"/>
                                        </p:tgtEl>
                                        <p:attrNameLst>
                                          <p:attrName>style.visibility</p:attrName>
                                        </p:attrNameLst>
                                      </p:cBhvr>
                                      <p:to>
                                        <p:strVal val="visible"/>
                                      </p:to>
                                    </p:set>
                                    <p:animEffect transition="in" filter="wipe(left)">
                                      <p:cBhvr>
                                        <p:cTn id="6" dur="1800"/>
                                        <p:tgtEl>
                                          <p:spTgt spid="4"/>
                                        </p:tgtEl>
                                      </p:cBhvr>
                                    </p:animEffect>
                                  </p:childTnLst>
                                </p:cTn>
                              </p:par>
                              <p:par>
                                <p:cTn id="10" presetID="22" presetClass="entr" presetSubtype="8" fill="hold" decel="100000" nodeType="withEffect">
                                  <p:stCondLst>
                                    <p:cond delay="90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9" dur="3400"/>
                                        <p:tgtEl>
                                          <p:spTgt spid="5"/>
                                        </p:tgtEl>
                                      </p:cBhvr>
                                    </p:animEffect>
                                  </p:childTnLst>
                                </p:cTn>
                              </p:par>
                              <p:par>
                                <p:cTn id="15" presetID="53" presetClass="entr" presetSubtype="16" fill="hold" decel="10000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2" dur="900" fill="hold"/>
                                        <p:tgtEl>
                                          <p:spTgt spid="6"/>
                                        </p:tgtEl>
                                        <p:attrNameLst>
                                          <p:attrName>ppt_w</p:attrName>
                                        </p:attrNameLst>
                                      </p:cBhvr>
                                      <p:tavLst>
                                        <p:tav tm="0">
                                          <p:val>
                                            <p:strVal val="#ppt_w*0.94"/>
                                          </p:val>
                                        </p:tav>
                                        <p:tav tm="100000">
                                          <p:val>
                                            <p:strVal val="#ppt_w"/>
                                          </p:val>
                                        </p:tav>
                                      </p:tavLst>
                                    </p:anim>
                                    <p:anim calcmode="lin" valueType="num">
                                      <p:cBhvr additive="base">
                                        <p:cTn id="13" dur="900" fill="hold"/>
                                        <p:tgtEl>
                                          <p:spTgt spid="6"/>
                                        </p:tgtEl>
                                        <p:attrNameLst>
                                          <p:attrName>ppt_h</p:attrName>
                                        </p:attrNameLst>
                                      </p:cBhvr>
                                      <p:tavLst>
                                        <p:tav tm="0">
                                          <p:val>
                                            <p:strVal val="#ppt_h*0.94"/>
                                          </p:val>
                                        </p:tav>
                                        <p:tav tm="100000">
                                          <p:val>
                                            <p:strVal val="#ppt_h"/>
                                          </p:val>
                                        </p:tav>
                                      </p:tavLst>
                                    </p:anim>
                                    <p:animEffect transition="in" filter="fade">
                                      <p:cBhvr>
                                        <p:cTn id="14" dur="900"/>
                                        <p:tgtEl>
                                          <p:spTgt spid="6"/>
                                        </p:tgtEl>
                                      </p:cBhvr>
                                    </p:animEffect>
                                  </p:childTnLst>
                                </p:cTn>
                              </p:par>
                              <p:par>
                                <p:cTn id="18" presetID="22" presetClass="entr" presetSubtype="8" fill="hold" decel="100000" nodeType="withEffect">
                                  <p:stCondLst>
                                    <p:cond delay="25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17" dur="900"/>
                                        <p:tgtEl>
                                          <p:spTgt spid="7"/>
                                        </p:tgtEl>
                                      </p:cBhvr>
                                    </p:animEffect>
                                  </p:childTnLst>
                                </p:cTn>
                              </p:par>
                              <p:par>
                                <p:cTn id="21" presetID="22" presetClass="entr" presetSubtype="8" fill="hold" decel="100000" nodeType="withEffect">
                                  <p:stCondLst>
                                    <p:cond delay="42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0" dur="900"/>
                                        <p:tgtEl>
                                          <p:spTgt spid="8"/>
                                        </p:tgtEl>
                                      </p:cBhvr>
                                    </p:animEffect>
                                  </p:childTnLst>
                                </p:cTn>
                              </p:par>
                              <p:par>
                                <p:cTn id="24" presetID="22" presetClass="entr" presetSubtype="8" fill="hold" decel="100000" nodeType="withEffect">
                                  <p:stCondLst>
                                    <p:cond delay="59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3" dur="900"/>
                                        <p:tgtEl>
                                          <p:spTgt spid="9"/>
                                        </p:tgtEl>
                                      </p:cBhvr>
                                    </p:animEffect>
                                  </p:childTnLst>
                                </p:cTn>
                              </p:par>
                              <p:par>
                                <p:cTn id="27" presetID="22" presetClass="entr" presetSubtype="8" fill="hold" decel="100000" nodeType="withEffect">
                                  <p:stCondLst>
                                    <p:cond delay="90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6" dur="600"/>
                                        <p:tgtEl>
                                          <p:spTgt spid="10"/>
                                        </p:tgtEl>
                                      </p:cBhvr>
                                    </p:animEffect>
                                  </p:childTnLst>
                                </p:cTn>
                              </p:par>
                              <p:par>
                                <p:cTn id="30" presetID="22" presetClass="entr" presetSubtype="8" fill="hold" decel="100000" nodeType="withEffect">
                                  <p:stCondLst>
                                    <p:cond delay="90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29" dur="600"/>
                                        <p:tgtEl>
                                          <p:spTgt spid="11"/>
                                        </p:tgtEl>
                                      </p:cBhvr>
                                    </p:animEffect>
                                  </p:childTnLst>
                                </p:cTn>
                              </p:par>
                              <p:par>
                                <p:cTn id="34" presetID="2" presetClass="entr" presetSubtype="8" fill="hold" decel="100000" nodeType="withEffect">
                                  <p:stCondLst>
                                    <p:cond delay="30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2" dur="900" fill="hold"/>
                                        <p:tgtEl>
                                          <p:spTgt spid="12"/>
                                        </p:tgtEl>
                                        <p:attrNameLst>
                                          <p:attrName>ppt_x</p:attrName>
                                        </p:attrNameLst>
                                      </p:cBhvr>
                                      <p:tavLst>
                                        <p:tav tm="0">
                                          <p:val>
                                            <p:strVal val="#ppt_x-0.025"/>
                                          </p:val>
                                        </p:tav>
                                        <p:tav tm="100000">
                                          <p:val>
                                            <p:strVal val="#ppt_x"/>
                                          </p:val>
                                        </p:tav>
                                      </p:tavLst>
                                    </p:anim>
                                    <p:animEffect transition="in" filter="fade">
                                      <p:cBhvr>
                                        <p:cTn id="33" dur="900"/>
                                        <p:tgtEl>
                                          <p:spTgt spid="12"/>
                                        </p:tgtEl>
                                      </p:cBhvr>
                                    </p:animEffect>
                                  </p:childTnLst>
                                </p:cTn>
                              </p:par>
                              <p:par>
                                <p:cTn id="37" presetID="10" presetClass="entr" presetSubtype="0" fill="hold" decel="100000" nodeType="withEffect">
                                  <p:stCondLst>
                                    <p:cond delay="7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6" dur="900"/>
                                        <p:tgtEl>
                                          <p:spTgt spid="13"/>
                                        </p:tgtEl>
                                      </p:cBhvr>
                                    </p:animEffect>
                                  </p:childTnLst>
                                </p:cTn>
                              </p:par>
                              <p:par>
                                <p:cTn id="41" presetID="2" presetClass="entr" presetSubtype="4" fill="hold" decel="100000" nodeType="withEffect">
                                  <p:stCondLst>
                                    <p:cond delay="90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39" dur="900" fill="hold"/>
                                        <p:tgtEl>
                                          <p:spTgt spid="14"/>
                                        </p:tgtEl>
                                        <p:attrNameLst>
                                          <p:attrName>ppt_y</p:attrName>
                                        </p:attrNameLst>
                                      </p:cBhvr>
                                      <p:tavLst>
                                        <p:tav tm="0">
                                          <p:val>
                                            <p:strVal val="#ppt_y+0.03"/>
                                          </p:val>
                                        </p:tav>
                                        <p:tav tm="100000">
                                          <p:val>
                                            <p:strVal val="#ppt_y"/>
                                          </p:val>
                                        </p:tav>
                                      </p:tavLst>
                                    </p:anim>
                                    <p:animEffect transition="in" filter="fade">
                                      <p:cBhvr>
                                        <p:cTn id="40" dur="900"/>
                                        <p:tgtEl>
                                          <p:spTgt spid="14"/>
                                        </p:tgtEl>
                                      </p:cBhvr>
                                    </p:animEffect>
                                  </p:childTnLst>
                                </p:cTn>
                              </p:par>
                              <p:par>
                                <p:cTn id="45" presetID="2" presetClass="entr" presetSubtype="4" fill="hold" decel="100000" nodeType="withEffect">
                                  <p:stCondLst>
                                    <p:cond delay="115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3" dur="900" fill="hold"/>
                                        <p:tgtEl>
                                          <p:spTgt spid="15"/>
                                        </p:tgtEl>
                                        <p:attrNameLst>
                                          <p:attrName>ppt_y</p:attrName>
                                        </p:attrNameLst>
                                      </p:cBhvr>
                                      <p:tavLst>
                                        <p:tav tm="0">
                                          <p:val>
                                            <p:strVal val="#ppt_y+0.03"/>
                                          </p:val>
                                        </p:tav>
                                        <p:tav tm="100000">
                                          <p:val>
                                            <p:strVal val="#ppt_y"/>
                                          </p:val>
                                        </p:tav>
                                      </p:tavLst>
                                    </p:anim>
                                    <p:animEffect transition="in" filter="fade">
                                      <p:cBhvr>
                                        <p:cTn id="44" dur="9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The problem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Cited · FAO / UNEP 2024 · Qata" descr="Cited · FAO / UNEP 2024 · Qatar NFSS 2030"/>
          <p:cNvPicPr>
            <a:picLocks noChangeAspect="1"/>
          </p:cNvPicPr>
          <p:nvPr/>
        </p:nvPicPr>
        <p:blipFill>
          <a:blip r:embed="rId3"/>
          <a:stretch>
            <a:fillRect/>
          </a:stretch>
        </p:blipFill>
        <p:spPr>
          <a:xfrm>
            <a:off x="7689850" y="558800"/>
            <a:ext cx="3841750" cy="546100"/>
          </a:xfrm>
          <a:prstGeom prst="rect">
            <a:avLst/>
          </a:prstGeom>
        </p:spPr>
      </p:pic>
      <p:pic>
        <p:nvPicPr>
          <p:cNvPr id="4" name="01 fade · 02The problem" descr="02The problem"/>
          <p:cNvPicPr>
            <a:picLocks noChangeAspect="1"/>
          </p:cNvPicPr>
          <p:nvPr/>
        </p:nvPicPr>
        <p:blipFill>
          <a:blip r:embed="rId4"/>
          <a:stretch>
            <a:fillRect/>
          </a:stretch>
        </p:blipFill>
        <p:spPr>
          <a:xfrm>
            <a:off x="660400" y="609600"/>
            <a:ext cx="10871200" cy="444500"/>
          </a:xfrm>
          <a:prstGeom prst="rect">
            <a:avLst/>
          </a:prstGeom>
        </p:spPr>
      </p:pic>
      <p:pic>
        <p:nvPicPr>
          <p:cNvPr id="5" name="02 up · A third of our food never gets" descr="A third of our food never gets eaten."/>
          <p:cNvPicPr>
            <a:picLocks noChangeAspect="1"/>
          </p:cNvPicPr>
          <p:nvPr/>
        </p:nvPicPr>
        <p:blipFill>
          <a:blip r:embed="rId5"/>
          <a:stretch>
            <a:fillRect/>
          </a:stretch>
        </p:blipFill>
        <p:spPr>
          <a:xfrm>
            <a:off x="660400" y="977900"/>
            <a:ext cx="9829800" cy="838200"/>
          </a:xfrm>
          <a:prstGeom prst="rect">
            <a:avLst/>
          </a:prstGeom>
        </p:spPr>
      </p:pic>
      <p:pic>
        <p:nvPicPr>
          <p:cNvPr id="6" name="03 up · 12.3SDG 12.3 · halve food wast" descr="12.3SDG 12.3 · halve food waste, cut supply-chain loss 2SDG 2 · zero hunger 13SDG 13 · climate action"/>
          <p:cNvPicPr>
            <a:picLocks noChangeAspect="1"/>
          </p:cNvPicPr>
          <p:nvPr/>
        </p:nvPicPr>
        <p:blipFill>
          <a:blip r:embed="rId6"/>
          <a:stretch>
            <a:fillRect/>
          </a:stretch>
        </p:blipFill>
        <p:spPr>
          <a:xfrm>
            <a:off x="660400" y="1733550"/>
            <a:ext cx="10871200" cy="742950"/>
          </a:xfrm>
          <a:prstGeom prst="rect">
            <a:avLst/>
          </a:prstGeom>
        </p:spPr>
      </p:pic>
      <p:pic>
        <p:nvPicPr>
          <p:cNvPr id="7" name="04 up · Today's systems raise an alarm" descr="Today's systems raise an alarm. None of them says how much value is left."/>
          <p:cNvPicPr>
            <a:picLocks noChangeAspect="1"/>
          </p:cNvPicPr>
          <p:nvPr/>
        </p:nvPicPr>
        <p:blipFill>
          <a:blip r:embed="rId7"/>
          <a:stretch>
            <a:fillRect/>
          </a:stretch>
        </p:blipFill>
        <p:spPr>
          <a:xfrm>
            <a:off x="660400" y="2393950"/>
            <a:ext cx="8686800" cy="615950"/>
          </a:xfrm>
          <a:prstGeom prst="rect">
            <a:avLst/>
          </a:prstGeom>
        </p:spPr>
      </p:pic>
      <p:pic>
        <p:nvPicPr>
          <p:cNvPr id="8" name="05 up · 13% of food is lost between ha" descr="13% of food is lost between harvest and retail."/>
          <p:cNvPicPr>
            <a:picLocks noChangeAspect="1"/>
          </p:cNvPicPr>
          <p:nvPr/>
        </p:nvPicPr>
        <p:blipFill>
          <a:blip r:embed="rId8"/>
          <a:stretch>
            <a:fillRect/>
          </a:stretch>
        </p:blipFill>
        <p:spPr>
          <a:xfrm>
            <a:off x="660400" y="4222750"/>
            <a:ext cx="2755900" cy="1898650"/>
          </a:xfrm>
          <a:prstGeom prst="rect">
            <a:avLst/>
          </a:prstGeom>
        </p:spPr>
      </p:pic>
      <p:pic>
        <p:nvPicPr>
          <p:cNvPr id="9" name="06 grow · graphic" descr=""/>
          <p:cNvPicPr>
            <a:picLocks noChangeAspect="1"/>
          </p:cNvPicPr>
          <p:nvPr/>
        </p:nvPicPr>
        <p:blipFill>
          <a:blip r:embed="rId9"/>
          <a:stretch>
            <a:fillRect/>
          </a:stretch>
        </p:blipFill>
        <p:spPr>
          <a:xfrm>
            <a:off x="660400" y="5137150"/>
            <a:ext cx="628650" cy="374650"/>
          </a:xfrm>
          <a:prstGeom prst="rect">
            <a:avLst/>
          </a:prstGeom>
        </p:spPr>
      </p:pic>
      <p:pic>
        <p:nvPicPr>
          <p:cNvPr id="10" name="07 up · 19% more is wasted after it re" descr="19% more is wasted after it reaches retail and homes."/>
          <p:cNvPicPr>
            <a:picLocks noChangeAspect="1"/>
          </p:cNvPicPr>
          <p:nvPr/>
        </p:nvPicPr>
        <p:blipFill>
          <a:blip r:embed="rId10"/>
          <a:stretch>
            <a:fillRect/>
          </a:stretch>
        </p:blipFill>
        <p:spPr>
          <a:xfrm>
            <a:off x="3365500" y="4222750"/>
            <a:ext cx="2755900" cy="1898650"/>
          </a:xfrm>
          <a:prstGeom prst="rect">
            <a:avLst/>
          </a:prstGeom>
        </p:spPr>
      </p:pic>
      <p:pic>
        <p:nvPicPr>
          <p:cNvPr id="11" name="08 grow · graphic" descr=""/>
          <p:cNvPicPr>
            <a:picLocks noChangeAspect="1"/>
          </p:cNvPicPr>
          <p:nvPr/>
        </p:nvPicPr>
        <p:blipFill>
          <a:blip r:embed="rId11"/>
          <a:stretch>
            <a:fillRect/>
          </a:stretch>
        </p:blipFill>
        <p:spPr>
          <a:xfrm>
            <a:off x="3365500" y="5137150"/>
            <a:ext cx="774700" cy="374650"/>
          </a:xfrm>
          <a:prstGeom prst="rect">
            <a:avLst/>
          </a:prstGeom>
        </p:spPr>
      </p:pic>
      <p:pic>
        <p:nvPicPr>
          <p:cNvPr id="12" name="09 up · 45 °C Qatar summers. A failing" descr="45 °C Qatar summers. A failing fridge spoils a load in hours."/>
          <p:cNvPicPr>
            <a:picLocks noChangeAspect="1"/>
          </p:cNvPicPr>
          <p:nvPr/>
        </p:nvPicPr>
        <p:blipFill>
          <a:blip r:embed="rId12"/>
          <a:stretch>
            <a:fillRect/>
          </a:stretch>
        </p:blipFill>
        <p:spPr>
          <a:xfrm>
            <a:off x="6070600" y="4222750"/>
            <a:ext cx="2755900" cy="1898650"/>
          </a:xfrm>
          <a:prstGeom prst="rect">
            <a:avLst/>
          </a:prstGeom>
        </p:spPr>
      </p:pic>
      <p:pic>
        <p:nvPicPr>
          <p:cNvPr id="13" name="10 grow · graphic" descr=""/>
          <p:cNvPicPr>
            <a:picLocks noChangeAspect="1"/>
          </p:cNvPicPr>
          <p:nvPr/>
        </p:nvPicPr>
        <p:blipFill>
          <a:blip r:embed="rId13"/>
          <a:stretch>
            <a:fillRect/>
          </a:stretch>
        </p:blipFill>
        <p:spPr>
          <a:xfrm>
            <a:off x="6070600" y="5137150"/>
            <a:ext cx="2514600" cy="374650"/>
          </a:xfrm>
          <a:prstGeom prst="rect">
            <a:avLst/>
          </a:prstGeom>
        </p:spPr>
      </p:pic>
      <p:pic>
        <p:nvPicPr>
          <p:cNvPr id="14" name="11 up · −30% food-loss target in Qatar" descr="−30% food-loss target in Qatar's food security strategy 2030."/>
          <p:cNvPicPr>
            <a:picLocks noChangeAspect="1"/>
          </p:cNvPicPr>
          <p:nvPr/>
        </p:nvPicPr>
        <p:blipFill>
          <a:blip r:embed="rId14"/>
          <a:stretch>
            <a:fillRect/>
          </a:stretch>
        </p:blipFill>
        <p:spPr>
          <a:xfrm>
            <a:off x="8775700" y="4222750"/>
            <a:ext cx="2755900" cy="1898650"/>
          </a:xfrm>
          <a:prstGeom prst="rect">
            <a:avLst/>
          </a:prstGeom>
        </p:spPr>
      </p:pic>
      <p:pic>
        <p:nvPicPr>
          <p:cNvPr id="15" name="12 grow · graphic" descr=""/>
          <p:cNvPicPr>
            <a:picLocks noChangeAspect="1"/>
          </p:cNvPicPr>
          <p:nvPr/>
        </p:nvPicPr>
        <p:blipFill>
          <a:blip r:embed="rId15"/>
          <a:stretch>
            <a:fillRect/>
          </a:stretch>
        </p:blipFill>
        <p:spPr>
          <a:xfrm>
            <a:off x="8775700" y="5137150"/>
            <a:ext cx="1041400" cy="3746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20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7" presetID="10" presetClass="entr" presetSubtype="0" fill="hold" decel="10000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6" dur="900"/>
                                        <p:tgtEl>
                                          <p:spTgt spid="4"/>
                                        </p:tgtEl>
                                      </p:cBhvr>
                                    </p:animEffect>
                                  </p:childTnLst>
                                </p:cTn>
                              </p:par>
                              <p:par>
                                <p:cTn id="11" presetID="2" presetClass="entr" presetSubtype="4" fill="hold" decel="100000" nodeType="withEffect">
                                  <p:stCondLst>
                                    <p:cond delay="12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9" dur="900" fill="hold"/>
                                        <p:tgtEl>
                                          <p:spTgt spid="5"/>
                                        </p:tgtEl>
                                        <p:attrNameLst>
                                          <p:attrName>ppt_y</p:attrName>
                                        </p:attrNameLst>
                                      </p:cBhvr>
                                      <p:tavLst>
                                        <p:tav tm="0">
                                          <p:val>
                                            <p:strVal val="#ppt_y+0.03"/>
                                          </p:val>
                                        </p:tav>
                                        <p:tav tm="100000">
                                          <p:val>
                                            <p:strVal val="#ppt_y"/>
                                          </p:val>
                                        </p:tav>
                                      </p:tavLst>
                                    </p:anim>
                                    <p:animEffect transition="in" filter="fade">
                                      <p:cBhvr>
                                        <p:cTn id="10" dur="900"/>
                                        <p:tgtEl>
                                          <p:spTgt spid="5"/>
                                        </p:tgtEl>
                                      </p:cBhvr>
                                    </p:animEffect>
                                  </p:childTnLst>
                                </p:cTn>
                              </p:par>
                              <p:par>
                                <p:cTn id="15" presetID="2" presetClass="entr" presetSubtype="4" fill="hold" decel="100000" nodeType="withEffect">
                                  <p:stCondLst>
                                    <p:cond delay="26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3" dur="900" fill="hold"/>
                                        <p:tgtEl>
                                          <p:spTgt spid="6"/>
                                        </p:tgtEl>
                                        <p:attrNameLst>
                                          <p:attrName>ppt_y</p:attrName>
                                        </p:attrNameLst>
                                      </p:cBhvr>
                                      <p:tavLst>
                                        <p:tav tm="0">
                                          <p:val>
                                            <p:strVal val="#ppt_y+0.03"/>
                                          </p:val>
                                        </p:tav>
                                        <p:tav tm="100000">
                                          <p:val>
                                            <p:strVal val="#ppt_y"/>
                                          </p:val>
                                        </p:tav>
                                      </p:tavLst>
                                    </p:anim>
                                    <p:animEffect transition="in" filter="fade">
                                      <p:cBhvr>
                                        <p:cTn id="14" dur="900"/>
                                        <p:tgtEl>
                                          <p:spTgt spid="6"/>
                                        </p:tgtEl>
                                      </p:cBhvr>
                                    </p:animEffect>
                                  </p:childTnLst>
                                </p:cTn>
                              </p:par>
                              <p:par>
                                <p:cTn id="19" presetID="2" presetClass="entr" presetSubtype="4" fill="hold" decel="100000" nodeType="withEffect">
                                  <p:stCondLst>
                                    <p:cond delay="36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17" dur="900" fill="hold"/>
                                        <p:tgtEl>
                                          <p:spTgt spid="7"/>
                                        </p:tgtEl>
                                        <p:attrNameLst>
                                          <p:attrName>ppt_y</p:attrName>
                                        </p:attrNameLst>
                                      </p:cBhvr>
                                      <p:tavLst>
                                        <p:tav tm="0">
                                          <p:val>
                                            <p:strVal val="#ppt_y+0.03"/>
                                          </p:val>
                                        </p:tav>
                                        <p:tav tm="100000">
                                          <p:val>
                                            <p:strVal val="#ppt_y"/>
                                          </p:val>
                                        </p:tav>
                                      </p:tavLst>
                                    </p:anim>
                                    <p:animEffect transition="in" filter="fade">
                                      <p:cBhvr>
                                        <p:cTn id="18" dur="900"/>
                                        <p:tgtEl>
                                          <p:spTgt spid="7"/>
                                        </p:tgtEl>
                                      </p:cBhvr>
                                    </p:animEffect>
                                  </p:childTnLst>
                                </p:cTn>
                              </p:par>
                              <p:par>
                                <p:cTn id="23" presetID="2" presetClass="entr" presetSubtype="4" fill="hold" decel="100000" nodeType="withEffect">
                                  <p:stCondLst>
                                    <p:cond delay="45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1" dur="900" fill="hold"/>
                                        <p:tgtEl>
                                          <p:spTgt spid="8"/>
                                        </p:tgtEl>
                                        <p:attrNameLst>
                                          <p:attrName>ppt_y</p:attrName>
                                        </p:attrNameLst>
                                      </p:cBhvr>
                                      <p:tavLst>
                                        <p:tav tm="0">
                                          <p:val>
                                            <p:strVal val="#ppt_y+0.03"/>
                                          </p:val>
                                        </p:tav>
                                        <p:tav tm="100000">
                                          <p:val>
                                            <p:strVal val="#ppt_y"/>
                                          </p:val>
                                        </p:tav>
                                      </p:tavLst>
                                    </p:anim>
                                    <p:animEffect transition="in" filter="fade">
                                      <p:cBhvr>
                                        <p:cTn id="22" dur="900"/>
                                        <p:tgtEl>
                                          <p:spTgt spid="8"/>
                                        </p:tgtEl>
                                      </p:cBhvr>
                                    </p:animEffect>
                                  </p:childTnLst>
                                </p:cTn>
                              </p:par>
                              <p:par>
                                <p:cTn id="26" presetID="22" presetClass="entr" presetSubtype="8" fill="hold" decel="100000" nodeType="withEffect">
                                  <p:stCondLst>
                                    <p:cond delay="55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5" dur="1400"/>
                                        <p:tgtEl>
                                          <p:spTgt spid="9"/>
                                        </p:tgtEl>
                                      </p:cBhvr>
                                    </p:animEffect>
                                  </p:childTnLst>
                                </p:cTn>
                              </p:par>
                              <p:par>
                                <p:cTn id="30" presetID="2" presetClass="entr" presetSubtype="4" fill="hold" decel="100000" nodeType="withEffect">
                                  <p:stCondLst>
                                    <p:cond delay="60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28" dur="900" fill="hold"/>
                                        <p:tgtEl>
                                          <p:spTgt spid="10"/>
                                        </p:tgtEl>
                                        <p:attrNameLst>
                                          <p:attrName>ppt_y</p:attrName>
                                        </p:attrNameLst>
                                      </p:cBhvr>
                                      <p:tavLst>
                                        <p:tav tm="0">
                                          <p:val>
                                            <p:strVal val="#ppt_y+0.03"/>
                                          </p:val>
                                        </p:tav>
                                        <p:tav tm="100000">
                                          <p:val>
                                            <p:strVal val="#ppt_y"/>
                                          </p:val>
                                        </p:tav>
                                      </p:tavLst>
                                    </p:anim>
                                    <p:animEffect transition="in" filter="fade">
                                      <p:cBhvr>
                                        <p:cTn id="29" dur="900"/>
                                        <p:tgtEl>
                                          <p:spTgt spid="10"/>
                                        </p:tgtEl>
                                      </p:cBhvr>
                                    </p:animEffect>
                                  </p:childTnLst>
                                </p:cTn>
                              </p:par>
                              <p:par>
                                <p:cTn id="33" presetID="22" presetClass="entr" presetSubtype="8" fill="hold" decel="100000" nodeType="withEffect">
                                  <p:stCondLst>
                                    <p:cond delay="70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2" dur="1400"/>
                                        <p:tgtEl>
                                          <p:spTgt spid="11"/>
                                        </p:tgtEl>
                                      </p:cBhvr>
                                    </p:animEffect>
                                  </p:childTnLst>
                                </p:cTn>
                              </p:par>
                              <p:par>
                                <p:cTn id="37" presetID="2" presetClass="entr" presetSubtype="4" fill="hold" decel="100000" nodeType="withEffect">
                                  <p:stCondLst>
                                    <p:cond delay="75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5" dur="900" fill="hold"/>
                                        <p:tgtEl>
                                          <p:spTgt spid="12"/>
                                        </p:tgtEl>
                                        <p:attrNameLst>
                                          <p:attrName>ppt_y</p:attrName>
                                        </p:attrNameLst>
                                      </p:cBhvr>
                                      <p:tavLst>
                                        <p:tav tm="0">
                                          <p:val>
                                            <p:strVal val="#ppt_y+0.03"/>
                                          </p:val>
                                        </p:tav>
                                        <p:tav tm="100000">
                                          <p:val>
                                            <p:strVal val="#ppt_y"/>
                                          </p:val>
                                        </p:tav>
                                      </p:tavLst>
                                    </p:anim>
                                    <p:animEffect transition="in" filter="fade">
                                      <p:cBhvr>
                                        <p:cTn id="36" dur="900"/>
                                        <p:tgtEl>
                                          <p:spTgt spid="12"/>
                                        </p:tgtEl>
                                      </p:cBhvr>
                                    </p:animEffect>
                                  </p:childTnLst>
                                </p:cTn>
                              </p:par>
                              <p:par>
                                <p:cTn id="40" presetID="22" presetClass="entr" presetSubtype="8" fill="hold" decel="100000" nodeType="withEffect">
                                  <p:stCondLst>
                                    <p:cond delay="85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39" dur="1400"/>
                                        <p:tgtEl>
                                          <p:spTgt spid="13"/>
                                        </p:tgtEl>
                                      </p:cBhvr>
                                    </p:animEffect>
                                  </p:childTnLst>
                                </p:cTn>
                              </p:par>
                              <p:par>
                                <p:cTn id="44" presetID="2" presetClass="entr" presetSubtype="4" fill="hold" decel="100000" nodeType="withEffect">
                                  <p:stCondLst>
                                    <p:cond delay="90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2" dur="900" fill="hold"/>
                                        <p:tgtEl>
                                          <p:spTgt spid="14"/>
                                        </p:tgtEl>
                                        <p:attrNameLst>
                                          <p:attrName>ppt_y</p:attrName>
                                        </p:attrNameLst>
                                      </p:cBhvr>
                                      <p:tavLst>
                                        <p:tav tm="0">
                                          <p:val>
                                            <p:strVal val="#ppt_y+0.03"/>
                                          </p:val>
                                        </p:tav>
                                        <p:tav tm="100000">
                                          <p:val>
                                            <p:strVal val="#ppt_y"/>
                                          </p:val>
                                        </p:tav>
                                      </p:tavLst>
                                    </p:anim>
                                    <p:animEffect transition="in" filter="fade">
                                      <p:cBhvr>
                                        <p:cTn id="43" dur="900"/>
                                        <p:tgtEl>
                                          <p:spTgt spid="14"/>
                                        </p:tgtEl>
                                      </p:cBhvr>
                                    </p:animEffect>
                                  </p:childTnLst>
                                </p:cTn>
                              </p:par>
                              <p:par>
                                <p:cTn id="47" presetID="22" presetClass="entr" presetSubtype="8" fill="hold" decel="100000" nodeType="withEffect">
                                  <p:stCondLst>
                                    <p:cond delay="100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6" dur="1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Why here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Cited · TASMU · Qatar National" descr="Cited · TASMU · Qatar National Food Security Strategy"/>
          <p:cNvPicPr>
            <a:picLocks noChangeAspect="1"/>
          </p:cNvPicPr>
          <p:nvPr/>
        </p:nvPicPr>
        <p:blipFill>
          <a:blip r:embed="rId3"/>
          <a:stretch>
            <a:fillRect/>
          </a:stretch>
        </p:blipFill>
        <p:spPr>
          <a:xfrm>
            <a:off x="6756400" y="558800"/>
            <a:ext cx="4775200" cy="546100"/>
          </a:xfrm>
          <a:prstGeom prst="rect">
            <a:avLst/>
          </a:prstGeom>
        </p:spPr>
      </p:pic>
      <p:pic>
        <p:nvPicPr>
          <p:cNvPr id="4" name="01 fade · 03Why here" descr="03Why here"/>
          <p:cNvPicPr>
            <a:picLocks noChangeAspect="1"/>
          </p:cNvPicPr>
          <p:nvPr/>
        </p:nvPicPr>
        <p:blipFill>
          <a:blip r:embed="rId4"/>
          <a:stretch>
            <a:fillRect/>
          </a:stretch>
        </p:blipFill>
        <p:spPr>
          <a:xfrm>
            <a:off x="660400" y="609600"/>
            <a:ext cx="10871200" cy="444500"/>
          </a:xfrm>
          <a:prstGeom prst="rect">
            <a:avLst/>
          </a:prstGeom>
        </p:spPr>
      </p:pic>
      <p:pic>
        <p:nvPicPr>
          <p:cNvPr id="5" name="02 up · An import-dependent region, a " descr="An import-dependent region, a brutal summer."/>
          <p:cNvPicPr>
            <a:picLocks noChangeAspect="1"/>
          </p:cNvPicPr>
          <p:nvPr/>
        </p:nvPicPr>
        <p:blipFill>
          <a:blip r:embed="rId5"/>
          <a:stretch>
            <a:fillRect/>
          </a:stretch>
        </p:blipFill>
        <p:spPr>
          <a:xfrm>
            <a:off x="660400" y="977900"/>
            <a:ext cx="9829800" cy="742950"/>
          </a:xfrm>
          <a:prstGeom prst="rect">
            <a:avLst/>
          </a:prstGeom>
        </p:spPr>
      </p:pic>
      <p:pic>
        <p:nvPicPr>
          <p:cNvPr id="6" name="03 up · Climate and imports Maritime a" descr="Climate and imports Maritime and overland imports, customs holds, border queues and 42 °C afternoons all add thermal debt."/>
          <p:cNvPicPr>
            <a:picLocks noChangeAspect="1"/>
          </p:cNvPicPr>
          <p:nvPr/>
        </p:nvPicPr>
        <p:blipFill>
          <a:blip r:embed="rId6"/>
          <a:stretch>
            <a:fillRect/>
          </a:stretch>
        </p:blipFill>
        <p:spPr>
          <a:xfrm>
            <a:off x="660400" y="1689100"/>
            <a:ext cx="5499100" cy="1835150"/>
          </a:xfrm>
          <a:prstGeom prst="rect">
            <a:avLst/>
          </a:prstGeom>
        </p:spPr>
      </p:pic>
      <p:pic>
        <p:nvPicPr>
          <p:cNvPr id="7" name="04 up · Policy tailwind TASMU National" descr="Policy tailwind TASMU National Food Security Analytics and Qatar's Food Security Strategy target efficient supply chains and less food waste."/>
          <p:cNvPicPr>
            <a:picLocks noChangeAspect="1"/>
          </p:cNvPicPr>
          <p:nvPr/>
        </p:nvPicPr>
        <p:blipFill>
          <a:blip r:embed="rId7"/>
          <a:stretch>
            <a:fillRect/>
          </a:stretch>
        </p:blipFill>
        <p:spPr>
          <a:xfrm>
            <a:off x="6032500" y="1689100"/>
            <a:ext cx="5499100" cy="1835150"/>
          </a:xfrm>
          <a:prstGeom prst="rect">
            <a:avLst/>
          </a:prstGeom>
        </p:spPr>
      </p:pic>
      <p:pic>
        <p:nvPicPr>
          <p:cNvPr id="8" name="05 up · Thermal debt Maritime import+C" descr="Thermal debt Maritime import+Customs hold+Border queue+42 °C afternoon=Lost shelf life"/>
          <p:cNvPicPr>
            <a:picLocks noChangeAspect="1"/>
          </p:cNvPicPr>
          <p:nvPr/>
        </p:nvPicPr>
        <p:blipFill>
          <a:blip r:embed="rId8"/>
          <a:stretch>
            <a:fillRect/>
          </a:stretch>
        </p:blipFill>
        <p:spPr>
          <a:xfrm>
            <a:off x="660400" y="3467100"/>
            <a:ext cx="10871200" cy="679450"/>
          </a:xfrm>
          <a:prstGeom prst="rect">
            <a:avLst/>
          </a:prstGeom>
        </p:spPr>
      </p:pic>
      <p:pic>
        <p:nvPicPr>
          <p:cNvPr id="9" name="06 up · Thermal Trace is the operator-" descr="Thermal Trace is the operator-level layer that complements national systems."/>
          <p:cNvPicPr>
            <a:picLocks noChangeAspect="1"/>
          </p:cNvPicPr>
          <p:nvPr/>
        </p:nvPicPr>
        <p:blipFill>
          <a:blip r:embed="rId9"/>
          <a:stretch>
            <a:fillRect/>
          </a:stretch>
        </p:blipFill>
        <p:spPr>
          <a:xfrm>
            <a:off x="660400" y="4089400"/>
            <a:ext cx="10871200" cy="8826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20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7" presetID="10" presetClass="entr" presetSubtype="0" fill="hold" decel="10000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6" dur="900"/>
                                        <p:tgtEl>
                                          <p:spTgt spid="4"/>
                                        </p:tgtEl>
                                      </p:cBhvr>
                                    </p:animEffect>
                                  </p:childTnLst>
                                </p:cTn>
                              </p:par>
                              <p:par>
                                <p:cTn id="11" presetID="2" presetClass="entr" presetSubtype="4" fill="hold" decel="100000" nodeType="withEffect">
                                  <p:stCondLst>
                                    <p:cond delay="12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9" dur="900" fill="hold"/>
                                        <p:tgtEl>
                                          <p:spTgt spid="5"/>
                                        </p:tgtEl>
                                        <p:attrNameLst>
                                          <p:attrName>ppt_y</p:attrName>
                                        </p:attrNameLst>
                                      </p:cBhvr>
                                      <p:tavLst>
                                        <p:tav tm="0">
                                          <p:val>
                                            <p:strVal val="#ppt_y+0.03"/>
                                          </p:val>
                                        </p:tav>
                                        <p:tav tm="100000">
                                          <p:val>
                                            <p:strVal val="#ppt_y"/>
                                          </p:val>
                                        </p:tav>
                                      </p:tavLst>
                                    </p:anim>
                                    <p:animEffect transition="in" filter="fade">
                                      <p:cBhvr>
                                        <p:cTn id="10" dur="900"/>
                                        <p:tgtEl>
                                          <p:spTgt spid="5"/>
                                        </p:tgtEl>
                                      </p:cBhvr>
                                    </p:animEffect>
                                  </p:childTnLst>
                                </p:cTn>
                              </p:par>
                              <p:par>
                                <p:cTn id="15" presetID="2" presetClass="entr" presetSubtype="4" fill="hold" decel="100000" nodeType="withEffect">
                                  <p:stCondLst>
                                    <p:cond delay="3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3" dur="900" fill="hold"/>
                                        <p:tgtEl>
                                          <p:spTgt spid="6"/>
                                        </p:tgtEl>
                                        <p:attrNameLst>
                                          <p:attrName>ppt_y</p:attrName>
                                        </p:attrNameLst>
                                      </p:cBhvr>
                                      <p:tavLst>
                                        <p:tav tm="0">
                                          <p:val>
                                            <p:strVal val="#ppt_y+0.03"/>
                                          </p:val>
                                        </p:tav>
                                        <p:tav tm="100000">
                                          <p:val>
                                            <p:strVal val="#ppt_y"/>
                                          </p:val>
                                        </p:tav>
                                      </p:tavLst>
                                    </p:anim>
                                    <p:animEffect transition="in" filter="fade">
                                      <p:cBhvr>
                                        <p:cTn id="14" dur="900"/>
                                        <p:tgtEl>
                                          <p:spTgt spid="6"/>
                                        </p:tgtEl>
                                      </p:cBhvr>
                                    </p:animEffect>
                                  </p:childTnLst>
                                </p:cTn>
                              </p:par>
                              <p:par>
                                <p:cTn id="19" presetID="2" presetClass="entr" presetSubtype="4" fill="hold" decel="100000" nodeType="withEffect">
                                  <p:stCondLst>
                                    <p:cond delay="42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17" dur="900" fill="hold"/>
                                        <p:tgtEl>
                                          <p:spTgt spid="7"/>
                                        </p:tgtEl>
                                        <p:attrNameLst>
                                          <p:attrName>ppt_y</p:attrName>
                                        </p:attrNameLst>
                                      </p:cBhvr>
                                      <p:tavLst>
                                        <p:tav tm="0">
                                          <p:val>
                                            <p:strVal val="#ppt_y+0.03"/>
                                          </p:val>
                                        </p:tav>
                                        <p:tav tm="100000">
                                          <p:val>
                                            <p:strVal val="#ppt_y"/>
                                          </p:val>
                                        </p:tav>
                                      </p:tavLst>
                                    </p:anim>
                                    <p:animEffect transition="in" filter="fade">
                                      <p:cBhvr>
                                        <p:cTn id="18" dur="900"/>
                                        <p:tgtEl>
                                          <p:spTgt spid="7"/>
                                        </p:tgtEl>
                                      </p:cBhvr>
                                    </p:animEffect>
                                  </p:childTnLst>
                                </p:cTn>
                              </p:par>
                              <p:par>
                                <p:cTn id="23" presetID="2" presetClass="entr" presetSubtype="4" fill="hold" decel="100000" nodeType="withEffect">
                                  <p:stCondLst>
                                    <p:cond delay="65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1" dur="900" fill="hold"/>
                                        <p:tgtEl>
                                          <p:spTgt spid="8"/>
                                        </p:tgtEl>
                                        <p:attrNameLst>
                                          <p:attrName>ppt_y</p:attrName>
                                        </p:attrNameLst>
                                      </p:cBhvr>
                                      <p:tavLst>
                                        <p:tav tm="0">
                                          <p:val>
                                            <p:strVal val="#ppt_y+0.03"/>
                                          </p:val>
                                        </p:tav>
                                        <p:tav tm="100000">
                                          <p:val>
                                            <p:strVal val="#ppt_y"/>
                                          </p:val>
                                        </p:tav>
                                      </p:tavLst>
                                    </p:anim>
                                    <p:animEffect transition="in" filter="fade">
                                      <p:cBhvr>
                                        <p:cTn id="22" dur="900"/>
                                        <p:tgtEl>
                                          <p:spTgt spid="8"/>
                                        </p:tgtEl>
                                      </p:cBhvr>
                                    </p:animEffect>
                                  </p:childTnLst>
                                </p:cTn>
                              </p:par>
                              <p:par>
                                <p:cTn id="27" presetID="2" presetClass="entr" presetSubtype="4" fill="hold" decel="100000" nodeType="withEffect">
                                  <p:stCondLst>
                                    <p:cond delay="85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5" dur="900" fill="hold"/>
                                        <p:tgtEl>
                                          <p:spTgt spid="9"/>
                                        </p:tgtEl>
                                        <p:attrNameLst>
                                          <p:attrName>ppt_y</p:attrName>
                                        </p:attrNameLst>
                                      </p:cBhvr>
                                      <p:tavLst>
                                        <p:tav tm="0">
                                          <p:val>
                                            <p:strVal val="#ppt_y+0.03"/>
                                          </p:val>
                                        </p:tav>
                                        <p:tav tm="100000">
                                          <p:val>
                                            <p:strVal val="#ppt_y"/>
                                          </p:val>
                                        </p:tav>
                                      </p:tavLst>
                                    </p:anim>
                                    <p:animEffect transition="in" filter="fade">
                                      <p:cBhvr>
                                        <p:cTn id="26" dur="9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Redefining the perishable asset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04The shift" descr="04The shift"/>
          <p:cNvPicPr>
            <a:picLocks noChangeAspect="1"/>
          </p:cNvPicPr>
          <p:nvPr/>
        </p:nvPicPr>
        <p:blipFill>
          <a:blip r:embed="rId3"/>
          <a:stretch>
            <a:fillRect/>
          </a:stretch>
        </p:blipFill>
        <p:spPr>
          <a:xfrm>
            <a:off x="660400" y="609600"/>
            <a:ext cx="10871200" cy="444500"/>
          </a:xfrm>
          <a:prstGeom prst="rect">
            <a:avLst/>
          </a:prstGeom>
        </p:spPr>
      </p:pic>
      <p:pic>
        <p:nvPicPr>
          <p:cNvPr id="4" name="01 up · Redefining the perishable asse" descr="Redefining the perishable asset."/>
          <p:cNvPicPr>
            <a:picLocks noChangeAspect="1"/>
          </p:cNvPicPr>
          <p:nvPr/>
        </p:nvPicPr>
        <p:blipFill>
          <a:blip r:embed="rId4"/>
          <a:stretch>
            <a:fillRect/>
          </a:stretch>
        </p:blipFill>
        <p:spPr>
          <a:xfrm>
            <a:off x="660400" y="977900"/>
            <a:ext cx="9829800" cy="838200"/>
          </a:xfrm>
          <a:prstGeom prst="rect">
            <a:avLst/>
          </a:prstGeom>
        </p:spPr>
      </p:pic>
      <p:pic>
        <p:nvPicPr>
          <p:cNvPr id="5" name="02 up · The biological clockDefensive " descr="The biological clockDefensive · today printed date Legacy model: inventory is a degrading liability, managed by a static printed expiry date. Result: late markdowns and write-offs."/>
          <p:cNvPicPr>
            <a:picLocks noChangeAspect="1"/>
          </p:cNvPicPr>
          <p:nvPr/>
        </p:nvPicPr>
        <p:blipFill>
          <a:blip r:embed="rId5"/>
          <a:stretch>
            <a:fillRect/>
          </a:stretch>
        </p:blipFill>
        <p:spPr>
          <a:xfrm>
            <a:off x="666750" y="1765300"/>
            <a:ext cx="5581650" cy="4349750"/>
          </a:xfrm>
          <a:prstGeom prst="rect">
            <a:avLst/>
          </a:prstGeom>
        </p:spPr>
      </p:pic>
      <p:pic>
        <p:nvPicPr>
          <p:cNvPr id="6" name="03 grow · graphic" descr=""/>
          <p:cNvPicPr>
            <a:picLocks noChangeAspect="1"/>
          </p:cNvPicPr>
          <p:nvPr/>
        </p:nvPicPr>
        <p:blipFill>
          <a:blip r:embed="rId6"/>
          <a:stretch>
            <a:fillRect/>
          </a:stretch>
        </p:blipFill>
        <p:spPr>
          <a:xfrm>
            <a:off x="2311400" y="4025900"/>
            <a:ext cx="558800" cy="374650"/>
          </a:xfrm>
          <a:prstGeom prst="rect">
            <a:avLst/>
          </a:prstGeom>
        </p:spPr>
      </p:pic>
      <p:pic>
        <p:nvPicPr>
          <p:cNvPr id="7" name="04 fade · printed date" descr="printed date"/>
          <p:cNvPicPr>
            <a:picLocks noChangeAspect="1"/>
          </p:cNvPicPr>
          <p:nvPr/>
        </p:nvPicPr>
        <p:blipFill>
          <a:blip r:embed="rId7"/>
          <a:stretch>
            <a:fillRect/>
          </a:stretch>
        </p:blipFill>
        <p:spPr>
          <a:xfrm>
            <a:off x="2311400" y="3829050"/>
            <a:ext cx="1085850" cy="450850"/>
          </a:xfrm>
          <a:prstGeom prst="rect">
            <a:avLst/>
          </a:prstGeom>
        </p:spPr>
      </p:pic>
      <p:pic>
        <p:nvPicPr>
          <p:cNvPr id="8" name="05 fade · graphic" descr=""/>
          <p:cNvPicPr>
            <a:picLocks noChangeAspect="1"/>
          </p:cNvPicPr>
          <p:nvPr/>
        </p:nvPicPr>
        <p:blipFill>
          <a:blip r:embed="rId8"/>
          <a:stretch>
            <a:fillRect/>
          </a:stretch>
        </p:blipFill>
        <p:spPr>
          <a:xfrm>
            <a:off x="4279900" y="3930650"/>
            <a:ext cx="539750" cy="533400"/>
          </a:xfrm>
          <a:prstGeom prst="rect">
            <a:avLst/>
          </a:prstGeom>
        </p:spPr>
      </p:pic>
      <p:pic>
        <p:nvPicPr>
          <p:cNvPr id="9" name="06 up · The commercial traceOffensive " descr="The commercial traceOffensive · Thermal Trace Thermal Trace model: inventory is an asset with a live value, priced from its real thermal history and live demand. Result: value recovered before it is l"/>
          <p:cNvPicPr>
            <a:picLocks noChangeAspect="1"/>
          </p:cNvPicPr>
          <p:nvPr/>
        </p:nvPicPr>
        <p:blipFill>
          <a:blip r:embed="rId9"/>
          <a:stretch>
            <a:fillRect/>
          </a:stretch>
        </p:blipFill>
        <p:spPr>
          <a:xfrm>
            <a:off x="5943600" y="1765300"/>
            <a:ext cx="5581650" cy="4349750"/>
          </a:xfrm>
          <a:prstGeom prst="rect">
            <a:avLst/>
          </a:prstGeom>
        </p:spPr>
      </p:pic>
      <p:pic>
        <p:nvPicPr>
          <p:cNvPr id="10" name="07 wipe · graphic" descr=""/>
          <p:cNvPicPr>
            <a:picLocks noChangeAspect="1"/>
          </p:cNvPicPr>
          <p:nvPr/>
        </p:nvPicPr>
        <p:blipFill>
          <a:blip r:embed="rId10"/>
          <a:stretch>
            <a:fillRect/>
          </a:stretch>
        </p:blipFill>
        <p:spPr>
          <a:xfrm>
            <a:off x="7378700" y="2895600"/>
            <a:ext cx="2698750" cy="1555750"/>
          </a:xfrm>
          <a:prstGeom prst="rect">
            <a:avLst/>
          </a:prstGeom>
        </p:spPr>
      </p:pic>
      <p:pic>
        <p:nvPicPr>
          <p:cNvPr id="11" name="08 draw · graphic" descr=""/>
          <p:cNvPicPr>
            <a:picLocks noChangeAspect="1"/>
          </p:cNvPicPr>
          <p:nvPr/>
        </p:nvPicPr>
        <p:blipFill>
          <a:blip r:embed="rId11"/>
          <a:stretch>
            <a:fillRect/>
          </a:stretch>
        </p:blipFill>
        <p:spPr>
          <a:xfrm>
            <a:off x="7378700" y="2895600"/>
            <a:ext cx="2698750" cy="1555750"/>
          </a:xfrm>
          <a:prstGeom prst="rect">
            <a:avLst/>
          </a:prstGeom>
        </p:spPr>
      </p:pic>
      <p:pic>
        <p:nvPicPr>
          <p:cNvPr id="12" name="09 fade · graphic" descr=""/>
          <p:cNvPicPr>
            <a:picLocks noChangeAspect="1"/>
          </p:cNvPicPr>
          <p:nvPr/>
        </p:nvPicPr>
        <p:blipFill>
          <a:blip r:embed="rId12"/>
          <a:stretch>
            <a:fillRect/>
          </a:stretch>
        </p:blipFill>
        <p:spPr>
          <a:xfrm>
            <a:off x="9626600" y="2857500"/>
            <a:ext cx="488950" cy="488950"/>
          </a:xfrm>
          <a:prstGeom prst="rect">
            <a:avLst/>
          </a:prstGeom>
        </p:spPr>
      </p:pic>
      <p:pic>
        <p:nvPicPr>
          <p:cNvPr id="13" name="10 fade · graphic" descr=""/>
          <p:cNvPicPr>
            <a:picLocks noChangeAspect="1"/>
          </p:cNvPicPr>
          <p:nvPr/>
        </p:nvPicPr>
        <p:blipFill>
          <a:blip r:embed="rId13"/>
          <a:stretch>
            <a:fillRect/>
          </a:stretch>
        </p:blipFill>
        <p:spPr>
          <a:xfrm>
            <a:off x="7778750" y="3257550"/>
            <a:ext cx="1962150" cy="10731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8" presetID="2" presetClass="entr" presetSubtype="4" fill="hold" decel="100000"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6" dur="900" fill="hold"/>
                                        <p:tgtEl>
                                          <p:spTgt spid="4"/>
                                        </p:tgtEl>
                                        <p:attrNameLst>
                                          <p:attrName>ppt_y</p:attrName>
                                        </p:attrNameLst>
                                      </p:cBhvr>
                                      <p:tavLst>
                                        <p:tav tm="0">
                                          <p:val>
                                            <p:strVal val="#ppt_y+0.03"/>
                                          </p:val>
                                        </p:tav>
                                        <p:tav tm="100000">
                                          <p:val>
                                            <p:strVal val="#ppt_y"/>
                                          </p:val>
                                        </p:tav>
                                      </p:tavLst>
                                    </p:anim>
                                    <p:animEffect transition="in" filter="fade">
                                      <p:cBhvr>
                                        <p:cTn id="7" dur="900"/>
                                        <p:tgtEl>
                                          <p:spTgt spid="4"/>
                                        </p:tgtEl>
                                      </p:cBhvr>
                                    </p:animEffect>
                                  </p:childTnLst>
                                </p:cTn>
                              </p:par>
                              <p:par>
                                <p:cTn id="12" presetID="2" presetClass="entr" presetSubtype="4" fill="hold" decel="100000"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0" dur="900" fill="hold"/>
                                        <p:tgtEl>
                                          <p:spTgt spid="5"/>
                                        </p:tgtEl>
                                        <p:attrNameLst>
                                          <p:attrName>ppt_y</p:attrName>
                                        </p:attrNameLst>
                                      </p:cBhvr>
                                      <p:tavLst>
                                        <p:tav tm="0">
                                          <p:val>
                                            <p:strVal val="#ppt_y+0.03"/>
                                          </p:val>
                                        </p:tav>
                                        <p:tav tm="100000">
                                          <p:val>
                                            <p:strVal val="#ppt_y"/>
                                          </p:val>
                                        </p:tav>
                                      </p:tavLst>
                                    </p:anim>
                                    <p:animEffect transition="in" filter="fade">
                                      <p:cBhvr>
                                        <p:cTn id="11" dur="900"/>
                                        <p:tgtEl>
                                          <p:spTgt spid="5"/>
                                        </p:tgtEl>
                                      </p:cBhvr>
                                    </p:animEffect>
                                  </p:childTnLst>
                                </p:cTn>
                              </p:par>
                              <p:par>
                                <p:cTn id="15" presetID="22" presetClass="entr" presetSubtype="8" fill="hold" decel="100000" nodeType="withEffect">
                                  <p:stCondLst>
                                    <p:cond delay="90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4" dur="1400"/>
                                        <p:tgtEl>
                                          <p:spTgt spid="6"/>
                                        </p:tgtEl>
                                      </p:cBhvr>
                                    </p:animEffect>
                                  </p:childTnLst>
                                </p:cTn>
                              </p:par>
                              <p:par>
                                <p:cTn id="18" presetID="10" presetClass="entr" presetSubtype="0" fill="hold" decel="100000" nodeType="withEffect">
                                  <p:stCondLst>
                                    <p:cond delay="2200"/>
                                  </p:stCondLst>
                                  <p:childTnLst>
                                    <p:set>
                                      <p:cBhvr>
                                        <p:cTn id="19" dur="1" fill="hold">
                                          <p:stCondLst>
                                            <p:cond delay="0"/>
                                          </p:stCondLst>
                                        </p:cTn>
                                        <p:tgtEl>
                                          <p:spTgt spid="7"/>
                                        </p:tgtEl>
                                        <p:attrNameLst>
                                          <p:attrName>style.visibility</p:attrName>
                                        </p:attrNameLst>
                                      </p:cBhvr>
                                      <p:to>
                                        <p:strVal val="visible"/>
                                      </p:to>
                                    </p:set>
                                    <p:animEffect transition="in" filter="fade">
                                      <p:cBhvr>
                                        <p:cTn id="17" dur="900"/>
                                        <p:tgtEl>
                                          <p:spTgt spid="7"/>
                                        </p:tgtEl>
                                      </p:cBhvr>
                                    </p:animEffect>
                                  </p:childTnLst>
                                </p:cTn>
                              </p:par>
                              <p:par>
                                <p:cTn id="21" presetID="10" presetClass="entr" presetSubtype="0" fill="hold" decel="100000" nodeType="withEffect">
                                  <p:stCondLst>
                                    <p:cond delay="2300"/>
                                  </p:stCondLst>
                                  <p:childTnLst>
                                    <p:set>
                                      <p:cBhvr>
                                        <p:cTn id="22" dur="1" fill="hold">
                                          <p:stCondLst>
                                            <p:cond delay="0"/>
                                          </p:stCondLst>
                                        </p:cTn>
                                        <p:tgtEl>
                                          <p:spTgt spid="8"/>
                                        </p:tgtEl>
                                        <p:attrNameLst>
                                          <p:attrName>style.visibility</p:attrName>
                                        </p:attrNameLst>
                                      </p:cBhvr>
                                      <p:to>
                                        <p:strVal val="visible"/>
                                      </p:to>
                                    </p:set>
                                    <p:animEffect transition="in" filter="fade">
                                      <p:cBhvr>
                                        <p:cTn id="20" dur="900"/>
                                        <p:tgtEl>
                                          <p:spTgt spid="8"/>
                                        </p:tgtEl>
                                      </p:cBhvr>
                                    </p:animEffect>
                                  </p:childTnLst>
                                </p:cTn>
                              </p:par>
                              <p:par>
                                <p:cTn id="25" presetID="2" presetClass="entr" presetSubtype="4" fill="hold" decel="100000" nodeType="withEffect">
                                  <p:stCondLst>
                                    <p:cond delay="50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3" dur="900" fill="hold"/>
                                        <p:tgtEl>
                                          <p:spTgt spid="9"/>
                                        </p:tgtEl>
                                        <p:attrNameLst>
                                          <p:attrName>ppt_y</p:attrName>
                                        </p:attrNameLst>
                                      </p:cBhvr>
                                      <p:tavLst>
                                        <p:tav tm="0">
                                          <p:val>
                                            <p:strVal val="#ppt_y+0.03"/>
                                          </p:val>
                                        </p:tav>
                                        <p:tav tm="100000">
                                          <p:val>
                                            <p:strVal val="#ppt_y"/>
                                          </p:val>
                                        </p:tav>
                                      </p:tavLst>
                                    </p:anim>
                                    <p:animEffect transition="in" filter="fade">
                                      <p:cBhvr>
                                        <p:cTn id="24" dur="900"/>
                                        <p:tgtEl>
                                          <p:spTgt spid="9"/>
                                        </p:tgtEl>
                                      </p:cBhvr>
                                    </p:animEffect>
                                  </p:childTnLst>
                                </p:cTn>
                              </p:par>
                              <p:par>
                                <p:cTn id="28" presetID="22" presetClass="entr" presetSubtype="8" fill="hold" decel="100000" nodeType="withEffect">
                                  <p:stCondLst>
                                    <p:cond delay="140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27" dur="1800"/>
                                        <p:tgtEl>
                                          <p:spTgt spid="10"/>
                                        </p:tgtEl>
                                      </p:cBhvr>
                                    </p:animEffect>
                                  </p:childTnLst>
                                </p:cTn>
                              </p:par>
                              <p:par>
                                <p:cTn id="31" presetID="22" presetClass="entr" presetSubtype="8" fill="hold" decel="100000" nodeType="withEffect">
                                  <p:stCondLst>
                                    <p:cond delay="80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0" dur="1800"/>
                                        <p:tgtEl>
                                          <p:spTgt spid="11"/>
                                        </p:tgtEl>
                                      </p:cBhvr>
                                    </p:animEffect>
                                  </p:childTnLst>
                                </p:cTn>
                              </p:par>
                              <p:par>
                                <p:cTn id="34" presetID="10" presetClass="entr" presetSubtype="0" fill="hold" decel="100000" nodeType="withEffect">
                                  <p:stCondLst>
                                    <p:cond delay="24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3" dur="900"/>
                                        <p:tgtEl>
                                          <p:spTgt spid="12"/>
                                        </p:tgtEl>
                                      </p:cBhvr>
                                    </p:animEffect>
                                  </p:childTnLst>
                                </p:cTn>
                              </p:par>
                              <p:par>
                                <p:cTn id="37" presetID="10" presetClass="entr" presetSubtype="0" fill="hold" decel="100000" nodeType="withEffect">
                                  <p:stCondLst>
                                    <p:cond delay="22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6" dur="9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The anatomy of value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05The product" descr="05The product"/>
          <p:cNvPicPr>
            <a:picLocks noChangeAspect="1"/>
          </p:cNvPicPr>
          <p:nvPr/>
        </p:nvPicPr>
        <p:blipFill>
          <a:blip r:embed="rId3"/>
          <a:stretch>
            <a:fillRect/>
          </a:stretch>
        </p:blipFill>
        <p:spPr>
          <a:xfrm>
            <a:off x="660400" y="609600"/>
            <a:ext cx="10871200" cy="444500"/>
          </a:xfrm>
          <a:prstGeom prst="rect">
            <a:avLst/>
          </a:prstGeom>
        </p:spPr>
      </p:pic>
      <p:pic>
        <p:nvPicPr>
          <p:cNvPr id="4" name="01 up · The anatomy of value: four res" descr="The anatomy of value: four reserves, one stack."/>
          <p:cNvPicPr>
            <a:picLocks noChangeAspect="1"/>
          </p:cNvPicPr>
          <p:nvPr/>
        </p:nvPicPr>
        <p:blipFill>
          <a:blip r:embed="rId4"/>
          <a:stretch>
            <a:fillRect/>
          </a:stretch>
        </p:blipFill>
        <p:spPr>
          <a:xfrm>
            <a:off x="660400" y="977900"/>
            <a:ext cx="9829800" cy="755650"/>
          </a:xfrm>
          <a:prstGeom prst="rect">
            <a:avLst/>
          </a:prstGeom>
        </p:spPr>
      </p:pic>
      <p:pic>
        <p:nvPicPr>
          <p:cNvPr id="5" name="02 up · Thermal Trace GROUND TRUTH" descr="Thermal Trace GROUND TRUTH"/>
          <p:cNvPicPr>
            <a:picLocks noChangeAspect="1"/>
          </p:cNvPicPr>
          <p:nvPr/>
        </p:nvPicPr>
        <p:blipFill>
          <a:blip r:embed="rId5"/>
          <a:stretch>
            <a:fillRect/>
          </a:stretch>
        </p:blipFill>
        <p:spPr>
          <a:xfrm>
            <a:off x="660400" y="4622800"/>
            <a:ext cx="5511800" cy="1263650"/>
          </a:xfrm>
          <a:prstGeom prst="rect">
            <a:avLst/>
          </a:prstGeom>
        </p:spPr>
      </p:pic>
      <p:pic>
        <p:nvPicPr>
          <p:cNvPr id="6" name="03 up · Thermal Reserve THE ENVELOPE" descr="Thermal Reserve THE ENVELOPE"/>
          <p:cNvPicPr>
            <a:picLocks noChangeAspect="1"/>
          </p:cNvPicPr>
          <p:nvPr/>
        </p:nvPicPr>
        <p:blipFill>
          <a:blip r:embed="rId6"/>
          <a:stretch>
            <a:fillRect/>
          </a:stretch>
        </p:blipFill>
        <p:spPr>
          <a:xfrm>
            <a:off x="1136650" y="3632200"/>
            <a:ext cx="4559300" cy="1263650"/>
          </a:xfrm>
          <a:prstGeom prst="rect">
            <a:avLst/>
          </a:prstGeom>
        </p:spPr>
      </p:pic>
      <p:pic>
        <p:nvPicPr>
          <p:cNvPr id="7" name="04 up · Commercial Reserve THE VELOCIT" descr="Commercial Reserve THE VELOCITY"/>
          <p:cNvPicPr>
            <a:picLocks noChangeAspect="1"/>
          </p:cNvPicPr>
          <p:nvPr/>
        </p:nvPicPr>
        <p:blipFill>
          <a:blip r:embed="rId7"/>
          <a:stretch>
            <a:fillRect/>
          </a:stretch>
        </p:blipFill>
        <p:spPr>
          <a:xfrm>
            <a:off x="1619250" y="2641600"/>
            <a:ext cx="3594100" cy="1263650"/>
          </a:xfrm>
          <a:prstGeom prst="rect">
            <a:avLst/>
          </a:prstGeom>
        </p:spPr>
      </p:pic>
      <p:pic>
        <p:nvPicPr>
          <p:cNvPr id="8" name="05 up · Decision Reserve THE ACTION WI" descr="Decision Reserve THE ACTION WINDOW"/>
          <p:cNvPicPr>
            <a:picLocks noChangeAspect="1"/>
          </p:cNvPicPr>
          <p:nvPr/>
        </p:nvPicPr>
        <p:blipFill>
          <a:blip r:embed="rId8"/>
          <a:stretch>
            <a:fillRect/>
          </a:stretch>
        </p:blipFill>
        <p:spPr>
          <a:xfrm>
            <a:off x="2101850" y="1651000"/>
            <a:ext cx="2628900" cy="1263650"/>
          </a:xfrm>
          <a:prstGeom prst="rect">
            <a:avLst/>
          </a:prstGeom>
        </p:spPr>
      </p:pic>
      <p:pic>
        <p:nvPicPr>
          <p:cNvPr id="9" name="06 fade · graphic" descr=""/>
          <p:cNvPicPr>
            <a:picLocks noChangeAspect="1"/>
          </p:cNvPicPr>
          <p:nvPr/>
        </p:nvPicPr>
        <p:blipFill>
          <a:blip r:embed="rId9"/>
          <a:stretch>
            <a:fillRect/>
          </a:stretch>
        </p:blipFill>
        <p:spPr>
          <a:xfrm>
            <a:off x="4279900" y="2127250"/>
            <a:ext cx="2298700" cy="3282950"/>
          </a:xfrm>
          <a:prstGeom prst="rect">
            <a:avLst/>
          </a:prstGeom>
        </p:spPr>
      </p:pic>
      <p:pic>
        <p:nvPicPr>
          <p:cNvPr id="10" name="07 fade · graphic" descr=""/>
          <p:cNvPicPr>
            <a:picLocks noChangeAspect="1"/>
          </p:cNvPicPr>
          <p:nvPr/>
        </p:nvPicPr>
        <p:blipFill>
          <a:blip r:embed="rId10"/>
          <a:stretch>
            <a:fillRect/>
          </a:stretch>
        </p:blipFill>
        <p:spPr>
          <a:xfrm>
            <a:off x="6267450" y="2095500"/>
            <a:ext cx="368300" cy="3346450"/>
          </a:xfrm>
          <a:prstGeom prst="rect">
            <a:avLst/>
          </a:prstGeom>
        </p:spPr>
      </p:pic>
      <p:pic>
        <p:nvPicPr>
          <p:cNvPr id="11" name="08 right · Layer 4 · Decision Reserve Opt" descr="Layer 4 · Decision Reserve Optimized The time left to act before the good options disappear."/>
          <p:cNvPicPr>
            <a:picLocks noChangeAspect="1"/>
          </p:cNvPicPr>
          <p:nvPr/>
        </p:nvPicPr>
        <p:blipFill>
          <a:blip r:embed="rId11"/>
          <a:stretch>
            <a:fillRect/>
          </a:stretch>
        </p:blipFill>
        <p:spPr>
          <a:xfrm>
            <a:off x="6451600" y="1651000"/>
            <a:ext cx="5080000" cy="1263650"/>
          </a:xfrm>
          <a:prstGeom prst="rect">
            <a:avLst/>
          </a:prstGeom>
        </p:spPr>
      </p:pic>
      <p:pic>
        <p:nvPicPr>
          <p:cNvPr id="12" name="09 right · Layer 3 · Commercial Reserve P" descr="Layer 3 · Commercial Reserve Predicted The economic runway: value that can still be realised. CR = Qr × Pr × Vr"/>
          <p:cNvPicPr>
            <a:picLocks noChangeAspect="1"/>
          </p:cNvPicPr>
          <p:nvPr/>
        </p:nvPicPr>
        <p:blipFill>
          <a:blip r:embed="rId12"/>
          <a:stretch>
            <a:fillRect/>
          </a:stretch>
        </p:blipFill>
        <p:spPr>
          <a:xfrm>
            <a:off x="6451600" y="2641600"/>
            <a:ext cx="5080000" cy="1263650"/>
          </a:xfrm>
          <a:prstGeom prst="rect">
            <a:avLst/>
          </a:prstGeom>
        </p:spPr>
      </p:pic>
      <p:pic>
        <p:nvPicPr>
          <p:cNvPr id="13" name="10 right · Layer 2 · Thermal Reserve Calc" descr="Layer 2 · Thermal Reserve Calculated The physical budget left before quality is compromised."/>
          <p:cNvPicPr>
            <a:picLocks noChangeAspect="1"/>
          </p:cNvPicPr>
          <p:nvPr/>
        </p:nvPicPr>
        <p:blipFill>
          <a:blip r:embed="rId13"/>
          <a:stretch>
            <a:fillRect/>
          </a:stretch>
        </p:blipFill>
        <p:spPr>
          <a:xfrm>
            <a:off x="6451600" y="3632200"/>
            <a:ext cx="5080000" cy="1263650"/>
          </a:xfrm>
          <a:prstGeom prst="rect">
            <a:avLst/>
          </a:prstGeom>
        </p:spPr>
      </p:pic>
      <p:pic>
        <p:nvPicPr>
          <p:cNvPr id="14" name="11 right · Layer 1 · Thermal Trace Measur" descr="Layer 1 · Thermal Trace Measured A continuous, timestamped memory of temperature exposure and stress."/>
          <p:cNvPicPr>
            <a:picLocks noChangeAspect="1"/>
          </p:cNvPicPr>
          <p:nvPr/>
        </p:nvPicPr>
        <p:blipFill>
          <a:blip r:embed="rId14"/>
          <a:stretch>
            <a:fillRect/>
          </a:stretch>
        </p:blipFill>
        <p:spPr>
          <a:xfrm>
            <a:off x="6451600" y="4622800"/>
            <a:ext cx="5080000" cy="12636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8" presetID="2" presetClass="entr" presetSubtype="4" fill="hold" decel="100000"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6" dur="900" fill="hold"/>
                                        <p:tgtEl>
                                          <p:spTgt spid="4"/>
                                        </p:tgtEl>
                                        <p:attrNameLst>
                                          <p:attrName>ppt_y</p:attrName>
                                        </p:attrNameLst>
                                      </p:cBhvr>
                                      <p:tavLst>
                                        <p:tav tm="0">
                                          <p:val>
                                            <p:strVal val="#ppt_y+0.03"/>
                                          </p:val>
                                        </p:tav>
                                        <p:tav tm="100000">
                                          <p:val>
                                            <p:strVal val="#ppt_y"/>
                                          </p:val>
                                        </p:tav>
                                      </p:tavLst>
                                    </p:anim>
                                    <p:animEffect transition="in" filter="fade">
                                      <p:cBhvr>
                                        <p:cTn id="7" dur="900"/>
                                        <p:tgtEl>
                                          <p:spTgt spid="4"/>
                                        </p:tgtEl>
                                      </p:cBhvr>
                                    </p:animEffect>
                                  </p:childTnLst>
                                </p:cTn>
                              </p:par>
                              <p:par>
                                <p:cTn id="12" presetID="2" presetClass="entr" presetSubtype="4" fill="hold" decel="100000"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0" dur="900" fill="hold"/>
                                        <p:tgtEl>
                                          <p:spTgt spid="5"/>
                                        </p:tgtEl>
                                        <p:attrNameLst>
                                          <p:attrName>ppt_y</p:attrName>
                                        </p:attrNameLst>
                                      </p:cBhvr>
                                      <p:tavLst>
                                        <p:tav tm="0">
                                          <p:val>
                                            <p:strVal val="#ppt_y+0.03"/>
                                          </p:val>
                                        </p:tav>
                                        <p:tav tm="100000">
                                          <p:val>
                                            <p:strVal val="#ppt_y"/>
                                          </p:val>
                                        </p:tav>
                                      </p:tavLst>
                                    </p:anim>
                                    <p:animEffect transition="in" filter="fade">
                                      <p:cBhvr>
                                        <p:cTn id="11" dur="900"/>
                                        <p:tgtEl>
                                          <p:spTgt spid="5"/>
                                        </p:tgtEl>
                                      </p:cBhvr>
                                    </p:animEffect>
                                  </p:childTnLst>
                                </p:cTn>
                              </p:par>
                              <p:par>
                                <p:cTn id="16" presetID="2" presetClass="entr" presetSubtype="4" fill="hold" decel="100000" nodeType="withEffect">
                                  <p:stCondLst>
                                    <p:cond delay="4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4" dur="900" fill="hold"/>
                                        <p:tgtEl>
                                          <p:spTgt spid="6"/>
                                        </p:tgtEl>
                                        <p:attrNameLst>
                                          <p:attrName>ppt_y</p:attrName>
                                        </p:attrNameLst>
                                      </p:cBhvr>
                                      <p:tavLst>
                                        <p:tav tm="0">
                                          <p:val>
                                            <p:strVal val="#ppt_y+0.03"/>
                                          </p:val>
                                        </p:tav>
                                        <p:tav tm="100000">
                                          <p:val>
                                            <p:strVal val="#ppt_y"/>
                                          </p:val>
                                        </p:tav>
                                      </p:tavLst>
                                    </p:anim>
                                    <p:animEffect transition="in" filter="fade">
                                      <p:cBhvr>
                                        <p:cTn id="15" dur="900"/>
                                        <p:tgtEl>
                                          <p:spTgt spid="6"/>
                                        </p:tgtEl>
                                      </p:cBhvr>
                                    </p:animEffect>
                                  </p:childTnLst>
                                </p:cTn>
                              </p:par>
                              <p:par>
                                <p:cTn id="20" presetID="2" presetClass="entr" presetSubtype="4" fill="hold" decel="100000" nodeType="withEffect">
                                  <p:stCondLst>
                                    <p:cond delay="60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18" dur="900" fill="hold"/>
                                        <p:tgtEl>
                                          <p:spTgt spid="7"/>
                                        </p:tgtEl>
                                        <p:attrNameLst>
                                          <p:attrName>ppt_y</p:attrName>
                                        </p:attrNameLst>
                                      </p:cBhvr>
                                      <p:tavLst>
                                        <p:tav tm="0">
                                          <p:val>
                                            <p:strVal val="#ppt_y+0.03"/>
                                          </p:val>
                                        </p:tav>
                                        <p:tav tm="100000">
                                          <p:val>
                                            <p:strVal val="#ppt_y"/>
                                          </p:val>
                                        </p:tav>
                                      </p:tavLst>
                                    </p:anim>
                                    <p:animEffect transition="in" filter="fade">
                                      <p:cBhvr>
                                        <p:cTn id="19" dur="900"/>
                                        <p:tgtEl>
                                          <p:spTgt spid="7"/>
                                        </p:tgtEl>
                                      </p:cBhvr>
                                    </p:animEffect>
                                  </p:childTnLst>
                                </p:cTn>
                              </p:par>
                              <p:par>
                                <p:cTn id="24" presetID="2" presetClass="entr" presetSubtype="4" fill="hold" decel="100000" nodeType="withEffect">
                                  <p:stCondLst>
                                    <p:cond delay="75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2" dur="900" fill="hold"/>
                                        <p:tgtEl>
                                          <p:spTgt spid="8"/>
                                        </p:tgtEl>
                                        <p:attrNameLst>
                                          <p:attrName>ppt_y</p:attrName>
                                        </p:attrNameLst>
                                      </p:cBhvr>
                                      <p:tavLst>
                                        <p:tav tm="0">
                                          <p:val>
                                            <p:strVal val="#ppt_y+0.03"/>
                                          </p:val>
                                        </p:tav>
                                        <p:tav tm="100000">
                                          <p:val>
                                            <p:strVal val="#ppt_y"/>
                                          </p:val>
                                        </p:tav>
                                      </p:tavLst>
                                    </p:anim>
                                    <p:animEffect transition="in" filter="fade">
                                      <p:cBhvr>
                                        <p:cTn id="23" dur="900"/>
                                        <p:tgtEl>
                                          <p:spTgt spid="8"/>
                                        </p:tgtEl>
                                      </p:cBhvr>
                                    </p:animEffect>
                                  </p:childTnLst>
                                </p:cTn>
                              </p:par>
                              <p:par>
                                <p:cTn id="27" presetID="10" presetClass="entr" presetSubtype="0" fill="hold" decel="100000" nodeType="withEffect">
                                  <p:stCondLst>
                                    <p:cond delay="1000"/>
                                  </p:stCondLst>
                                  <p:childTnLst>
                                    <p:set>
                                      <p:cBhvr>
                                        <p:cTn id="28" dur="1" fill="hold">
                                          <p:stCondLst>
                                            <p:cond delay="0"/>
                                          </p:stCondLst>
                                        </p:cTn>
                                        <p:tgtEl>
                                          <p:spTgt spid="9"/>
                                        </p:tgtEl>
                                        <p:attrNameLst>
                                          <p:attrName>style.visibility</p:attrName>
                                        </p:attrNameLst>
                                      </p:cBhvr>
                                      <p:to>
                                        <p:strVal val="visible"/>
                                      </p:to>
                                    </p:set>
                                    <p:animEffect transition="in" filter="fade">
                                      <p:cBhvr>
                                        <p:cTn id="26" dur="900"/>
                                        <p:tgtEl>
                                          <p:spTgt spid="9"/>
                                        </p:tgtEl>
                                      </p:cBhvr>
                                    </p:animEffect>
                                  </p:childTnLst>
                                </p:cTn>
                              </p:par>
                              <p:par>
                                <p:cTn id="30" presetID="10" presetClass="entr" presetSubtype="0" fill="hold" decel="100000" nodeType="withEffect">
                                  <p:stCondLst>
                                    <p:cond delay="1000"/>
                                  </p:stCondLst>
                                  <p:childTnLst>
                                    <p:set>
                                      <p:cBhvr>
                                        <p:cTn id="31" dur="1" fill="hold">
                                          <p:stCondLst>
                                            <p:cond delay="0"/>
                                          </p:stCondLst>
                                        </p:cTn>
                                        <p:tgtEl>
                                          <p:spTgt spid="10"/>
                                        </p:tgtEl>
                                        <p:attrNameLst>
                                          <p:attrName>style.visibility</p:attrName>
                                        </p:attrNameLst>
                                      </p:cBhvr>
                                      <p:to>
                                        <p:strVal val="visible"/>
                                      </p:to>
                                    </p:set>
                                    <p:animEffect transition="in" filter="fade">
                                      <p:cBhvr>
                                        <p:cTn id="29" dur="900"/>
                                        <p:tgtEl>
                                          <p:spTgt spid="10"/>
                                        </p:tgtEl>
                                      </p:cBhvr>
                                    </p:animEffect>
                                  </p:childTnLst>
                                </p:cTn>
                              </p:par>
                              <p:par>
                                <p:cTn id="34" presetID="2" presetClass="entr" presetSubtype="2" fill="hold" decel="100000" nodeType="withEffect">
                                  <p:stCondLst>
                                    <p:cond delay="105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2" dur="900" fill="hold"/>
                                        <p:tgtEl>
                                          <p:spTgt spid="11"/>
                                        </p:tgtEl>
                                        <p:attrNameLst>
                                          <p:attrName>ppt_x</p:attrName>
                                        </p:attrNameLst>
                                      </p:cBhvr>
                                      <p:tavLst>
                                        <p:tav tm="0">
                                          <p:val>
                                            <p:strVal val="#ppt_x+0.025"/>
                                          </p:val>
                                        </p:tav>
                                        <p:tav tm="100000">
                                          <p:val>
                                            <p:strVal val="#ppt_x"/>
                                          </p:val>
                                        </p:tav>
                                      </p:tavLst>
                                    </p:anim>
                                    <p:animEffect transition="in" filter="fade">
                                      <p:cBhvr>
                                        <p:cTn id="33" dur="900"/>
                                        <p:tgtEl>
                                          <p:spTgt spid="11"/>
                                        </p:tgtEl>
                                      </p:cBhvr>
                                    </p:animEffect>
                                  </p:childTnLst>
                                </p:cTn>
                              </p:par>
                              <p:par>
                                <p:cTn id="38" presetID="2" presetClass="entr" presetSubtype="2" fill="hold" decel="100000" nodeType="withEffect">
                                  <p:stCondLst>
                                    <p:cond delay="95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36" dur="900" fill="hold"/>
                                        <p:tgtEl>
                                          <p:spTgt spid="12"/>
                                        </p:tgtEl>
                                        <p:attrNameLst>
                                          <p:attrName>ppt_x</p:attrName>
                                        </p:attrNameLst>
                                      </p:cBhvr>
                                      <p:tavLst>
                                        <p:tav tm="0">
                                          <p:val>
                                            <p:strVal val="#ppt_x+0.025"/>
                                          </p:val>
                                        </p:tav>
                                        <p:tav tm="100000">
                                          <p:val>
                                            <p:strVal val="#ppt_x"/>
                                          </p:val>
                                        </p:tav>
                                      </p:tavLst>
                                    </p:anim>
                                    <p:animEffect transition="in" filter="fade">
                                      <p:cBhvr>
                                        <p:cTn id="37" dur="900"/>
                                        <p:tgtEl>
                                          <p:spTgt spid="12"/>
                                        </p:tgtEl>
                                      </p:cBhvr>
                                    </p:animEffect>
                                  </p:childTnLst>
                                </p:cTn>
                              </p:par>
                              <p:par>
                                <p:cTn id="42" presetID="2" presetClass="entr" presetSubtype="2" fill="hold" decel="100000" nodeType="withEffect">
                                  <p:stCondLst>
                                    <p:cond delay="850"/>
                                  </p:stCondLst>
                                  <p:childTnLst>
                                    <p:set>
                                      <p:cBhvr>
                                        <p:cTn id="43" dur="1" fill="hold">
                                          <p:stCondLst>
                                            <p:cond delay="0"/>
                                          </p:stCondLst>
                                        </p:cTn>
                                        <p:tgtEl>
                                          <p:spTgt spid="13"/>
                                        </p:tgtEl>
                                        <p:attrNameLst>
                                          <p:attrName>style.visibility</p:attrName>
                                        </p:attrNameLst>
                                      </p:cBhvr>
                                      <p:to>
                                        <p:strVal val="visible"/>
                                      </p:to>
                                    </p:set>
                                    <p:anim calcmode="lin" valueType="num">
                                      <p:cBhvr additive="base">
                                        <p:cTn id="40" dur="900" fill="hold"/>
                                        <p:tgtEl>
                                          <p:spTgt spid="13"/>
                                        </p:tgtEl>
                                        <p:attrNameLst>
                                          <p:attrName>ppt_x</p:attrName>
                                        </p:attrNameLst>
                                      </p:cBhvr>
                                      <p:tavLst>
                                        <p:tav tm="0">
                                          <p:val>
                                            <p:strVal val="#ppt_x+0.025"/>
                                          </p:val>
                                        </p:tav>
                                        <p:tav tm="100000">
                                          <p:val>
                                            <p:strVal val="#ppt_x"/>
                                          </p:val>
                                        </p:tav>
                                      </p:tavLst>
                                    </p:anim>
                                    <p:animEffect transition="in" filter="fade">
                                      <p:cBhvr>
                                        <p:cTn id="41" dur="900"/>
                                        <p:tgtEl>
                                          <p:spTgt spid="13"/>
                                        </p:tgtEl>
                                      </p:cBhvr>
                                    </p:animEffect>
                                  </p:childTnLst>
                                </p:cTn>
                              </p:par>
                              <p:par>
                                <p:cTn id="46" presetID="2" presetClass="entr" presetSubtype="2" fill="hold" decel="100000" nodeType="withEffect">
                                  <p:stCondLst>
                                    <p:cond delay="75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4" dur="900" fill="hold"/>
                                        <p:tgtEl>
                                          <p:spTgt spid="14"/>
                                        </p:tgtEl>
                                        <p:attrNameLst>
                                          <p:attrName>ppt_x</p:attrName>
                                        </p:attrNameLst>
                                      </p:cBhvr>
                                      <p:tavLst>
                                        <p:tav tm="0">
                                          <p:val>
                                            <p:strVal val="#ppt_x+0.025"/>
                                          </p:val>
                                        </p:tav>
                                        <p:tav tm="100000">
                                          <p:val>
                                            <p:strVal val="#ppt_x"/>
                                          </p:val>
                                        </p:tav>
                                      </p:tavLst>
                                    </p:anim>
                                    <p:animEffect transition="in" filter="fade">
                                      <p:cBhvr>
                                        <p:cTn id="45" dur="9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Two divisions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Countdown · example" descr="Countdown · example"/>
          <p:cNvPicPr>
            <a:picLocks noChangeAspect="1"/>
          </p:cNvPicPr>
          <p:nvPr/>
        </p:nvPicPr>
        <p:blipFill>
          <a:blip r:embed="rId3"/>
          <a:stretch>
            <a:fillRect/>
          </a:stretch>
        </p:blipFill>
        <p:spPr>
          <a:xfrm>
            <a:off x="9385300" y="558800"/>
            <a:ext cx="2146300" cy="546100"/>
          </a:xfrm>
          <a:prstGeom prst="rect">
            <a:avLst/>
          </a:prstGeom>
        </p:spPr>
      </p:pic>
      <p:pic>
        <p:nvPicPr>
          <p:cNvPr id="4" name="01 fade · 06Two divisions" descr="06Two divisions"/>
          <p:cNvPicPr>
            <a:picLocks noChangeAspect="1"/>
          </p:cNvPicPr>
          <p:nvPr/>
        </p:nvPicPr>
        <p:blipFill>
          <a:blip r:embed="rId4"/>
          <a:stretch>
            <a:fillRect/>
          </a:stretch>
        </p:blipFill>
        <p:spPr>
          <a:xfrm>
            <a:off x="660400" y="609600"/>
            <a:ext cx="10871200" cy="444500"/>
          </a:xfrm>
          <a:prstGeom prst="rect">
            <a:avLst/>
          </a:prstGeom>
        </p:spPr>
      </p:pic>
      <p:pic>
        <p:nvPicPr>
          <p:cNvPr id="5" name="02 up · Two clocks, one platform." descr="Two clocks, one platform."/>
          <p:cNvPicPr>
            <a:picLocks noChangeAspect="1"/>
          </p:cNvPicPr>
          <p:nvPr/>
        </p:nvPicPr>
        <p:blipFill>
          <a:blip r:embed="rId5"/>
          <a:stretch>
            <a:fillRect/>
          </a:stretch>
        </p:blipFill>
        <p:spPr>
          <a:xfrm>
            <a:off x="660400" y="977900"/>
            <a:ext cx="9829800" cy="838200"/>
          </a:xfrm>
          <a:prstGeom prst="rect">
            <a:avLst/>
          </a:prstGeom>
        </p:spPr>
      </p:pic>
      <p:pic>
        <p:nvPicPr>
          <p:cNvPr id="6" name="03 up · Physical clockCalculated Therm" descr="Physical clockCalculated Thermal Reserve 45 min left For 3PLs, fleets and warehouses. Sensors and edge gateways record the Thermal Trace and give a live countdown. 3PLsFleetsWarehouses"/>
          <p:cNvPicPr>
            <a:picLocks noChangeAspect="1"/>
          </p:cNvPicPr>
          <p:nvPr/>
        </p:nvPicPr>
        <p:blipFill>
          <a:blip r:embed="rId6"/>
          <a:stretch>
            <a:fillRect/>
          </a:stretch>
        </p:blipFill>
        <p:spPr>
          <a:xfrm>
            <a:off x="660400" y="1784350"/>
            <a:ext cx="5499100" cy="2978150"/>
          </a:xfrm>
          <a:prstGeom prst="rect">
            <a:avLst/>
          </a:prstGeom>
        </p:spPr>
      </p:pic>
      <p:pic>
        <p:nvPicPr>
          <p:cNvPr id="7" name="04 up · Commercial clockPredicted Comm" descr="Commercial clockPredicted Commercial Reserve POS · ERP · WMS → route → price to clear For hypermarkets and HORECA. Joins the physical state with POS, ERP and WMS to route stock, and price it to clear."/>
          <p:cNvPicPr>
            <a:picLocks noChangeAspect="1"/>
          </p:cNvPicPr>
          <p:nvPr/>
        </p:nvPicPr>
        <p:blipFill>
          <a:blip r:embed="rId7"/>
          <a:stretch>
            <a:fillRect/>
          </a:stretch>
        </p:blipFill>
        <p:spPr>
          <a:xfrm>
            <a:off x="6032500" y="1784350"/>
            <a:ext cx="5499100" cy="2978150"/>
          </a:xfrm>
          <a:prstGeom prst="rect">
            <a:avLst/>
          </a:prstGeom>
        </p:spPr>
      </p:pic>
      <p:pic>
        <p:nvPicPr>
          <p:cNvPr id="8" name="05 up · Entry point · Thermal ReserveC" descr="Entry point · Thermal ReserveControlled extension · Commercial Reserve"/>
          <p:cNvPicPr>
            <a:picLocks noChangeAspect="1"/>
          </p:cNvPicPr>
          <p:nvPr/>
        </p:nvPicPr>
        <p:blipFill>
          <a:blip r:embed="rId8"/>
          <a:stretch>
            <a:fillRect/>
          </a:stretch>
        </p:blipFill>
        <p:spPr>
          <a:xfrm>
            <a:off x="660400" y="4730750"/>
            <a:ext cx="10871200" cy="431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20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7" presetID="10" presetClass="entr" presetSubtype="0" fill="hold" decel="10000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6" dur="900"/>
                                        <p:tgtEl>
                                          <p:spTgt spid="4"/>
                                        </p:tgtEl>
                                      </p:cBhvr>
                                    </p:animEffect>
                                  </p:childTnLst>
                                </p:cTn>
                              </p:par>
                              <p:par>
                                <p:cTn id="11" presetID="2" presetClass="entr" presetSubtype="4" fill="hold" decel="100000" nodeType="withEffect">
                                  <p:stCondLst>
                                    <p:cond delay="12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9" dur="900" fill="hold"/>
                                        <p:tgtEl>
                                          <p:spTgt spid="5"/>
                                        </p:tgtEl>
                                        <p:attrNameLst>
                                          <p:attrName>ppt_y</p:attrName>
                                        </p:attrNameLst>
                                      </p:cBhvr>
                                      <p:tavLst>
                                        <p:tav tm="0">
                                          <p:val>
                                            <p:strVal val="#ppt_y+0.03"/>
                                          </p:val>
                                        </p:tav>
                                        <p:tav tm="100000">
                                          <p:val>
                                            <p:strVal val="#ppt_y"/>
                                          </p:val>
                                        </p:tav>
                                      </p:tavLst>
                                    </p:anim>
                                    <p:animEffect transition="in" filter="fade">
                                      <p:cBhvr>
                                        <p:cTn id="10" dur="900"/>
                                        <p:tgtEl>
                                          <p:spTgt spid="5"/>
                                        </p:tgtEl>
                                      </p:cBhvr>
                                    </p:animEffect>
                                  </p:childTnLst>
                                </p:cTn>
                              </p:par>
                              <p:par>
                                <p:cTn id="15" presetID="2" presetClass="entr" presetSubtype="4" fill="hold" decel="100000" nodeType="withEffect">
                                  <p:stCondLst>
                                    <p:cond delay="3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3" dur="900" fill="hold"/>
                                        <p:tgtEl>
                                          <p:spTgt spid="6"/>
                                        </p:tgtEl>
                                        <p:attrNameLst>
                                          <p:attrName>ppt_y</p:attrName>
                                        </p:attrNameLst>
                                      </p:cBhvr>
                                      <p:tavLst>
                                        <p:tav tm="0">
                                          <p:val>
                                            <p:strVal val="#ppt_y+0.03"/>
                                          </p:val>
                                        </p:tav>
                                        <p:tav tm="100000">
                                          <p:val>
                                            <p:strVal val="#ppt_y"/>
                                          </p:val>
                                        </p:tav>
                                      </p:tavLst>
                                    </p:anim>
                                    <p:animEffect transition="in" filter="fade">
                                      <p:cBhvr>
                                        <p:cTn id="14" dur="900"/>
                                        <p:tgtEl>
                                          <p:spTgt spid="6"/>
                                        </p:tgtEl>
                                      </p:cBhvr>
                                    </p:animEffect>
                                  </p:childTnLst>
                                </p:cTn>
                              </p:par>
                              <p:par>
                                <p:cTn id="19" presetID="2" presetClass="entr" presetSubtype="4" fill="hold" decel="100000" nodeType="withEffect">
                                  <p:stCondLst>
                                    <p:cond delay="45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17" dur="900" fill="hold"/>
                                        <p:tgtEl>
                                          <p:spTgt spid="7"/>
                                        </p:tgtEl>
                                        <p:attrNameLst>
                                          <p:attrName>ppt_y</p:attrName>
                                        </p:attrNameLst>
                                      </p:cBhvr>
                                      <p:tavLst>
                                        <p:tav tm="0">
                                          <p:val>
                                            <p:strVal val="#ppt_y+0.03"/>
                                          </p:val>
                                        </p:tav>
                                        <p:tav tm="100000">
                                          <p:val>
                                            <p:strVal val="#ppt_y"/>
                                          </p:val>
                                        </p:tav>
                                      </p:tavLst>
                                    </p:anim>
                                    <p:animEffect transition="in" filter="fade">
                                      <p:cBhvr>
                                        <p:cTn id="18" dur="900"/>
                                        <p:tgtEl>
                                          <p:spTgt spid="7"/>
                                        </p:tgtEl>
                                      </p:cBhvr>
                                    </p:animEffect>
                                  </p:childTnLst>
                                </p:cTn>
                              </p:par>
                              <p:par>
                                <p:cTn id="23" presetID="2" presetClass="entr" presetSubtype="4" fill="hold" decel="100000" nodeType="withEffect">
                                  <p:stCondLst>
                                    <p:cond delay="70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1" dur="900" fill="hold"/>
                                        <p:tgtEl>
                                          <p:spTgt spid="8"/>
                                        </p:tgtEl>
                                        <p:attrNameLst>
                                          <p:attrName>ppt_y</p:attrName>
                                        </p:attrNameLst>
                                      </p:cBhvr>
                                      <p:tavLst>
                                        <p:tav tm="0">
                                          <p:val>
                                            <p:strVal val="#ppt_y+0.03"/>
                                          </p:val>
                                        </p:tav>
                                        <p:tav tm="100000">
                                          <p:val>
                                            <p:strVal val="#ppt_y"/>
                                          </p:val>
                                        </p:tav>
                                      </p:tavLst>
                                    </p:anim>
                                    <p:animEffect transition="in" filter="fade">
                                      <p:cBhvr>
                                        <p:cTn id="22" dur="9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What we measure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07What we measure" descr="07What we measure"/>
          <p:cNvPicPr>
            <a:picLocks noChangeAspect="1"/>
          </p:cNvPicPr>
          <p:nvPr/>
        </p:nvPicPr>
        <p:blipFill>
          <a:blip r:embed="rId3"/>
          <a:stretch>
            <a:fillRect/>
          </a:stretch>
        </p:blipFill>
        <p:spPr>
          <a:xfrm>
            <a:off x="660400" y="609600"/>
            <a:ext cx="10871200" cy="444500"/>
          </a:xfrm>
          <a:prstGeom prst="rect">
            <a:avLst/>
          </a:prstGeom>
        </p:spPr>
      </p:pic>
      <p:pic>
        <p:nvPicPr>
          <p:cNvPr id="4" name="01 up · Six signals. Three numbers tha" descr="Six signals. Three numbers that matter."/>
          <p:cNvPicPr>
            <a:picLocks noChangeAspect="1"/>
          </p:cNvPicPr>
          <p:nvPr/>
        </p:nvPicPr>
        <p:blipFill>
          <a:blip r:embed="rId4"/>
          <a:stretch>
            <a:fillRect/>
          </a:stretch>
        </p:blipFill>
        <p:spPr>
          <a:xfrm>
            <a:off x="660400" y="977900"/>
            <a:ext cx="9829800" cy="838200"/>
          </a:xfrm>
          <a:prstGeom prst="rect">
            <a:avLst/>
          </a:prstGeom>
        </p:spPr>
      </p:pic>
      <p:pic>
        <p:nvPicPr>
          <p:cNvPr id="5" name="02 up · Temperature DS18B20 · ±0.5 °C " descr="Temperature DS18B20 · ±0.5 °C Ceiling and floor, so a warm layer shows up instead of hiding in an average."/>
          <p:cNvPicPr>
            <a:picLocks noChangeAspect="1"/>
          </p:cNvPicPr>
          <p:nvPr/>
        </p:nvPicPr>
        <p:blipFill>
          <a:blip r:embed="rId5"/>
          <a:stretch>
            <a:fillRect/>
          </a:stretch>
        </p:blipFill>
        <p:spPr>
          <a:xfrm>
            <a:off x="660400" y="1695450"/>
            <a:ext cx="3752850" cy="1562100"/>
          </a:xfrm>
          <a:prstGeom prst="rect">
            <a:avLst/>
          </a:prstGeom>
        </p:spPr>
      </p:pic>
      <p:pic>
        <p:nvPicPr>
          <p:cNvPr id="6" name="03 up · Humidity Sensirion SHT3x · ±2 " descr="Humidity Sensirion SHT3x · ±2 % RH With temperature it gives the dew point: whether an open door wets the cartons."/>
          <p:cNvPicPr>
            <a:picLocks noChangeAspect="1"/>
          </p:cNvPicPr>
          <p:nvPr/>
        </p:nvPicPr>
        <p:blipFill>
          <a:blip r:embed="rId6"/>
          <a:stretch>
            <a:fillRect/>
          </a:stretch>
        </p:blipFill>
        <p:spPr>
          <a:xfrm>
            <a:off x="4216400" y="1695450"/>
            <a:ext cx="3759200" cy="1562100"/>
          </a:xfrm>
          <a:prstGeom prst="rect">
            <a:avLst/>
          </a:prstGeom>
        </p:spPr>
      </p:pic>
      <p:pic>
        <p:nvPicPr>
          <p:cNvPr id="7" name="04 up · Shock &amp; tilt 3-axis MEMS accel" descr="Shock &amp; tilt 3-axis MEMS accelerometer Bruising from a dropped pallet is damage a thermometer never sees."/>
          <p:cNvPicPr>
            <a:picLocks noChangeAspect="1"/>
          </p:cNvPicPr>
          <p:nvPr/>
        </p:nvPicPr>
        <p:blipFill>
          <a:blip r:embed="rId7"/>
          <a:stretch>
            <a:fillRect/>
          </a:stretch>
        </p:blipFill>
        <p:spPr>
          <a:xfrm>
            <a:off x="7778750" y="1695450"/>
            <a:ext cx="3752850" cy="1562100"/>
          </a:xfrm>
          <a:prstGeom prst="rect">
            <a:avLst/>
          </a:prstGeom>
        </p:spPr>
      </p:pic>
      <p:pic>
        <p:nvPicPr>
          <p:cNvPr id="8" name="05 up · Gases · designed Metal-oxide ·" descr="Gases · designed Metal-oxide · VOC, C2H4 Ethylene is the fruit itself reporting that it has started to ripen."/>
          <p:cNvPicPr>
            <a:picLocks noChangeAspect="1"/>
          </p:cNvPicPr>
          <p:nvPr/>
        </p:nvPicPr>
        <p:blipFill>
          <a:blip r:embed="rId8"/>
          <a:stretch>
            <a:fillRect/>
          </a:stretch>
        </p:blipFill>
        <p:spPr>
          <a:xfrm>
            <a:off x="660400" y="3060700"/>
            <a:ext cx="3752850" cy="1587500"/>
          </a:xfrm>
          <a:prstGeom prst="rect">
            <a:avLst/>
          </a:prstGeom>
        </p:spPr>
      </p:pic>
      <p:pic>
        <p:nvPicPr>
          <p:cNvPr id="9" name="06 up · Sub-surface · designed NIR · 7" descr="Sub-surface · designed NIR · 700–2500 nm Finds internal bruising before anything is visible from outside."/>
          <p:cNvPicPr>
            <a:picLocks noChangeAspect="1"/>
          </p:cNvPicPr>
          <p:nvPr/>
        </p:nvPicPr>
        <p:blipFill>
          <a:blip r:embed="rId9"/>
          <a:stretch>
            <a:fillRect/>
          </a:stretch>
        </p:blipFill>
        <p:spPr>
          <a:xfrm>
            <a:off x="4216400" y="3060700"/>
            <a:ext cx="3759200" cy="1587500"/>
          </a:xfrm>
          <a:prstGeom prst="rect">
            <a:avLst/>
          </a:prstGeom>
        </p:spPr>
      </p:pic>
      <p:pic>
        <p:nvPicPr>
          <p:cNvPr id="10" name="07 up · Surface · designed RGB camera " descr="Surface · designed RGB camera · edge vision Colour shift, mould, and a count of what is actually on the shelf."/>
          <p:cNvPicPr>
            <a:picLocks noChangeAspect="1"/>
          </p:cNvPicPr>
          <p:nvPr/>
        </p:nvPicPr>
        <p:blipFill>
          <a:blip r:embed="rId10"/>
          <a:stretch>
            <a:fillRect/>
          </a:stretch>
        </p:blipFill>
        <p:spPr>
          <a:xfrm>
            <a:off x="7778750" y="3060700"/>
            <a:ext cx="3752850" cy="1587500"/>
          </a:xfrm>
          <a:prstGeom prst="rect">
            <a:avLst/>
          </a:prstGeom>
        </p:spPr>
      </p:pic>
      <p:pic>
        <p:nvPicPr>
          <p:cNvPr id="11" name="08 up · They feed Deterioration detect" descr="They feed Deterioration detection Remaining Useful Time Thermal exposure ET Calculated"/>
          <p:cNvPicPr>
            <a:picLocks noChangeAspect="1"/>
          </p:cNvPicPr>
          <p:nvPr/>
        </p:nvPicPr>
        <p:blipFill>
          <a:blip r:embed="rId11"/>
          <a:stretch>
            <a:fillRect/>
          </a:stretch>
        </p:blipFill>
        <p:spPr>
          <a:xfrm>
            <a:off x="660400" y="4502150"/>
            <a:ext cx="10871200" cy="711200"/>
          </a:xfrm>
          <a:prstGeom prst="rect">
            <a:avLst/>
          </a:prstGeom>
        </p:spPr>
      </p:pic>
      <p:pic>
        <p:nvPicPr>
          <p:cNvPr id="12" name="09 up · The first three flow through t" descr="The first three flow through the pipeline today; the rest are the designed next layer. All publish the same message, so adding one changes nothing downstream."/>
          <p:cNvPicPr>
            <a:picLocks noChangeAspect="1"/>
          </p:cNvPicPr>
          <p:nvPr/>
        </p:nvPicPr>
        <p:blipFill>
          <a:blip r:embed="rId12"/>
          <a:stretch>
            <a:fillRect/>
          </a:stretch>
        </p:blipFill>
        <p:spPr>
          <a:xfrm>
            <a:off x="660400" y="4991100"/>
            <a:ext cx="10871200" cy="7556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8" presetID="2" presetClass="entr" presetSubtype="4" fill="hold" decel="100000"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6" dur="900" fill="hold"/>
                                        <p:tgtEl>
                                          <p:spTgt spid="4"/>
                                        </p:tgtEl>
                                        <p:attrNameLst>
                                          <p:attrName>ppt_y</p:attrName>
                                        </p:attrNameLst>
                                      </p:cBhvr>
                                      <p:tavLst>
                                        <p:tav tm="0">
                                          <p:val>
                                            <p:strVal val="#ppt_y+0.03"/>
                                          </p:val>
                                        </p:tav>
                                        <p:tav tm="100000">
                                          <p:val>
                                            <p:strVal val="#ppt_y"/>
                                          </p:val>
                                        </p:tav>
                                      </p:tavLst>
                                    </p:anim>
                                    <p:animEffect transition="in" filter="fade">
                                      <p:cBhvr>
                                        <p:cTn id="7" dur="900"/>
                                        <p:tgtEl>
                                          <p:spTgt spid="4"/>
                                        </p:tgtEl>
                                      </p:cBhvr>
                                    </p:animEffect>
                                  </p:childTnLst>
                                </p:cTn>
                              </p:par>
                              <p:par>
                                <p:cTn id="12" presetID="2" presetClass="entr" presetSubtype="4" fill="hold" decel="100000"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0" dur="900" fill="hold"/>
                                        <p:tgtEl>
                                          <p:spTgt spid="5"/>
                                        </p:tgtEl>
                                        <p:attrNameLst>
                                          <p:attrName>ppt_y</p:attrName>
                                        </p:attrNameLst>
                                      </p:cBhvr>
                                      <p:tavLst>
                                        <p:tav tm="0">
                                          <p:val>
                                            <p:strVal val="#ppt_y+0.03"/>
                                          </p:val>
                                        </p:tav>
                                        <p:tav tm="100000">
                                          <p:val>
                                            <p:strVal val="#ppt_y"/>
                                          </p:val>
                                        </p:tav>
                                      </p:tavLst>
                                    </p:anim>
                                    <p:animEffect transition="in" filter="fade">
                                      <p:cBhvr>
                                        <p:cTn id="11" dur="900"/>
                                        <p:tgtEl>
                                          <p:spTgt spid="5"/>
                                        </p:tgtEl>
                                      </p:cBhvr>
                                    </p:animEffect>
                                  </p:childTnLst>
                                </p:cTn>
                              </p:par>
                              <p:par>
                                <p:cTn id="16" presetID="2" presetClass="entr" presetSubtype="4" fill="hold" decel="100000" nodeType="withEffect">
                                  <p:stCondLst>
                                    <p:cond delay="37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4" dur="900" fill="hold"/>
                                        <p:tgtEl>
                                          <p:spTgt spid="6"/>
                                        </p:tgtEl>
                                        <p:attrNameLst>
                                          <p:attrName>ppt_y</p:attrName>
                                        </p:attrNameLst>
                                      </p:cBhvr>
                                      <p:tavLst>
                                        <p:tav tm="0">
                                          <p:val>
                                            <p:strVal val="#ppt_y+0.03"/>
                                          </p:val>
                                        </p:tav>
                                        <p:tav tm="100000">
                                          <p:val>
                                            <p:strVal val="#ppt_y"/>
                                          </p:val>
                                        </p:tav>
                                      </p:tavLst>
                                    </p:anim>
                                    <p:animEffect transition="in" filter="fade">
                                      <p:cBhvr>
                                        <p:cTn id="15" dur="900"/>
                                        <p:tgtEl>
                                          <p:spTgt spid="6"/>
                                        </p:tgtEl>
                                      </p:cBhvr>
                                    </p:animEffect>
                                  </p:childTnLst>
                                </p:cTn>
                              </p:par>
                              <p:par>
                                <p:cTn id="20" presetID="2" presetClass="entr" presetSubtype="4" fill="hold" decel="100000" nodeType="withEffect">
                                  <p:stCondLst>
                                    <p:cond delay="44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18" dur="900" fill="hold"/>
                                        <p:tgtEl>
                                          <p:spTgt spid="7"/>
                                        </p:tgtEl>
                                        <p:attrNameLst>
                                          <p:attrName>ppt_y</p:attrName>
                                        </p:attrNameLst>
                                      </p:cBhvr>
                                      <p:tavLst>
                                        <p:tav tm="0">
                                          <p:val>
                                            <p:strVal val="#ppt_y+0.03"/>
                                          </p:val>
                                        </p:tav>
                                        <p:tav tm="100000">
                                          <p:val>
                                            <p:strVal val="#ppt_y"/>
                                          </p:val>
                                        </p:tav>
                                      </p:tavLst>
                                    </p:anim>
                                    <p:animEffect transition="in" filter="fade">
                                      <p:cBhvr>
                                        <p:cTn id="19" dur="900"/>
                                        <p:tgtEl>
                                          <p:spTgt spid="7"/>
                                        </p:tgtEl>
                                      </p:cBhvr>
                                    </p:animEffect>
                                  </p:childTnLst>
                                </p:cTn>
                              </p:par>
                              <p:par>
                                <p:cTn id="24" presetID="2" presetClass="entr" presetSubtype="4" fill="hold" decel="100000" nodeType="withEffect">
                                  <p:stCondLst>
                                    <p:cond delay="51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2" dur="900" fill="hold"/>
                                        <p:tgtEl>
                                          <p:spTgt spid="8"/>
                                        </p:tgtEl>
                                        <p:attrNameLst>
                                          <p:attrName>ppt_y</p:attrName>
                                        </p:attrNameLst>
                                      </p:cBhvr>
                                      <p:tavLst>
                                        <p:tav tm="0">
                                          <p:val>
                                            <p:strVal val="#ppt_y+0.03"/>
                                          </p:val>
                                        </p:tav>
                                        <p:tav tm="100000">
                                          <p:val>
                                            <p:strVal val="#ppt_y"/>
                                          </p:val>
                                        </p:tav>
                                      </p:tavLst>
                                    </p:anim>
                                    <p:animEffect transition="in" filter="fade">
                                      <p:cBhvr>
                                        <p:cTn id="23" dur="900"/>
                                        <p:tgtEl>
                                          <p:spTgt spid="8"/>
                                        </p:tgtEl>
                                      </p:cBhvr>
                                    </p:animEffect>
                                  </p:childTnLst>
                                </p:cTn>
                              </p:par>
                              <p:par>
                                <p:cTn id="28" presetID="2" presetClass="entr" presetSubtype="4" fill="hold" decel="100000" nodeType="withEffect">
                                  <p:stCondLst>
                                    <p:cond delay="58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26" dur="900" fill="hold"/>
                                        <p:tgtEl>
                                          <p:spTgt spid="9"/>
                                        </p:tgtEl>
                                        <p:attrNameLst>
                                          <p:attrName>ppt_y</p:attrName>
                                        </p:attrNameLst>
                                      </p:cBhvr>
                                      <p:tavLst>
                                        <p:tav tm="0">
                                          <p:val>
                                            <p:strVal val="#ppt_y+0.03"/>
                                          </p:val>
                                        </p:tav>
                                        <p:tav tm="100000">
                                          <p:val>
                                            <p:strVal val="#ppt_y"/>
                                          </p:val>
                                        </p:tav>
                                      </p:tavLst>
                                    </p:anim>
                                    <p:animEffect transition="in" filter="fade">
                                      <p:cBhvr>
                                        <p:cTn id="27" dur="900"/>
                                        <p:tgtEl>
                                          <p:spTgt spid="9"/>
                                        </p:tgtEl>
                                      </p:cBhvr>
                                    </p:animEffect>
                                  </p:childTnLst>
                                </p:cTn>
                              </p:par>
                              <p:par>
                                <p:cTn id="32" presetID="2" presetClass="entr" presetSubtype="4" fill="hold" decel="100000" nodeType="withEffect">
                                  <p:stCondLst>
                                    <p:cond delay="65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0" dur="900" fill="hold"/>
                                        <p:tgtEl>
                                          <p:spTgt spid="10"/>
                                        </p:tgtEl>
                                        <p:attrNameLst>
                                          <p:attrName>ppt_y</p:attrName>
                                        </p:attrNameLst>
                                      </p:cBhvr>
                                      <p:tavLst>
                                        <p:tav tm="0">
                                          <p:val>
                                            <p:strVal val="#ppt_y+0.03"/>
                                          </p:val>
                                        </p:tav>
                                        <p:tav tm="100000">
                                          <p:val>
                                            <p:strVal val="#ppt_y"/>
                                          </p:val>
                                        </p:tav>
                                      </p:tavLst>
                                    </p:anim>
                                    <p:animEffect transition="in" filter="fade">
                                      <p:cBhvr>
                                        <p:cTn id="31" dur="900"/>
                                        <p:tgtEl>
                                          <p:spTgt spid="10"/>
                                        </p:tgtEl>
                                      </p:cBhvr>
                                    </p:animEffect>
                                  </p:childTnLst>
                                </p:cTn>
                              </p:par>
                              <p:par>
                                <p:cTn id="36" presetID="2" presetClass="entr" presetSubtype="4" fill="hold" decel="100000" nodeType="withEffect">
                                  <p:stCondLst>
                                    <p:cond delay="85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4" dur="900" fill="hold"/>
                                        <p:tgtEl>
                                          <p:spTgt spid="11"/>
                                        </p:tgtEl>
                                        <p:attrNameLst>
                                          <p:attrName>ppt_y</p:attrName>
                                        </p:attrNameLst>
                                      </p:cBhvr>
                                      <p:tavLst>
                                        <p:tav tm="0">
                                          <p:val>
                                            <p:strVal val="#ppt_y+0.03"/>
                                          </p:val>
                                        </p:tav>
                                        <p:tav tm="100000">
                                          <p:val>
                                            <p:strVal val="#ppt_y"/>
                                          </p:val>
                                        </p:tav>
                                      </p:tavLst>
                                    </p:anim>
                                    <p:animEffect transition="in" filter="fade">
                                      <p:cBhvr>
                                        <p:cTn id="35" dur="900"/>
                                        <p:tgtEl>
                                          <p:spTgt spid="11"/>
                                        </p:tgtEl>
                                      </p:cBhvr>
                                    </p:animEffect>
                                  </p:childTnLst>
                                </p:cTn>
                              </p:par>
                              <p:par>
                                <p:cTn id="40" presetID="2" presetClass="entr" presetSubtype="4" fill="hold" decel="100000" nodeType="withEffect">
                                  <p:stCondLst>
                                    <p:cond delay="100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38" dur="900" fill="hold"/>
                                        <p:tgtEl>
                                          <p:spTgt spid="12"/>
                                        </p:tgtEl>
                                        <p:attrNameLst>
                                          <p:attrName>ppt_y</p:attrName>
                                        </p:attrNameLst>
                                      </p:cBhvr>
                                      <p:tavLst>
                                        <p:tav tm="0">
                                          <p:val>
                                            <p:strVal val="#ppt_y+0.03"/>
                                          </p:val>
                                        </p:tav>
                                        <p:tav tm="100000">
                                          <p:val>
                                            <p:strVal val="#ppt_y"/>
                                          </p:val>
                                        </p:tav>
                                      </p:tavLst>
                                    </p:anim>
                                    <p:animEffect transition="in" filter="fade">
                                      <p:cBhvr>
                                        <p:cTn id="39" dur="9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Layers 1–2 · Thermal Reserve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Example scenario" descr="Example scenario"/>
          <p:cNvPicPr>
            <a:picLocks noChangeAspect="1"/>
          </p:cNvPicPr>
          <p:nvPr/>
        </p:nvPicPr>
        <p:blipFill>
          <a:blip r:embed="rId3"/>
          <a:stretch>
            <a:fillRect/>
          </a:stretch>
        </p:blipFill>
        <p:spPr>
          <a:xfrm>
            <a:off x="9620250" y="558800"/>
            <a:ext cx="1911350" cy="546100"/>
          </a:xfrm>
          <a:prstGeom prst="rect">
            <a:avLst/>
          </a:prstGeom>
        </p:spPr>
      </p:pic>
      <p:pic>
        <p:nvPicPr>
          <p:cNvPr id="4" name="01 fade · 08Layers 1–2 · Thermal Trace →" descr="08Layers 1–2 · Thermal Trace → Thermal Reserve"/>
          <p:cNvPicPr>
            <a:picLocks noChangeAspect="1"/>
          </p:cNvPicPr>
          <p:nvPr/>
        </p:nvPicPr>
        <p:blipFill>
          <a:blip r:embed="rId4"/>
          <a:stretch>
            <a:fillRect/>
          </a:stretch>
        </p:blipFill>
        <p:spPr>
          <a:xfrm>
            <a:off x="660400" y="609600"/>
            <a:ext cx="10871200" cy="444500"/>
          </a:xfrm>
          <a:prstGeom prst="rect">
            <a:avLst/>
          </a:prstGeom>
        </p:spPr>
      </p:pic>
      <p:pic>
        <p:nvPicPr>
          <p:cNvPr id="5" name="02 up · The label says 7 days. The tra" descr="The label says 7 days. The trace says 4.5."/>
          <p:cNvPicPr>
            <a:picLocks noChangeAspect="1"/>
          </p:cNvPicPr>
          <p:nvPr/>
        </p:nvPicPr>
        <p:blipFill>
          <a:blip r:embed="rId5"/>
          <a:stretch>
            <a:fillRect/>
          </a:stretch>
        </p:blipFill>
        <p:spPr>
          <a:xfrm>
            <a:off x="660400" y="977900"/>
            <a:ext cx="9829800" cy="781050"/>
          </a:xfrm>
          <a:prstGeom prst="rect">
            <a:avLst/>
          </a:prstGeom>
        </p:spPr>
      </p:pic>
      <p:pic>
        <p:nvPicPr>
          <p:cNvPr id="6" name="03 up · Layer 1 · Thermal Trace · carg" descr="Layer 1 · Thermal Trace · cargo temperatureMeasured 8° 6° 4° 2° SAFE MAX 4 °C refrigeration fails 3.8° 7.4° E T = exposure"/>
          <p:cNvPicPr>
            <a:picLocks noChangeAspect="1"/>
          </p:cNvPicPr>
          <p:nvPr/>
        </p:nvPicPr>
        <p:blipFill>
          <a:blip r:embed="rId6"/>
          <a:stretch>
            <a:fillRect/>
          </a:stretch>
        </p:blipFill>
        <p:spPr>
          <a:xfrm>
            <a:off x="660400" y="1701800"/>
            <a:ext cx="5791200" cy="3695700"/>
          </a:xfrm>
          <a:prstGeom prst="rect">
            <a:avLst/>
          </a:prstGeom>
        </p:spPr>
      </p:pic>
      <p:pic>
        <p:nvPicPr>
          <p:cNvPr id="7" name="04 wipe · graphic" descr=""/>
          <p:cNvPicPr>
            <a:picLocks noChangeAspect="1"/>
          </p:cNvPicPr>
          <p:nvPr/>
        </p:nvPicPr>
        <p:blipFill>
          <a:blip r:embed="rId7"/>
          <a:stretch>
            <a:fillRect/>
          </a:stretch>
        </p:blipFill>
        <p:spPr>
          <a:xfrm>
            <a:off x="1181100" y="2819400"/>
            <a:ext cx="4978400" cy="1473200"/>
          </a:xfrm>
          <a:prstGeom prst="rect">
            <a:avLst/>
          </a:prstGeom>
        </p:spPr>
      </p:pic>
      <p:pic>
        <p:nvPicPr>
          <p:cNvPr id="8" name="05 draw · graphic" descr=""/>
          <p:cNvPicPr>
            <a:picLocks noChangeAspect="1"/>
          </p:cNvPicPr>
          <p:nvPr/>
        </p:nvPicPr>
        <p:blipFill>
          <a:blip r:embed="rId8"/>
          <a:stretch>
            <a:fillRect/>
          </a:stretch>
        </p:blipFill>
        <p:spPr>
          <a:xfrm>
            <a:off x="1181100" y="2819400"/>
            <a:ext cx="4978400" cy="1473200"/>
          </a:xfrm>
          <a:prstGeom prst="rect">
            <a:avLst/>
          </a:prstGeom>
        </p:spPr>
      </p:pic>
      <p:pic>
        <p:nvPicPr>
          <p:cNvPr id="9" name="06 fade · refrigeration fails" descr="refrigeration fails"/>
          <p:cNvPicPr>
            <a:picLocks noChangeAspect="1"/>
          </p:cNvPicPr>
          <p:nvPr/>
        </p:nvPicPr>
        <p:blipFill>
          <a:blip r:embed="rId9"/>
          <a:stretch>
            <a:fillRect/>
          </a:stretch>
        </p:blipFill>
        <p:spPr>
          <a:xfrm>
            <a:off x="2120900" y="3981450"/>
            <a:ext cx="1466850" cy="1193800"/>
          </a:xfrm>
          <a:prstGeom prst="rect">
            <a:avLst/>
          </a:prstGeom>
        </p:spPr>
      </p:pic>
      <p:pic>
        <p:nvPicPr>
          <p:cNvPr id="10" name="07 fade · 3.8°" descr="3.8°"/>
          <p:cNvPicPr>
            <a:picLocks noChangeAspect="1"/>
          </p:cNvPicPr>
          <p:nvPr/>
        </p:nvPicPr>
        <p:blipFill>
          <a:blip r:embed="rId10"/>
          <a:stretch>
            <a:fillRect/>
          </a:stretch>
        </p:blipFill>
        <p:spPr>
          <a:xfrm>
            <a:off x="1181100" y="4044950"/>
            <a:ext cx="584200" cy="457200"/>
          </a:xfrm>
          <a:prstGeom prst="rect">
            <a:avLst/>
          </a:prstGeom>
        </p:spPr>
      </p:pic>
      <p:pic>
        <p:nvPicPr>
          <p:cNvPr id="11" name="08 fade · 7.4°" descr="7.4°"/>
          <p:cNvPicPr>
            <a:picLocks noChangeAspect="1"/>
          </p:cNvPicPr>
          <p:nvPr/>
        </p:nvPicPr>
        <p:blipFill>
          <a:blip r:embed="rId11"/>
          <a:stretch>
            <a:fillRect/>
          </a:stretch>
        </p:blipFill>
        <p:spPr>
          <a:xfrm>
            <a:off x="5524500" y="2622550"/>
            <a:ext cx="584200" cy="457200"/>
          </a:xfrm>
          <a:prstGeom prst="rect">
            <a:avLst/>
          </a:prstGeom>
        </p:spPr>
      </p:pic>
      <p:pic>
        <p:nvPicPr>
          <p:cNvPr id="12" name="09 fade · E T = exposure" descr="E T = exposure"/>
          <p:cNvPicPr>
            <a:picLocks noChangeAspect="1"/>
          </p:cNvPicPr>
          <p:nvPr/>
        </p:nvPicPr>
        <p:blipFill>
          <a:blip r:embed="rId12"/>
          <a:stretch>
            <a:fillRect/>
          </a:stretch>
        </p:blipFill>
        <p:spPr>
          <a:xfrm>
            <a:off x="4483100" y="3581400"/>
            <a:ext cx="1289050" cy="495300"/>
          </a:xfrm>
          <a:prstGeom prst="rect">
            <a:avLst/>
          </a:prstGeom>
        </p:spPr>
      </p:pic>
      <p:pic>
        <p:nvPicPr>
          <p:cNvPr id="13" name="10 right · Thermal exposure · °C·min ET =" descr="Thermal exposure · °C·min ET = Σ max(0, Ti − Tsafe) · Δt"/>
          <p:cNvPicPr>
            <a:picLocks noChangeAspect="1"/>
          </p:cNvPicPr>
          <p:nvPr/>
        </p:nvPicPr>
        <p:blipFill>
          <a:blip r:embed="rId13"/>
          <a:stretch>
            <a:fillRect/>
          </a:stretch>
        </p:blipFill>
        <p:spPr>
          <a:xfrm>
            <a:off x="6654800" y="1701800"/>
            <a:ext cx="4876800" cy="1066800"/>
          </a:xfrm>
          <a:prstGeom prst="rect">
            <a:avLst/>
          </a:prstGeom>
        </p:spPr>
      </p:pic>
      <p:pic>
        <p:nvPicPr>
          <p:cNvPr id="14" name="11 right · Deterioration rate · Arrhenius" descr="Deterioration rate · Arrhenius k(T) = kref · e(Ea/R)(1/Tideal − 1/T)"/>
          <p:cNvPicPr>
            <a:picLocks noChangeAspect="1"/>
          </p:cNvPicPr>
          <p:nvPr/>
        </p:nvPicPr>
        <p:blipFill>
          <a:blip r:embed="rId14"/>
          <a:stretch>
            <a:fillRect/>
          </a:stretch>
        </p:blipFill>
        <p:spPr>
          <a:xfrm>
            <a:off x="6654800" y="2559050"/>
            <a:ext cx="4876800" cy="1060450"/>
          </a:xfrm>
          <a:prstGeom prst="rect">
            <a:avLst/>
          </a:prstGeom>
        </p:spPr>
      </p:pic>
      <p:pic>
        <p:nvPicPr>
          <p:cNvPr id="15" name="12 right · Layer 2 · Thermal Reserve · sa" descr="Layer 2 · Thermal Reserve · safe life left D = Σ k(Ti)·Δti → reserve = L·(1 − D)"/>
          <p:cNvPicPr>
            <a:picLocks noChangeAspect="1"/>
          </p:cNvPicPr>
          <p:nvPr/>
        </p:nvPicPr>
        <p:blipFill>
          <a:blip r:embed="rId15"/>
          <a:stretch>
            <a:fillRect/>
          </a:stretch>
        </p:blipFill>
        <p:spPr>
          <a:xfrm>
            <a:off x="6654800" y="3409950"/>
            <a:ext cx="4876800" cy="1060450"/>
          </a:xfrm>
          <a:prstGeom prst="rect">
            <a:avLst/>
          </a:prstGeom>
        </p:spPr>
      </p:pic>
      <p:pic>
        <p:nvPicPr>
          <p:cNvPr id="16" name="13 up · Label date 7.0 d Thermal reser" descr="Label date 7.0 d Thermal reserve 4.5 d CalculatedDeterministic Python. No AI model touches these numbers."/>
          <p:cNvPicPr>
            <a:picLocks noChangeAspect="1"/>
          </p:cNvPicPr>
          <p:nvPr/>
        </p:nvPicPr>
        <p:blipFill>
          <a:blip r:embed="rId16"/>
          <a:stretch>
            <a:fillRect/>
          </a:stretch>
        </p:blipFill>
        <p:spPr>
          <a:xfrm>
            <a:off x="6654800" y="4349750"/>
            <a:ext cx="4876800" cy="1397000"/>
          </a:xfrm>
          <a:prstGeom prst="rect">
            <a:avLst/>
          </a:prstGeom>
        </p:spPr>
      </p:pic>
      <p:pic>
        <p:nvPicPr>
          <p:cNvPr id="17" name="14 grow · graphic" descr=""/>
          <p:cNvPicPr>
            <a:picLocks noChangeAspect="1"/>
          </p:cNvPicPr>
          <p:nvPr/>
        </p:nvPicPr>
        <p:blipFill>
          <a:blip r:embed="rId17"/>
          <a:stretch>
            <a:fillRect/>
          </a:stretch>
        </p:blipFill>
        <p:spPr>
          <a:xfrm>
            <a:off x="8255000" y="4349750"/>
            <a:ext cx="2184400" cy="501650"/>
          </a:xfrm>
          <a:prstGeom prst="rect">
            <a:avLst/>
          </a:prstGeom>
        </p:spPr>
      </p:pic>
      <p:pic>
        <p:nvPicPr>
          <p:cNvPr id="18" name="15 grow · graphic" descr=""/>
          <p:cNvPicPr>
            <a:picLocks noChangeAspect="1"/>
          </p:cNvPicPr>
          <p:nvPr/>
        </p:nvPicPr>
        <p:blipFill>
          <a:blip r:embed="rId18"/>
          <a:stretch>
            <a:fillRect/>
          </a:stretch>
        </p:blipFill>
        <p:spPr>
          <a:xfrm>
            <a:off x="8255000" y="4667250"/>
            <a:ext cx="1511300" cy="5016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20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7" presetID="10" presetClass="entr" presetSubtype="0" fill="hold" decel="10000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6" dur="900"/>
                                        <p:tgtEl>
                                          <p:spTgt spid="4"/>
                                        </p:tgtEl>
                                      </p:cBhvr>
                                    </p:animEffect>
                                  </p:childTnLst>
                                </p:cTn>
                              </p:par>
                              <p:par>
                                <p:cTn id="11" presetID="2" presetClass="entr" presetSubtype="4" fill="hold" decel="100000" nodeType="withEffect">
                                  <p:stCondLst>
                                    <p:cond delay="12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9" dur="900" fill="hold"/>
                                        <p:tgtEl>
                                          <p:spTgt spid="5"/>
                                        </p:tgtEl>
                                        <p:attrNameLst>
                                          <p:attrName>ppt_y</p:attrName>
                                        </p:attrNameLst>
                                      </p:cBhvr>
                                      <p:tavLst>
                                        <p:tav tm="0">
                                          <p:val>
                                            <p:strVal val="#ppt_y+0.03"/>
                                          </p:val>
                                        </p:tav>
                                        <p:tav tm="100000">
                                          <p:val>
                                            <p:strVal val="#ppt_y"/>
                                          </p:val>
                                        </p:tav>
                                      </p:tavLst>
                                    </p:anim>
                                    <p:animEffect transition="in" filter="fade">
                                      <p:cBhvr>
                                        <p:cTn id="10" dur="900"/>
                                        <p:tgtEl>
                                          <p:spTgt spid="5"/>
                                        </p:tgtEl>
                                      </p:cBhvr>
                                    </p:animEffect>
                                  </p:childTnLst>
                                </p:cTn>
                              </p:par>
                              <p:par>
                                <p:cTn id="15" presetID="2" presetClass="entr" presetSubtype="4" fill="hold" decel="100000" nodeType="withEffect">
                                  <p:stCondLst>
                                    <p:cond delay="3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3" dur="900" fill="hold"/>
                                        <p:tgtEl>
                                          <p:spTgt spid="6"/>
                                        </p:tgtEl>
                                        <p:attrNameLst>
                                          <p:attrName>ppt_y</p:attrName>
                                        </p:attrNameLst>
                                      </p:cBhvr>
                                      <p:tavLst>
                                        <p:tav tm="0">
                                          <p:val>
                                            <p:strVal val="#ppt_y+0.03"/>
                                          </p:val>
                                        </p:tav>
                                        <p:tav tm="100000">
                                          <p:val>
                                            <p:strVal val="#ppt_y"/>
                                          </p:val>
                                        </p:tav>
                                      </p:tavLst>
                                    </p:anim>
                                    <p:animEffect transition="in" filter="fade">
                                      <p:cBhvr>
                                        <p:cTn id="14" dur="900"/>
                                        <p:tgtEl>
                                          <p:spTgt spid="6"/>
                                        </p:tgtEl>
                                      </p:cBhvr>
                                    </p:animEffect>
                                  </p:childTnLst>
                                </p:cTn>
                              </p:par>
                              <p:par>
                                <p:cTn id="18" presetID="22" presetClass="entr" presetSubtype="8" fill="hold" decel="100000" nodeType="withEffect">
                                  <p:stCondLst>
                                    <p:cond delay="190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17" dur="1800"/>
                                        <p:tgtEl>
                                          <p:spTgt spid="7"/>
                                        </p:tgtEl>
                                      </p:cBhvr>
                                    </p:animEffect>
                                  </p:childTnLst>
                                </p:cTn>
                              </p:par>
                              <p:par>
                                <p:cTn id="21" presetID="22" presetClass="entr" presetSubtype="8" fill="hold" decel="100000" nodeType="withEffect">
                                  <p:stCondLst>
                                    <p:cond delay="50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0" dur="2000"/>
                                        <p:tgtEl>
                                          <p:spTgt spid="8"/>
                                        </p:tgtEl>
                                      </p:cBhvr>
                                    </p:animEffect>
                                  </p:childTnLst>
                                </p:cTn>
                              </p:par>
                              <p:par>
                                <p:cTn id="24" presetID="10" presetClass="entr" presetSubtype="0" fill="hold" decel="100000" nodeType="withEffect">
                                  <p:stCondLst>
                                    <p:cond delay="1100"/>
                                  </p:stCondLst>
                                  <p:childTnLst>
                                    <p:set>
                                      <p:cBhvr>
                                        <p:cTn id="25" dur="1" fill="hold">
                                          <p:stCondLst>
                                            <p:cond delay="0"/>
                                          </p:stCondLst>
                                        </p:cTn>
                                        <p:tgtEl>
                                          <p:spTgt spid="9"/>
                                        </p:tgtEl>
                                        <p:attrNameLst>
                                          <p:attrName>style.visibility</p:attrName>
                                        </p:attrNameLst>
                                      </p:cBhvr>
                                      <p:to>
                                        <p:strVal val="visible"/>
                                      </p:to>
                                    </p:set>
                                    <p:animEffect transition="in" filter="fade">
                                      <p:cBhvr>
                                        <p:cTn id="23" dur="900"/>
                                        <p:tgtEl>
                                          <p:spTgt spid="9"/>
                                        </p:tgtEl>
                                      </p:cBhvr>
                                    </p:animEffect>
                                  </p:childTnLst>
                                </p:cTn>
                              </p:par>
                              <p:par>
                                <p:cTn id="27" presetID="10" presetClass="entr" presetSubtype="0" fill="hold" decel="100000" nodeType="withEffect">
                                  <p:stCondLst>
                                    <p:cond delay="6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6" dur="900"/>
                                        <p:tgtEl>
                                          <p:spTgt spid="10"/>
                                        </p:tgtEl>
                                      </p:cBhvr>
                                    </p:animEffect>
                                  </p:childTnLst>
                                </p:cTn>
                              </p:par>
                              <p:par>
                                <p:cTn id="30" presetID="10" presetClass="entr" presetSubtype="0" fill="hold" decel="100000" nodeType="withEffect">
                                  <p:stCondLst>
                                    <p:cond delay="2300"/>
                                  </p:stCondLst>
                                  <p:childTnLst>
                                    <p:set>
                                      <p:cBhvr>
                                        <p:cTn id="31" dur="1" fill="hold">
                                          <p:stCondLst>
                                            <p:cond delay="0"/>
                                          </p:stCondLst>
                                        </p:cTn>
                                        <p:tgtEl>
                                          <p:spTgt spid="11"/>
                                        </p:tgtEl>
                                        <p:attrNameLst>
                                          <p:attrName>style.visibility</p:attrName>
                                        </p:attrNameLst>
                                      </p:cBhvr>
                                      <p:to>
                                        <p:strVal val="visible"/>
                                      </p:to>
                                    </p:set>
                                    <p:animEffect transition="in" filter="fade">
                                      <p:cBhvr>
                                        <p:cTn id="29" dur="900"/>
                                        <p:tgtEl>
                                          <p:spTgt spid="11"/>
                                        </p:tgtEl>
                                      </p:cBhvr>
                                    </p:animEffect>
                                  </p:childTnLst>
                                </p:cTn>
                              </p:par>
                              <p:par>
                                <p:cTn id="33" presetID="10" presetClass="entr" presetSubtype="0" fill="hold" decel="100000" nodeType="withEffect">
                                  <p:stCondLst>
                                    <p:cond delay="2600"/>
                                  </p:stCondLst>
                                  <p:childTnLst>
                                    <p:set>
                                      <p:cBhvr>
                                        <p:cTn id="34" dur="1" fill="hold">
                                          <p:stCondLst>
                                            <p:cond delay="0"/>
                                          </p:stCondLst>
                                        </p:cTn>
                                        <p:tgtEl>
                                          <p:spTgt spid="12"/>
                                        </p:tgtEl>
                                        <p:attrNameLst>
                                          <p:attrName>style.visibility</p:attrName>
                                        </p:attrNameLst>
                                      </p:cBhvr>
                                      <p:to>
                                        <p:strVal val="visible"/>
                                      </p:to>
                                    </p:set>
                                    <p:animEffect transition="in" filter="fade">
                                      <p:cBhvr>
                                        <p:cTn id="32" dur="900"/>
                                        <p:tgtEl>
                                          <p:spTgt spid="12"/>
                                        </p:tgtEl>
                                      </p:cBhvr>
                                    </p:animEffect>
                                  </p:childTnLst>
                                </p:cTn>
                              </p:par>
                              <p:par>
                                <p:cTn id="37" presetID="2" presetClass="entr" presetSubtype="2" fill="hold" decel="100000" nodeType="withEffect">
                                  <p:stCondLst>
                                    <p:cond delay="50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5" dur="900" fill="hold"/>
                                        <p:tgtEl>
                                          <p:spTgt spid="13"/>
                                        </p:tgtEl>
                                        <p:attrNameLst>
                                          <p:attrName>ppt_x</p:attrName>
                                        </p:attrNameLst>
                                      </p:cBhvr>
                                      <p:tavLst>
                                        <p:tav tm="0">
                                          <p:val>
                                            <p:strVal val="#ppt_x+0.025"/>
                                          </p:val>
                                        </p:tav>
                                        <p:tav tm="100000">
                                          <p:val>
                                            <p:strVal val="#ppt_x"/>
                                          </p:val>
                                        </p:tav>
                                      </p:tavLst>
                                    </p:anim>
                                    <p:animEffect transition="in" filter="fade">
                                      <p:cBhvr>
                                        <p:cTn id="36" dur="900"/>
                                        <p:tgtEl>
                                          <p:spTgt spid="13"/>
                                        </p:tgtEl>
                                      </p:cBhvr>
                                    </p:animEffect>
                                  </p:childTnLst>
                                </p:cTn>
                              </p:par>
                              <p:par>
                                <p:cTn id="41" presetID="2" presetClass="entr" presetSubtype="2" fill="hold" decel="100000" nodeType="withEffect">
                                  <p:stCondLst>
                                    <p:cond delay="65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39" dur="900" fill="hold"/>
                                        <p:tgtEl>
                                          <p:spTgt spid="14"/>
                                        </p:tgtEl>
                                        <p:attrNameLst>
                                          <p:attrName>ppt_x</p:attrName>
                                        </p:attrNameLst>
                                      </p:cBhvr>
                                      <p:tavLst>
                                        <p:tav tm="0">
                                          <p:val>
                                            <p:strVal val="#ppt_x+0.025"/>
                                          </p:val>
                                        </p:tav>
                                        <p:tav tm="100000">
                                          <p:val>
                                            <p:strVal val="#ppt_x"/>
                                          </p:val>
                                        </p:tav>
                                      </p:tavLst>
                                    </p:anim>
                                    <p:animEffect transition="in" filter="fade">
                                      <p:cBhvr>
                                        <p:cTn id="40" dur="900"/>
                                        <p:tgtEl>
                                          <p:spTgt spid="14"/>
                                        </p:tgtEl>
                                      </p:cBhvr>
                                    </p:animEffect>
                                  </p:childTnLst>
                                </p:cTn>
                              </p:par>
                              <p:par>
                                <p:cTn id="45" presetID="2" presetClass="entr" presetSubtype="2" fill="hold" decel="100000" nodeType="withEffect">
                                  <p:stCondLst>
                                    <p:cond delay="80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3" dur="900" fill="hold"/>
                                        <p:tgtEl>
                                          <p:spTgt spid="15"/>
                                        </p:tgtEl>
                                        <p:attrNameLst>
                                          <p:attrName>ppt_x</p:attrName>
                                        </p:attrNameLst>
                                      </p:cBhvr>
                                      <p:tavLst>
                                        <p:tav tm="0">
                                          <p:val>
                                            <p:strVal val="#ppt_x+0.025"/>
                                          </p:val>
                                        </p:tav>
                                        <p:tav tm="100000">
                                          <p:val>
                                            <p:strVal val="#ppt_x"/>
                                          </p:val>
                                        </p:tav>
                                      </p:tavLst>
                                    </p:anim>
                                    <p:animEffect transition="in" filter="fade">
                                      <p:cBhvr>
                                        <p:cTn id="44" dur="900"/>
                                        <p:tgtEl>
                                          <p:spTgt spid="15"/>
                                        </p:tgtEl>
                                      </p:cBhvr>
                                    </p:animEffect>
                                  </p:childTnLst>
                                </p:cTn>
                              </p:par>
                              <p:par>
                                <p:cTn id="49" presetID="2" presetClass="entr" presetSubtype="4" fill="hold" decel="100000" nodeType="withEffect">
                                  <p:stCondLst>
                                    <p:cond delay="100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47" dur="900" fill="hold"/>
                                        <p:tgtEl>
                                          <p:spTgt spid="16"/>
                                        </p:tgtEl>
                                        <p:attrNameLst>
                                          <p:attrName>ppt_y</p:attrName>
                                        </p:attrNameLst>
                                      </p:cBhvr>
                                      <p:tavLst>
                                        <p:tav tm="0">
                                          <p:val>
                                            <p:strVal val="#ppt_y+0.03"/>
                                          </p:val>
                                        </p:tav>
                                        <p:tav tm="100000">
                                          <p:val>
                                            <p:strVal val="#ppt_y"/>
                                          </p:val>
                                        </p:tav>
                                      </p:tavLst>
                                    </p:anim>
                                    <p:animEffect transition="in" filter="fade">
                                      <p:cBhvr>
                                        <p:cTn id="48" dur="900"/>
                                        <p:tgtEl>
                                          <p:spTgt spid="16"/>
                                        </p:tgtEl>
                                      </p:cBhvr>
                                    </p:animEffect>
                                  </p:childTnLst>
                                </p:cTn>
                              </p:par>
                              <p:par>
                                <p:cTn id="52" presetID="22" presetClass="entr" presetSubtype="8" fill="hold" decel="100000" nodeType="withEffect">
                                  <p:stCondLst>
                                    <p:cond delay="1200"/>
                                  </p:stCondLst>
                                  <p:childTnLst>
                                    <p:set>
                                      <p:cBhvr>
                                        <p:cTn id="53" dur="1" fill="hold">
                                          <p:stCondLst>
                                            <p:cond delay="0"/>
                                          </p:stCondLst>
                                        </p:cTn>
                                        <p:tgtEl>
                                          <p:spTgt spid="17"/>
                                        </p:tgtEl>
                                        <p:attrNameLst>
                                          <p:attrName>style.visibility</p:attrName>
                                        </p:attrNameLst>
                                      </p:cBhvr>
                                      <p:to>
                                        <p:strVal val="visible"/>
                                      </p:to>
                                    </p:set>
                                    <p:animEffect transition="in" filter="wipe(left)">
                                      <p:cBhvr>
                                        <p:cTn id="51" dur="1400"/>
                                        <p:tgtEl>
                                          <p:spTgt spid="17"/>
                                        </p:tgtEl>
                                      </p:cBhvr>
                                    </p:animEffect>
                                  </p:childTnLst>
                                </p:cTn>
                              </p:par>
                              <p:par>
                                <p:cTn id="55" presetID="22" presetClass="entr" presetSubtype="8" fill="hold" decel="100000" nodeType="withEffect">
                                  <p:stCondLst>
                                    <p:cond delay="140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4" dur="1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Layer 3 · Two clocks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09Layer 3 · Two clocks" descr="09Layer 3 · Two clocks"/>
          <p:cNvPicPr>
            <a:picLocks noChangeAspect="1"/>
          </p:cNvPicPr>
          <p:nvPr/>
        </p:nvPicPr>
        <p:blipFill>
          <a:blip r:embed="rId3"/>
          <a:stretch>
            <a:fillRect/>
          </a:stretch>
        </p:blipFill>
        <p:spPr>
          <a:xfrm>
            <a:off x="660400" y="609600"/>
            <a:ext cx="10871200" cy="444500"/>
          </a:xfrm>
          <a:prstGeom prst="rect">
            <a:avLst/>
          </a:prstGeom>
        </p:spPr>
      </p:pic>
      <p:pic>
        <p:nvPicPr>
          <p:cNvPr id="4" name="01 up · Safe is not the same as sellab" descr="Safe is not the same as sellable."/>
          <p:cNvPicPr>
            <a:picLocks noChangeAspect="1"/>
          </p:cNvPicPr>
          <p:nvPr/>
        </p:nvPicPr>
        <p:blipFill>
          <a:blip r:embed="rId4"/>
          <a:stretch>
            <a:fillRect/>
          </a:stretch>
        </p:blipFill>
        <p:spPr>
          <a:xfrm>
            <a:off x="660400" y="977900"/>
            <a:ext cx="9829800" cy="838200"/>
          </a:xfrm>
          <a:prstGeom prst="rect">
            <a:avLst/>
          </a:prstGeom>
        </p:spPr>
      </p:pic>
      <p:pic>
        <p:nvPicPr>
          <p:cNvPr id="5" name="02 up · Thermal ReserveThe physical cl" descr="Thermal ReserveThe physical clock"/>
          <p:cNvPicPr>
            <a:picLocks noChangeAspect="1"/>
          </p:cNvPicPr>
          <p:nvPr/>
        </p:nvPicPr>
        <p:blipFill>
          <a:blip r:embed="rId5"/>
          <a:stretch>
            <a:fillRect/>
          </a:stretch>
        </p:blipFill>
        <p:spPr>
          <a:xfrm>
            <a:off x="666750" y="1739900"/>
            <a:ext cx="5581650" cy="971550"/>
          </a:xfrm>
          <a:prstGeom prst="rect">
            <a:avLst/>
          </a:prstGeom>
        </p:spPr>
      </p:pic>
      <p:pic>
        <p:nvPicPr>
          <p:cNvPr id="6" name="03 up · Commercial ReserveThe commerci" descr="Commercial ReserveThe commercial clock"/>
          <p:cNvPicPr>
            <a:picLocks noChangeAspect="1"/>
          </p:cNvPicPr>
          <p:nvPr/>
        </p:nvPicPr>
        <p:blipFill>
          <a:blip r:embed="rId6"/>
          <a:stretch>
            <a:fillRect/>
          </a:stretch>
        </p:blipFill>
        <p:spPr>
          <a:xfrm>
            <a:off x="5943600" y="1739900"/>
            <a:ext cx="5581650" cy="971550"/>
          </a:xfrm>
          <a:prstGeom prst="rect">
            <a:avLst/>
          </a:prstGeom>
        </p:spPr>
      </p:pic>
      <p:pic>
        <p:nvPicPr>
          <p:cNvPr id="7" name="04 up · FocusProduct health: “Can it s" descr="FocusProduct health: “Can it still be consumed?”"/>
          <p:cNvPicPr>
            <a:picLocks noChangeAspect="1"/>
          </p:cNvPicPr>
          <p:nvPr/>
        </p:nvPicPr>
        <p:blipFill>
          <a:blip r:embed="rId7"/>
          <a:stretch>
            <a:fillRect/>
          </a:stretch>
        </p:blipFill>
        <p:spPr>
          <a:xfrm>
            <a:off x="666750" y="2400300"/>
            <a:ext cx="5581650" cy="838200"/>
          </a:xfrm>
          <a:prstGeom prst="rect">
            <a:avLst/>
          </a:prstGeom>
        </p:spPr>
      </p:pic>
      <p:pic>
        <p:nvPicPr>
          <p:cNvPr id="8" name="05 up · FocusEconomic life: “Can it st" descr="FocusEconomic life: “Can it still earn its value?”"/>
          <p:cNvPicPr>
            <a:picLocks noChangeAspect="1"/>
          </p:cNvPicPr>
          <p:nvPr/>
        </p:nvPicPr>
        <p:blipFill>
          <a:blip r:embed="rId8"/>
          <a:stretch>
            <a:fillRect/>
          </a:stretch>
        </p:blipFill>
        <p:spPr>
          <a:xfrm>
            <a:off x="5943600" y="2400300"/>
            <a:ext cx="5581650" cy="838200"/>
          </a:xfrm>
          <a:prstGeom prst="rect">
            <a:avLst/>
          </a:prstGeom>
        </p:spPr>
      </p:pic>
      <p:pic>
        <p:nvPicPr>
          <p:cNvPr id="9" name="06 up · ClockProduction → Transport → " descr="ClockProduction → Transport → Deterioration → Shelf-life boundary"/>
          <p:cNvPicPr>
            <a:picLocks noChangeAspect="1"/>
          </p:cNvPicPr>
          <p:nvPr/>
        </p:nvPicPr>
        <p:blipFill>
          <a:blip r:embed="rId9"/>
          <a:stretch>
            <a:fillRect/>
          </a:stretch>
        </p:blipFill>
        <p:spPr>
          <a:xfrm>
            <a:off x="666750" y="2927350"/>
            <a:ext cx="5581650" cy="838200"/>
          </a:xfrm>
          <a:prstGeom prst="rect">
            <a:avLst/>
          </a:prstGeom>
        </p:spPr>
      </p:pic>
      <p:pic>
        <p:nvPicPr>
          <p:cNvPr id="10" name="07 up · ClockArrival → Customer exposu" descr="ClockArrival → Customer exposure → Sell-through → Replenishment"/>
          <p:cNvPicPr>
            <a:picLocks noChangeAspect="1"/>
          </p:cNvPicPr>
          <p:nvPr/>
        </p:nvPicPr>
        <p:blipFill>
          <a:blip r:embed="rId10"/>
          <a:stretch>
            <a:fillRect/>
          </a:stretch>
        </p:blipFill>
        <p:spPr>
          <a:xfrm>
            <a:off x="5943600" y="2927350"/>
            <a:ext cx="5581650" cy="838200"/>
          </a:xfrm>
          <a:prstGeom prst="rect">
            <a:avLst/>
          </a:prstGeom>
        </p:spPr>
      </p:pic>
      <p:pic>
        <p:nvPicPr>
          <p:cNvPr id="11" name="08 up · GoalProtect physical life. Cal" descr="GoalProtect physical life. Calculated"/>
          <p:cNvPicPr>
            <a:picLocks noChangeAspect="1"/>
          </p:cNvPicPr>
          <p:nvPr/>
        </p:nvPicPr>
        <p:blipFill>
          <a:blip r:embed="rId11"/>
          <a:stretch>
            <a:fillRect/>
          </a:stretch>
        </p:blipFill>
        <p:spPr>
          <a:xfrm>
            <a:off x="666750" y="3454400"/>
            <a:ext cx="5581650" cy="844550"/>
          </a:xfrm>
          <a:prstGeom prst="rect">
            <a:avLst/>
          </a:prstGeom>
        </p:spPr>
      </p:pic>
      <p:pic>
        <p:nvPicPr>
          <p:cNvPr id="12" name="09 up · GoalProtect economic life. Pre" descr="GoalProtect economic life. Predicted"/>
          <p:cNvPicPr>
            <a:picLocks noChangeAspect="1"/>
          </p:cNvPicPr>
          <p:nvPr/>
        </p:nvPicPr>
        <p:blipFill>
          <a:blip r:embed="rId12"/>
          <a:stretch>
            <a:fillRect/>
          </a:stretch>
        </p:blipFill>
        <p:spPr>
          <a:xfrm>
            <a:off x="5943600" y="3454400"/>
            <a:ext cx="5581650" cy="844550"/>
          </a:xfrm>
          <a:prstGeom prst="rect">
            <a:avLst/>
          </a:prstGeom>
        </p:spPr>
      </p:pic>
      <p:pic>
        <p:nvPicPr>
          <p:cNvPr id="13" name="10 up · Health creates the possibility" descr="Health creates the possibility of selling. Demand creates the possibility of realising value. Commercial Reserve lives where the two meet. CR = Qr × Pr × Vr Qr quantity realistically realisable Pr pro"/>
          <p:cNvPicPr>
            <a:picLocks noChangeAspect="1"/>
          </p:cNvPicPr>
          <p:nvPr/>
        </p:nvPicPr>
        <p:blipFill>
          <a:blip r:embed="rId13"/>
          <a:stretch>
            <a:fillRect/>
          </a:stretch>
        </p:blipFill>
        <p:spPr>
          <a:xfrm>
            <a:off x="660400" y="4121150"/>
            <a:ext cx="10871200" cy="15303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8" presetID="2" presetClass="entr" presetSubtype="4" fill="hold" decel="100000"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6" dur="900" fill="hold"/>
                                        <p:tgtEl>
                                          <p:spTgt spid="4"/>
                                        </p:tgtEl>
                                        <p:attrNameLst>
                                          <p:attrName>ppt_y</p:attrName>
                                        </p:attrNameLst>
                                      </p:cBhvr>
                                      <p:tavLst>
                                        <p:tav tm="0">
                                          <p:val>
                                            <p:strVal val="#ppt_y+0.03"/>
                                          </p:val>
                                        </p:tav>
                                        <p:tav tm="100000">
                                          <p:val>
                                            <p:strVal val="#ppt_y"/>
                                          </p:val>
                                        </p:tav>
                                      </p:tavLst>
                                    </p:anim>
                                    <p:animEffect transition="in" filter="fade">
                                      <p:cBhvr>
                                        <p:cTn id="7" dur="900"/>
                                        <p:tgtEl>
                                          <p:spTgt spid="4"/>
                                        </p:tgtEl>
                                      </p:cBhvr>
                                    </p:animEffect>
                                  </p:childTnLst>
                                </p:cTn>
                              </p:par>
                              <p:par>
                                <p:cTn id="12" presetID="2" presetClass="entr" presetSubtype="4" fill="hold" decel="100000"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0" dur="900" fill="hold"/>
                                        <p:tgtEl>
                                          <p:spTgt spid="5"/>
                                        </p:tgtEl>
                                        <p:attrNameLst>
                                          <p:attrName>ppt_y</p:attrName>
                                        </p:attrNameLst>
                                      </p:cBhvr>
                                      <p:tavLst>
                                        <p:tav tm="0">
                                          <p:val>
                                            <p:strVal val="#ppt_y+0.03"/>
                                          </p:val>
                                        </p:tav>
                                        <p:tav tm="100000">
                                          <p:val>
                                            <p:strVal val="#ppt_y"/>
                                          </p:val>
                                        </p:tav>
                                      </p:tavLst>
                                    </p:anim>
                                    <p:animEffect transition="in" filter="fade">
                                      <p:cBhvr>
                                        <p:cTn id="11" dur="900"/>
                                        <p:tgtEl>
                                          <p:spTgt spid="5"/>
                                        </p:tgtEl>
                                      </p:cBhvr>
                                    </p:animEffect>
                                  </p:childTnLst>
                                </p:cTn>
                              </p:par>
                              <p:par>
                                <p:cTn id="16" presetID="2" presetClass="entr" presetSubtype="4" fill="hold" decel="100000" nodeType="withEffect">
                                  <p:stCondLst>
                                    <p:cond delay="38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4" dur="900" fill="hold"/>
                                        <p:tgtEl>
                                          <p:spTgt spid="6"/>
                                        </p:tgtEl>
                                        <p:attrNameLst>
                                          <p:attrName>ppt_y</p:attrName>
                                        </p:attrNameLst>
                                      </p:cBhvr>
                                      <p:tavLst>
                                        <p:tav tm="0">
                                          <p:val>
                                            <p:strVal val="#ppt_y+0.03"/>
                                          </p:val>
                                        </p:tav>
                                        <p:tav tm="100000">
                                          <p:val>
                                            <p:strVal val="#ppt_y"/>
                                          </p:val>
                                        </p:tav>
                                      </p:tavLst>
                                    </p:anim>
                                    <p:animEffect transition="in" filter="fade">
                                      <p:cBhvr>
                                        <p:cTn id="15" dur="900"/>
                                        <p:tgtEl>
                                          <p:spTgt spid="6"/>
                                        </p:tgtEl>
                                      </p:cBhvr>
                                    </p:animEffect>
                                  </p:childTnLst>
                                </p:cTn>
                              </p:par>
                              <p:par>
                                <p:cTn id="20" presetID="2" presetClass="entr" presetSubtype="4" fill="hold" decel="100000" nodeType="withEffect">
                                  <p:stCondLst>
                                    <p:cond delay="50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18" dur="900" fill="hold"/>
                                        <p:tgtEl>
                                          <p:spTgt spid="7"/>
                                        </p:tgtEl>
                                        <p:attrNameLst>
                                          <p:attrName>ppt_y</p:attrName>
                                        </p:attrNameLst>
                                      </p:cBhvr>
                                      <p:tavLst>
                                        <p:tav tm="0">
                                          <p:val>
                                            <p:strVal val="#ppt_y+0.03"/>
                                          </p:val>
                                        </p:tav>
                                        <p:tav tm="100000">
                                          <p:val>
                                            <p:strVal val="#ppt_y"/>
                                          </p:val>
                                        </p:tav>
                                      </p:tavLst>
                                    </p:anim>
                                    <p:animEffect transition="in" filter="fade">
                                      <p:cBhvr>
                                        <p:cTn id="19" dur="900"/>
                                        <p:tgtEl>
                                          <p:spTgt spid="7"/>
                                        </p:tgtEl>
                                      </p:cBhvr>
                                    </p:animEffect>
                                  </p:childTnLst>
                                </p:cTn>
                              </p:par>
                              <p:par>
                                <p:cTn id="24" presetID="2" presetClass="entr" presetSubtype="4" fill="hold" decel="100000" nodeType="withEffect">
                                  <p:stCondLst>
                                    <p:cond delay="56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2" dur="900" fill="hold"/>
                                        <p:tgtEl>
                                          <p:spTgt spid="8"/>
                                        </p:tgtEl>
                                        <p:attrNameLst>
                                          <p:attrName>ppt_y</p:attrName>
                                        </p:attrNameLst>
                                      </p:cBhvr>
                                      <p:tavLst>
                                        <p:tav tm="0">
                                          <p:val>
                                            <p:strVal val="#ppt_y+0.03"/>
                                          </p:val>
                                        </p:tav>
                                        <p:tav tm="100000">
                                          <p:val>
                                            <p:strVal val="#ppt_y"/>
                                          </p:val>
                                        </p:tav>
                                      </p:tavLst>
                                    </p:anim>
                                    <p:animEffect transition="in" filter="fade">
                                      <p:cBhvr>
                                        <p:cTn id="23" dur="900"/>
                                        <p:tgtEl>
                                          <p:spTgt spid="8"/>
                                        </p:tgtEl>
                                      </p:cBhvr>
                                    </p:animEffect>
                                  </p:childTnLst>
                                </p:cTn>
                              </p:par>
                              <p:par>
                                <p:cTn id="28" presetID="2" presetClass="entr" presetSubtype="4" fill="hold" decel="100000" nodeType="withEffect">
                                  <p:stCondLst>
                                    <p:cond delay="64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26" dur="900" fill="hold"/>
                                        <p:tgtEl>
                                          <p:spTgt spid="9"/>
                                        </p:tgtEl>
                                        <p:attrNameLst>
                                          <p:attrName>ppt_y</p:attrName>
                                        </p:attrNameLst>
                                      </p:cBhvr>
                                      <p:tavLst>
                                        <p:tav tm="0">
                                          <p:val>
                                            <p:strVal val="#ppt_y+0.03"/>
                                          </p:val>
                                        </p:tav>
                                        <p:tav tm="100000">
                                          <p:val>
                                            <p:strVal val="#ppt_y"/>
                                          </p:val>
                                        </p:tav>
                                      </p:tavLst>
                                    </p:anim>
                                    <p:animEffect transition="in" filter="fade">
                                      <p:cBhvr>
                                        <p:cTn id="27" dur="900"/>
                                        <p:tgtEl>
                                          <p:spTgt spid="9"/>
                                        </p:tgtEl>
                                      </p:cBhvr>
                                    </p:animEffect>
                                  </p:childTnLst>
                                </p:cTn>
                              </p:par>
                              <p:par>
                                <p:cTn id="32" presetID="2" presetClass="entr" presetSubtype="4" fill="hold" decel="100000" nodeType="withEffect">
                                  <p:stCondLst>
                                    <p:cond delay="70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0" dur="900" fill="hold"/>
                                        <p:tgtEl>
                                          <p:spTgt spid="10"/>
                                        </p:tgtEl>
                                        <p:attrNameLst>
                                          <p:attrName>ppt_y</p:attrName>
                                        </p:attrNameLst>
                                      </p:cBhvr>
                                      <p:tavLst>
                                        <p:tav tm="0">
                                          <p:val>
                                            <p:strVal val="#ppt_y+0.03"/>
                                          </p:val>
                                        </p:tav>
                                        <p:tav tm="100000">
                                          <p:val>
                                            <p:strVal val="#ppt_y"/>
                                          </p:val>
                                        </p:tav>
                                      </p:tavLst>
                                    </p:anim>
                                    <p:animEffect transition="in" filter="fade">
                                      <p:cBhvr>
                                        <p:cTn id="31" dur="900"/>
                                        <p:tgtEl>
                                          <p:spTgt spid="10"/>
                                        </p:tgtEl>
                                      </p:cBhvr>
                                    </p:animEffect>
                                  </p:childTnLst>
                                </p:cTn>
                              </p:par>
                              <p:par>
                                <p:cTn id="36" presetID="2" presetClass="entr" presetSubtype="4" fill="hold" decel="100000" nodeType="withEffect">
                                  <p:stCondLst>
                                    <p:cond delay="78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4" dur="900" fill="hold"/>
                                        <p:tgtEl>
                                          <p:spTgt spid="11"/>
                                        </p:tgtEl>
                                        <p:attrNameLst>
                                          <p:attrName>ppt_y</p:attrName>
                                        </p:attrNameLst>
                                      </p:cBhvr>
                                      <p:tavLst>
                                        <p:tav tm="0">
                                          <p:val>
                                            <p:strVal val="#ppt_y+0.03"/>
                                          </p:val>
                                        </p:tav>
                                        <p:tav tm="100000">
                                          <p:val>
                                            <p:strVal val="#ppt_y"/>
                                          </p:val>
                                        </p:tav>
                                      </p:tavLst>
                                    </p:anim>
                                    <p:animEffect transition="in" filter="fade">
                                      <p:cBhvr>
                                        <p:cTn id="35" dur="900"/>
                                        <p:tgtEl>
                                          <p:spTgt spid="11"/>
                                        </p:tgtEl>
                                      </p:cBhvr>
                                    </p:animEffect>
                                  </p:childTnLst>
                                </p:cTn>
                              </p:par>
                              <p:par>
                                <p:cTn id="40" presetID="2" presetClass="entr" presetSubtype="4" fill="hold" decel="100000" nodeType="withEffect">
                                  <p:stCondLst>
                                    <p:cond delay="84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38" dur="900" fill="hold"/>
                                        <p:tgtEl>
                                          <p:spTgt spid="12"/>
                                        </p:tgtEl>
                                        <p:attrNameLst>
                                          <p:attrName>ppt_y</p:attrName>
                                        </p:attrNameLst>
                                      </p:cBhvr>
                                      <p:tavLst>
                                        <p:tav tm="0">
                                          <p:val>
                                            <p:strVal val="#ppt_y+0.03"/>
                                          </p:val>
                                        </p:tav>
                                        <p:tav tm="100000">
                                          <p:val>
                                            <p:strVal val="#ppt_y"/>
                                          </p:val>
                                        </p:tav>
                                      </p:tavLst>
                                    </p:anim>
                                    <p:animEffect transition="in" filter="fade">
                                      <p:cBhvr>
                                        <p:cTn id="39" dur="900"/>
                                        <p:tgtEl>
                                          <p:spTgt spid="12"/>
                                        </p:tgtEl>
                                      </p:cBhvr>
                                    </p:animEffect>
                                  </p:childTnLst>
                                </p:cTn>
                              </p:par>
                              <p:par>
                                <p:cTn id="44" presetID="2" presetClass="entr" presetSubtype="4" fill="hold" decel="100000" nodeType="withEffect">
                                  <p:stCondLst>
                                    <p:cond delay="100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2" dur="900" fill="hold"/>
                                        <p:tgtEl>
                                          <p:spTgt spid="13"/>
                                        </p:tgtEl>
                                        <p:attrNameLst>
                                          <p:attrName>ppt_y</p:attrName>
                                        </p:attrNameLst>
                                      </p:cBhvr>
                                      <p:tavLst>
                                        <p:tav tm="0">
                                          <p:val>
                                            <p:strVal val="#ppt_y+0.03"/>
                                          </p:val>
                                        </p:tav>
                                        <p:tav tm="100000">
                                          <p:val>
                                            <p:strVal val="#ppt_y"/>
                                          </p:val>
                                        </p:tav>
                                      </p:tavLst>
                                    </p:anim>
                                    <p:animEffect transition="in" filter="fade">
                                      <p:cBhvr>
                                        <p:cTn id="43" dur="9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Layer 3 · The full commercial cycle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Illustrative value curve" descr="Illustrative value curve"/>
          <p:cNvPicPr>
            <a:picLocks noChangeAspect="1"/>
          </p:cNvPicPr>
          <p:nvPr/>
        </p:nvPicPr>
        <p:blipFill>
          <a:blip r:embed="rId3"/>
          <a:stretch>
            <a:fillRect/>
          </a:stretch>
        </p:blipFill>
        <p:spPr>
          <a:xfrm>
            <a:off x="8997950" y="558800"/>
            <a:ext cx="2533650" cy="546100"/>
          </a:xfrm>
          <a:prstGeom prst="rect">
            <a:avLst/>
          </a:prstGeom>
        </p:spPr>
      </p:pic>
      <p:pic>
        <p:nvPicPr>
          <p:cNvPr id="4" name="01 fade · 10Layer 3 · The full commercia" descr="10Layer 3 · The full commercial cycle"/>
          <p:cNvPicPr>
            <a:picLocks noChangeAspect="1"/>
          </p:cNvPicPr>
          <p:nvPr/>
        </p:nvPicPr>
        <p:blipFill>
          <a:blip r:embed="rId4"/>
          <a:stretch>
            <a:fillRect/>
          </a:stretch>
        </p:blipFill>
        <p:spPr>
          <a:xfrm>
            <a:off x="660400" y="609600"/>
            <a:ext cx="10871200" cy="444500"/>
          </a:xfrm>
          <a:prstGeom prst="rect">
            <a:avLst/>
          </a:prstGeom>
        </p:spPr>
      </p:pic>
      <p:pic>
        <p:nvPicPr>
          <p:cNvPr id="5" name="02 up · In transit until the profit is" descr="In transit until the profit is booked."/>
          <p:cNvPicPr>
            <a:picLocks noChangeAspect="1"/>
          </p:cNvPicPr>
          <p:nvPr/>
        </p:nvPicPr>
        <p:blipFill>
          <a:blip r:embed="rId5"/>
          <a:stretch>
            <a:fillRect/>
          </a:stretch>
        </p:blipFill>
        <p:spPr>
          <a:xfrm>
            <a:off x="660400" y="977900"/>
            <a:ext cx="9829800" cy="838200"/>
          </a:xfrm>
          <a:prstGeom prst="rect">
            <a:avLst/>
          </a:prstGeom>
        </p:spPr>
      </p:pic>
      <p:pic>
        <p:nvPicPr>
          <p:cNvPr id="6" name="03 up · The trace follows the value fr" descr="The trace follows the value from farm to ledger, not just from dock to dock."/>
          <p:cNvPicPr>
            <a:picLocks noChangeAspect="1"/>
          </p:cNvPicPr>
          <p:nvPr/>
        </p:nvPicPr>
        <p:blipFill>
          <a:blip r:embed="rId6"/>
          <a:stretch>
            <a:fillRect/>
          </a:stretch>
        </p:blipFill>
        <p:spPr>
          <a:xfrm>
            <a:off x="660400" y="1631950"/>
            <a:ext cx="8686800" cy="558800"/>
          </a:xfrm>
          <a:prstGeom prst="rect">
            <a:avLst/>
          </a:prstGeom>
        </p:spPr>
      </p:pic>
      <p:pic>
        <p:nvPicPr>
          <p:cNvPr id="7" name="04 draw · graphic" descr=""/>
          <p:cNvPicPr>
            <a:picLocks noChangeAspect="1"/>
          </p:cNvPicPr>
          <p:nvPr/>
        </p:nvPicPr>
        <p:blipFill>
          <a:blip r:embed="rId7"/>
          <a:stretch>
            <a:fillRect/>
          </a:stretch>
        </p:blipFill>
        <p:spPr>
          <a:xfrm>
            <a:off x="666750" y="2387600"/>
            <a:ext cx="10858500" cy="3517900"/>
          </a:xfrm>
          <a:prstGeom prst="rect">
            <a:avLst/>
          </a:prstGeom>
        </p:spPr>
      </p:pic>
      <p:pic>
        <p:nvPicPr>
          <p:cNvPr id="8" name="05 up · Kinetic transit On the truck, " descr="Kinetic transit On the truck, burning fuel and thermal life. Routing turns at-risk stock back into sales. Thermal + Decision Reserve"/>
          <p:cNvPicPr>
            <a:picLocks noChangeAspect="1"/>
          </p:cNvPicPr>
          <p:nvPr/>
        </p:nvPicPr>
        <p:blipFill>
          <a:blip r:embed="rId8"/>
          <a:stretch>
            <a:fillRect/>
          </a:stretch>
        </p:blipFill>
        <p:spPr>
          <a:xfrm>
            <a:off x="666750" y="2101850"/>
            <a:ext cx="2946400" cy="4013200"/>
          </a:xfrm>
          <a:prstGeom prst="rect">
            <a:avLst/>
          </a:prstGeom>
        </p:spPr>
      </p:pic>
      <p:pic>
        <p:nvPicPr>
          <p:cNvPr id="9" name="06 up · Static transit On the shelf, b" descr="Static transit On the shelf, burning shelf life while it waits for customers. Commercial Reserve"/>
          <p:cNvPicPr>
            <a:picLocks noChangeAspect="1"/>
          </p:cNvPicPr>
          <p:nvPr/>
        </p:nvPicPr>
        <p:blipFill>
          <a:blip r:embed="rId9"/>
          <a:stretch>
            <a:fillRect/>
          </a:stretch>
        </p:blipFill>
        <p:spPr>
          <a:xfrm>
            <a:off x="3302000" y="2101850"/>
            <a:ext cx="2946400" cy="4013200"/>
          </a:xfrm>
          <a:prstGeom prst="rect">
            <a:avLst/>
          </a:prstGeom>
        </p:spPr>
      </p:pic>
      <p:pic>
        <p:nvPicPr>
          <p:cNvPr id="10" name="07 up · Consumer transit Into the cust" descr="Consumer transit Into the customer's cart: the moment value is realised. Value realised"/>
          <p:cNvPicPr>
            <a:picLocks noChangeAspect="1"/>
          </p:cNvPicPr>
          <p:nvPr/>
        </p:nvPicPr>
        <p:blipFill>
          <a:blip r:embed="rId10"/>
          <a:stretch>
            <a:fillRect/>
          </a:stretch>
        </p:blipFill>
        <p:spPr>
          <a:xfrm>
            <a:off x="5943600" y="2101850"/>
            <a:ext cx="2946400" cy="4013200"/>
          </a:xfrm>
          <a:prstGeom prst="rect">
            <a:avLst/>
          </a:prstGeom>
        </p:spPr>
      </p:pic>
      <p:pic>
        <p:nvPicPr>
          <p:cNvPr id="11" name="08 up · Consolidation POS data flows b" descr="Consolidation POS data flows back, profit hits the ledger, and demand triggers replenishment. Value Ledger"/>
          <p:cNvPicPr>
            <a:picLocks noChangeAspect="1"/>
          </p:cNvPicPr>
          <p:nvPr/>
        </p:nvPicPr>
        <p:blipFill>
          <a:blip r:embed="rId11"/>
          <a:stretch>
            <a:fillRect/>
          </a:stretch>
        </p:blipFill>
        <p:spPr>
          <a:xfrm>
            <a:off x="8578850" y="2101850"/>
            <a:ext cx="2946400" cy="40132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20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7" presetID="10" presetClass="entr" presetSubtype="0" fill="hold" decel="10000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6" dur="900"/>
                                        <p:tgtEl>
                                          <p:spTgt spid="4"/>
                                        </p:tgtEl>
                                      </p:cBhvr>
                                    </p:animEffect>
                                  </p:childTnLst>
                                </p:cTn>
                              </p:par>
                              <p:par>
                                <p:cTn id="11" presetID="2" presetClass="entr" presetSubtype="4" fill="hold" decel="100000" nodeType="withEffect">
                                  <p:stCondLst>
                                    <p:cond delay="12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9" dur="900" fill="hold"/>
                                        <p:tgtEl>
                                          <p:spTgt spid="5"/>
                                        </p:tgtEl>
                                        <p:attrNameLst>
                                          <p:attrName>ppt_y</p:attrName>
                                        </p:attrNameLst>
                                      </p:cBhvr>
                                      <p:tavLst>
                                        <p:tav tm="0">
                                          <p:val>
                                            <p:strVal val="#ppt_y+0.03"/>
                                          </p:val>
                                        </p:tav>
                                        <p:tav tm="100000">
                                          <p:val>
                                            <p:strVal val="#ppt_y"/>
                                          </p:val>
                                        </p:tav>
                                      </p:tavLst>
                                    </p:anim>
                                    <p:animEffect transition="in" filter="fade">
                                      <p:cBhvr>
                                        <p:cTn id="10" dur="900"/>
                                        <p:tgtEl>
                                          <p:spTgt spid="5"/>
                                        </p:tgtEl>
                                      </p:cBhvr>
                                    </p:animEffect>
                                  </p:childTnLst>
                                </p:cTn>
                              </p:par>
                              <p:par>
                                <p:cTn id="15" presetID="2" presetClass="entr" presetSubtype="4" fill="hold" decel="100000" nodeType="withEffect">
                                  <p:stCondLst>
                                    <p:cond delay="25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3" dur="900" fill="hold"/>
                                        <p:tgtEl>
                                          <p:spTgt spid="6"/>
                                        </p:tgtEl>
                                        <p:attrNameLst>
                                          <p:attrName>ppt_y</p:attrName>
                                        </p:attrNameLst>
                                      </p:cBhvr>
                                      <p:tavLst>
                                        <p:tav tm="0">
                                          <p:val>
                                            <p:strVal val="#ppt_y+0.03"/>
                                          </p:val>
                                        </p:tav>
                                        <p:tav tm="100000">
                                          <p:val>
                                            <p:strVal val="#ppt_y"/>
                                          </p:val>
                                        </p:tav>
                                      </p:tavLst>
                                    </p:anim>
                                    <p:animEffect transition="in" filter="fade">
                                      <p:cBhvr>
                                        <p:cTn id="14" dur="900"/>
                                        <p:tgtEl>
                                          <p:spTgt spid="6"/>
                                        </p:tgtEl>
                                      </p:cBhvr>
                                    </p:animEffect>
                                  </p:childTnLst>
                                </p:cTn>
                              </p:par>
                              <p:par>
                                <p:cTn id="18" presetID="22" presetClass="entr" presetSubtype="8" fill="hold" decel="100000" nodeType="withEffect">
                                  <p:stCondLst>
                                    <p:cond delay="70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17" dur="3000"/>
                                        <p:tgtEl>
                                          <p:spTgt spid="7"/>
                                        </p:tgtEl>
                                      </p:cBhvr>
                                    </p:animEffect>
                                  </p:childTnLst>
                                </p:cTn>
                              </p:par>
                              <p:par>
                                <p:cTn id="22" presetID="2" presetClass="entr" presetSubtype="4" fill="hold" decel="100000" nodeType="withEffect">
                                  <p:stCondLst>
                                    <p:cond delay="40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0" dur="900" fill="hold"/>
                                        <p:tgtEl>
                                          <p:spTgt spid="8"/>
                                        </p:tgtEl>
                                        <p:attrNameLst>
                                          <p:attrName>ppt_y</p:attrName>
                                        </p:attrNameLst>
                                      </p:cBhvr>
                                      <p:tavLst>
                                        <p:tav tm="0">
                                          <p:val>
                                            <p:strVal val="#ppt_y+0.03"/>
                                          </p:val>
                                        </p:tav>
                                        <p:tav tm="100000">
                                          <p:val>
                                            <p:strVal val="#ppt_y"/>
                                          </p:val>
                                        </p:tav>
                                      </p:tavLst>
                                    </p:anim>
                                    <p:animEffect transition="in" filter="fade">
                                      <p:cBhvr>
                                        <p:cTn id="21" dur="900"/>
                                        <p:tgtEl>
                                          <p:spTgt spid="8"/>
                                        </p:tgtEl>
                                      </p:cBhvr>
                                    </p:animEffect>
                                  </p:childTnLst>
                                </p:cTn>
                              </p:par>
                              <p:par>
                                <p:cTn id="26" presetID="2" presetClass="entr" presetSubtype="4" fill="hold" decel="100000" nodeType="withEffect">
                                  <p:stCondLst>
                                    <p:cond delay="55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4" dur="900" fill="hold"/>
                                        <p:tgtEl>
                                          <p:spTgt spid="9"/>
                                        </p:tgtEl>
                                        <p:attrNameLst>
                                          <p:attrName>ppt_y</p:attrName>
                                        </p:attrNameLst>
                                      </p:cBhvr>
                                      <p:tavLst>
                                        <p:tav tm="0">
                                          <p:val>
                                            <p:strVal val="#ppt_y+0.03"/>
                                          </p:val>
                                        </p:tav>
                                        <p:tav tm="100000">
                                          <p:val>
                                            <p:strVal val="#ppt_y"/>
                                          </p:val>
                                        </p:tav>
                                      </p:tavLst>
                                    </p:anim>
                                    <p:animEffect transition="in" filter="fade">
                                      <p:cBhvr>
                                        <p:cTn id="25" dur="900"/>
                                        <p:tgtEl>
                                          <p:spTgt spid="9"/>
                                        </p:tgtEl>
                                      </p:cBhvr>
                                    </p:animEffect>
                                  </p:childTnLst>
                                </p:cTn>
                              </p:par>
                              <p:par>
                                <p:cTn id="30" presetID="2" presetClass="entr" presetSubtype="4" fill="hold" decel="100000" nodeType="withEffect">
                                  <p:stCondLst>
                                    <p:cond delay="70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28" dur="900" fill="hold"/>
                                        <p:tgtEl>
                                          <p:spTgt spid="10"/>
                                        </p:tgtEl>
                                        <p:attrNameLst>
                                          <p:attrName>ppt_y</p:attrName>
                                        </p:attrNameLst>
                                      </p:cBhvr>
                                      <p:tavLst>
                                        <p:tav tm="0">
                                          <p:val>
                                            <p:strVal val="#ppt_y+0.03"/>
                                          </p:val>
                                        </p:tav>
                                        <p:tav tm="100000">
                                          <p:val>
                                            <p:strVal val="#ppt_y"/>
                                          </p:val>
                                        </p:tav>
                                      </p:tavLst>
                                    </p:anim>
                                    <p:animEffect transition="in" filter="fade">
                                      <p:cBhvr>
                                        <p:cTn id="29" dur="900"/>
                                        <p:tgtEl>
                                          <p:spTgt spid="10"/>
                                        </p:tgtEl>
                                      </p:cBhvr>
                                    </p:animEffect>
                                  </p:childTnLst>
                                </p:cTn>
                              </p:par>
                              <p:par>
                                <p:cTn id="34" presetID="2" presetClass="entr" presetSubtype="4" fill="hold" decel="100000" nodeType="withEffect">
                                  <p:stCondLst>
                                    <p:cond delay="85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2" dur="900" fill="hold"/>
                                        <p:tgtEl>
                                          <p:spTgt spid="11"/>
                                        </p:tgtEl>
                                        <p:attrNameLst>
                                          <p:attrName>ppt_y</p:attrName>
                                        </p:attrNameLst>
                                      </p:cBhvr>
                                      <p:tavLst>
                                        <p:tav tm="0">
                                          <p:val>
                                            <p:strVal val="#ppt_y+0.03"/>
                                          </p:val>
                                        </p:tav>
                                        <p:tav tm="100000">
                                          <p:val>
                                            <p:strVal val="#ppt_y"/>
                                          </p:val>
                                        </p:tav>
                                      </p:tavLst>
                                    </p:anim>
                                    <p:animEffect transition="in" filter="fade">
                                      <p:cBhvr>
                                        <p:cTn id="33" dur="9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Layer 4 · Decision Reserve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Example scenario" descr="Example scenario"/>
          <p:cNvPicPr>
            <a:picLocks noChangeAspect="1"/>
          </p:cNvPicPr>
          <p:nvPr/>
        </p:nvPicPr>
        <p:blipFill>
          <a:blip r:embed="rId3"/>
          <a:stretch>
            <a:fillRect/>
          </a:stretch>
        </p:blipFill>
        <p:spPr>
          <a:xfrm>
            <a:off x="9620250" y="558800"/>
            <a:ext cx="1911350" cy="546100"/>
          </a:xfrm>
          <a:prstGeom prst="rect">
            <a:avLst/>
          </a:prstGeom>
        </p:spPr>
      </p:pic>
      <p:pic>
        <p:nvPicPr>
          <p:cNvPr id="4" name="01 fade · 11Layer 4 · Decision Reserve" descr="11Layer 4 · Decision Reserve"/>
          <p:cNvPicPr>
            <a:picLocks noChangeAspect="1"/>
          </p:cNvPicPr>
          <p:nvPr/>
        </p:nvPicPr>
        <p:blipFill>
          <a:blip r:embed="rId4"/>
          <a:stretch>
            <a:fillRect/>
          </a:stretch>
        </p:blipFill>
        <p:spPr>
          <a:xfrm>
            <a:off x="660400" y="609600"/>
            <a:ext cx="10871200" cy="444500"/>
          </a:xfrm>
          <a:prstGeom prst="rect">
            <a:avLst/>
          </a:prstGeom>
        </p:spPr>
      </p:pic>
      <p:pic>
        <p:nvPicPr>
          <p:cNvPr id="5" name="02 up · The window to act, and the mov" descr="The window to act, and the move to make."/>
          <p:cNvPicPr>
            <a:picLocks noChangeAspect="1"/>
          </p:cNvPicPr>
          <p:nvPr/>
        </p:nvPicPr>
        <p:blipFill>
          <a:blip r:embed="rId5"/>
          <a:stretch>
            <a:fillRect/>
          </a:stretch>
        </p:blipFill>
        <p:spPr>
          <a:xfrm>
            <a:off x="660400" y="977900"/>
            <a:ext cx="9829800" cy="838200"/>
          </a:xfrm>
          <a:prstGeom prst="rect">
            <a:avLst/>
          </a:prstGeom>
        </p:spPr>
      </p:pic>
      <p:pic>
        <p:nvPicPr>
          <p:cNvPr id="6" name="03 up · min( Ctransport + Cfood‑loss +" descr="min( Ctransport + Cfood‑loss + Cdelay )"/>
          <p:cNvPicPr>
            <a:picLocks noChangeAspect="1"/>
          </p:cNvPicPr>
          <p:nvPr/>
        </p:nvPicPr>
        <p:blipFill>
          <a:blip r:embed="rId6"/>
          <a:stretch>
            <a:fillRect/>
          </a:stretch>
        </p:blipFill>
        <p:spPr>
          <a:xfrm>
            <a:off x="660400" y="1860550"/>
            <a:ext cx="4876800" cy="1066800"/>
          </a:xfrm>
          <a:prstGeom prst="rect">
            <a:avLst/>
          </a:prstGeom>
        </p:spPr>
      </p:pic>
      <p:pic>
        <p:nvPicPr>
          <p:cNvPr id="7" name="04 fade · Subject to" descr="Subject to"/>
          <p:cNvPicPr>
            <a:picLocks noChangeAspect="1"/>
          </p:cNvPicPr>
          <p:nvPr/>
        </p:nvPicPr>
        <p:blipFill>
          <a:blip r:embed="rId7"/>
          <a:stretch>
            <a:fillRect/>
          </a:stretch>
        </p:blipFill>
        <p:spPr>
          <a:xfrm>
            <a:off x="660400" y="2832100"/>
            <a:ext cx="4876800" cy="438150"/>
          </a:xfrm>
          <a:prstGeom prst="rect">
            <a:avLst/>
          </a:prstGeom>
        </p:spPr>
      </p:pic>
      <p:pic>
        <p:nvPicPr>
          <p:cNvPr id="8" name="05 left · ETA ≤ remaining thermal reserv" descr="ETA ≤ remaining thermal reserve"/>
          <p:cNvPicPr>
            <a:picLocks noChangeAspect="1"/>
          </p:cNvPicPr>
          <p:nvPr/>
        </p:nvPicPr>
        <p:blipFill>
          <a:blip r:embed="rId8"/>
          <a:stretch>
            <a:fillRect/>
          </a:stretch>
        </p:blipFill>
        <p:spPr>
          <a:xfrm>
            <a:off x="660400" y="3086100"/>
            <a:ext cx="4876800" cy="762000"/>
          </a:xfrm>
          <a:prstGeom prst="rect">
            <a:avLst/>
          </a:prstGeom>
        </p:spPr>
      </p:pic>
      <p:pic>
        <p:nvPicPr>
          <p:cNvPr id="9" name="06 left · Quantity ≤ available capacity" descr="Quantity ≤ available capacity"/>
          <p:cNvPicPr>
            <a:picLocks noChangeAspect="1"/>
          </p:cNvPicPr>
          <p:nvPr/>
        </p:nvPicPr>
        <p:blipFill>
          <a:blip r:embed="rId9"/>
          <a:stretch>
            <a:fillRect/>
          </a:stretch>
        </p:blipFill>
        <p:spPr>
          <a:xfrm>
            <a:off x="660400" y="3536950"/>
            <a:ext cx="4876800" cy="762000"/>
          </a:xfrm>
          <a:prstGeom prst="rect">
            <a:avLst/>
          </a:prstGeom>
        </p:spPr>
      </p:pic>
      <p:pic>
        <p:nvPicPr>
          <p:cNvPr id="10" name="07 left · Storage temperature compatible" descr="Storage temperature compatible"/>
          <p:cNvPicPr>
            <a:picLocks noChangeAspect="1"/>
          </p:cNvPicPr>
          <p:nvPr/>
        </p:nvPicPr>
        <p:blipFill>
          <a:blip r:embed="rId10"/>
          <a:stretch>
            <a:fillRect/>
          </a:stretch>
        </p:blipFill>
        <p:spPr>
          <a:xfrm>
            <a:off x="660400" y="3987800"/>
            <a:ext cx="4876800" cy="762000"/>
          </a:xfrm>
          <a:prstGeom prst="rect">
            <a:avLst/>
          </a:prstGeom>
        </p:spPr>
      </p:pic>
      <p:pic>
        <p:nvPicPr>
          <p:cNvPr id="11" name="08 up · AI CorroboratesExplainsNever i" descr="AI CorroboratesExplainsNever invents a number"/>
          <p:cNvPicPr>
            <a:picLocks noChangeAspect="1"/>
          </p:cNvPicPr>
          <p:nvPr/>
        </p:nvPicPr>
        <p:blipFill>
          <a:blip r:embed="rId11"/>
          <a:stretch>
            <a:fillRect/>
          </a:stretch>
        </p:blipFill>
        <p:spPr>
          <a:xfrm>
            <a:off x="660400" y="4629150"/>
            <a:ext cx="4876800" cy="679450"/>
          </a:xfrm>
          <a:prstGeom prst="rect">
            <a:avLst/>
          </a:prstGeom>
        </p:spPr>
      </p:pic>
      <p:pic>
        <p:nvPicPr>
          <p:cNvPr id="12" name="09 up · Reefer Compressor failing Ther" descr="Reefer Compressor failing Thermal reserve 45 min"/>
          <p:cNvPicPr>
            <a:picLocks noChangeAspect="1"/>
          </p:cNvPicPr>
          <p:nvPr/>
        </p:nvPicPr>
        <p:blipFill>
          <a:blip r:embed="rId12"/>
          <a:stretch>
            <a:fillRect/>
          </a:stretch>
        </p:blipFill>
        <p:spPr>
          <a:xfrm>
            <a:off x="5689600" y="1860550"/>
            <a:ext cx="5842000" cy="793750"/>
          </a:xfrm>
          <a:prstGeom prst="rect">
            <a:avLst/>
          </a:prstGeom>
        </p:spPr>
      </p:pic>
      <p:pic>
        <p:nvPicPr>
          <p:cNvPr id="13" name="10 fade · DestinationETAFits 45 min" descr="DestinationETAFits 45 min"/>
          <p:cNvPicPr>
            <a:picLocks noChangeAspect="1"/>
          </p:cNvPicPr>
          <p:nvPr/>
        </p:nvPicPr>
        <p:blipFill>
          <a:blip r:embed="rId13"/>
          <a:stretch>
            <a:fillRect/>
          </a:stretch>
        </p:blipFill>
        <p:spPr>
          <a:xfrm>
            <a:off x="5689600" y="2508250"/>
            <a:ext cx="5842000" cy="527050"/>
          </a:xfrm>
          <a:prstGeom prst="rect">
            <a:avLst/>
          </a:prstGeom>
        </p:spPr>
      </p:pic>
      <p:pic>
        <p:nvPicPr>
          <p:cNvPr id="14" name="11 right · HypermarketPlanned route 90 mi" descr="HypermarketPlanned route 90 min✗ spoils"/>
          <p:cNvPicPr>
            <a:picLocks noChangeAspect="1"/>
          </p:cNvPicPr>
          <p:nvPr/>
        </p:nvPicPr>
        <p:blipFill>
          <a:blip r:embed="rId14"/>
          <a:stretch>
            <a:fillRect/>
          </a:stretch>
        </p:blipFill>
        <p:spPr>
          <a:xfrm>
            <a:off x="5689600" y="2724150"/>
            <a:ext cx="5842000" cy="1098550"/>
          </a:xfrm>
          <a:prstGeom prst="rect">
            <a:avLst/>
          </a:prstGeom>
        </p:spPr>
      </p:pic>
      <p:pic>
        <p:nvPicPr>
          <p:cNvPr id="15" name="12 fade · ✗ spoils" descr="✗ spoils"/>
          <p:cNvPicPr>
            <a:picLocks noChangeAspect="1"/>
          </p:cNvPicPr>
          <p:nvPr/>
        </p:nvPicPr>
        <p:blipFill>
          <a:blip r:embed="rId15"/>
          <a:stretch>
            <a:fillRect/>
          </a:stretch>
        </p:blipFill>
        <p:spPr>
          <a:xfrm>
            <a:off x="9969500" y="3048000"/>
            <a:ext cx="1390650" cy="450850"/>
          </a:xfrm>
          <a:prstGeom prst="rect">
            <a:avLst/>
          </a:prstGeom>
        </p:spPr>
      </p:pic>
      <p:pic>
        <p:nvPicPr>
          <p:cNvPr id="16" name="13 fade · ✓ fits" descr="✓ fits"/>
          <p:cNvPicPr>
            <a:picLocks noChangeAspect="1"/>
          </p:cNvPicPr>
          <p:nvPr/>
        </p:nvPicPr>
        <p:blipFill>
          <a:blip r:embed="rId16"/>
          <a:stretch>
            <a:fillRect/>
          </a:stretch>
        </p:blipFill>
        <p:spPr>
          <a:xfrm>
            <a:off x="9969500" y="3924300"/>
            <a:ext cx="1390650" cy="450850"/>
          </a:xfrm>
          <a:prstGeom prst="rect">
            <a:avLst/>
          </a:prstGeom>
        </p:spPr>
      </p:pic>
      <p:pic>
        <p:nvPicPr>
          <p:cNvPr id="17" name="14 up · OptimizedREROUTEDecision reser" descr="OptimizedREROUTEDecision reserve ≈ 25 min to commit. The optimizer picks; the AI only explains why."/>
          <p:cNvPicPr>
            <a:picLocks noChangeAspect="1"/>
          </p:cNvPicPr>
          <p:nvPr/>
        </p:nvPicPr>
        <p:blipFill>
          <a:blip r:embed="rId17"/>
          <a:stretch>
            <a:fillRect/>
          </a:stretch>
        </p:blipFill>
        <p:spPr>
          <a:xfrm>
            <a:off x="5689600" y="4616450"/>
            <a:ext cx="5842000" cy="1282700"/>
          </a:xfrm>
          <a:prstGeom prst="rect">
            <a:avLst/>
          </a:prstGeom>
        </p:spPr>
      </p:pic>
      <p:pic>
        <p:nvPicPr>
          <p:cNvPr id="18" name="15 right · Nearby buyerRe-routed 20 min✓ " descr="Nearby buyerRe-routed 20 min✓ fits"/>
          <p:cNvPicPr>
            <a:picLocks noChangeAspect="1"/>
          </p:cNvPicPr>
          <p:nvPr/>
        </p:nvPicPr>
        <p:blipFill>
          <a:blip r:embed="rId18"/>
          <a:stretch>
            <a:fillRect/>
          </a:stretch>
        </p:blipFill>
        <p:spPr>
          <a:xfrm>
            <a:off x="5689600" y="3600450"/>
            <a:ext cx="5842000" cy="10985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20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7" presetID="10" presetClass="entr" presetSubtype="0" fill="hold" decel="10000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6" dur="900"/>
                                        <p:tgtEl>
                                          <p:spTgt spid="4"/>
                                        </p:tgtEl>
                                      </p:cBhvr>
                                    </p:animEffect>
                                  </p:childTnLst>
                                </p:cTn>
                              </p:par>
                              <p:par>
                                <p:cTn id="11" presetID="2" presetClass="entr" presetSubtype="4" fill="hold" decel="100000" nodeType="withEffect">
                                  <p:stCondLst>
                                    <p:cond delay="12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9" dur="900" fill="hold"/>
                                        <p:tgtEl>
                                          <p:spTgt spid="5"/>
                                        </p:tgtEl>
                                        <p:attrNameLst>
                                          <p:attrName>ppt_y</p:attrName>
                                        </p:attrNameLst>
                                      </p:cBhvr>
                                      <p:tavLst>
                                        <p:tav tm="0">
                                          <p:val>
                                            <p:strVal val="#ppt_y+0.03"/>
                                          </p:val>
                                        </p:tav>
                                        <p:tav tm="100000">
                                          <p:val>
                                            <p:strVal val="#ppt_y"/>
                                          </p:val>
                                        </p:tav>
                                      </p:tavLst>
                                    </p:anim>
                                    <p:animEffect transition="in" filter="fade">
                                      <p:cBhvr>
                                        <p:cTn id="10" dur="900"/>
                                        <p:tgtEl>
                                          <p:spTgt spid="5"/>
                                        </p:tgtEl>
                                      </p:cBhvr>
                                    </p:animEffect>
                                  </p:childTnLst>
                                </p:cTn>
                              </p:par>
                              <p:par>
                                <p:cTn id="15" presetID="2" presetClass="entr" presetSubtype="4" fill="hold" decel="100000" nodeType="withEffect">
                                  <p:stCondLst>
                                    <p:cond delay="32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3" dur="900" fill="hold"/>
                                        <p:tgtEl>
                                          <p:spTgt spid="6"/>
                                        </p:tgtEl>
                                        <p:attrNameLst>
                                          <p:attrName>ppt_y</p:attrName>
                                        </p:attrNameLst>
                                      </p:cBhvr>
                                      <p:tavLst>
                                        <p:tav tm="0">
                                          <p:val>
                                            <p:strVal val="#ppt_y+0.03"/>
                                          </p:val>
                                        </p:tav>
                                        <p:tav tm="100000">
                                          <p:val>
                                            <p:strVal val="#ppt_y"/>
                                          </p:val>
                                        </p:tav>
                                      </p:tavLst>
                                    </p:anim>
                                    <p:animEffect transition="in" filter="fade">
                                      <p:cBhvr>
                                        <p:cTn id="14" dur="900"/>
                                        <p:tgtEl>
                                          <p:spTgt spid="6"/>
                                        </p:tgtEl>
                                      </p:cBhvr>
                                    </p:animEffect>
                                  </p:childTnLst>
                                </p:cTn>
                              </p:par>
                              <p:par>
                                <p:cTn id="18" presetID="10" presetClass="entr" presetSubtype="0" fill="hold" decel="100000" nodeType="withEffect">
                                  <p:stCondLst>
                                    <p:cond delay="500"/>
                                  </p:stCondLst>
                                  <p:childTnLst>
                                    <p:set>
                                      <p:cBhvr>
                                        <p:cTn id="19" dur="1" fill="hold">
                                          <p:stCondLst>
                                            <p:cond delay="0"/>
                                          </p:stCondLst>
                                        </p:cTn>
                                        <p:tgtEl>
                                          <p:spTgt spid="7"/>
                                        </p:tgtEl>
                                        <p:attrNameLst>
                                          <p:attrName>style.visibility</p:attrName>
                                        </p:attrNameLst>
                                      </p:cBhvr>
                                      <p:to>
                                        <p:strVal val="visible"/>
                                      </p:to>
                                    </p:set>
                                    <p:animEffect transition="in" filter="fade">
                                      <p:cBhvr>
                                        <p:cTn id="17" dur="900"/>
                                        <p:tgtEl>
                                          <p:spTgt spid="7"/>
                                        </p:tgtEl>
                                      </p:cBhvr>
                                    </p:animEffect>
                                  </p:childTnLst>
                                </p:cTn>
                              </p:par>
                              <p:par>
                                <p:cTn id="22" presetID="2" presetClass="entr" presetSubtype="8" fill="hold" decel="100000" nodeType="withEffect">
                                  <p:stCondLst>
                                    <p:cond delay="60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0" dur="900" fill="hold"/>
                                        <p:tgtEl>
                                          <p:spTgt spid="8"/>
                                        </p:tgtEl>
                                        <p:attrNameLst>
                                          <p:attrName>ppt_x</p:attrName>
                                        </p:attrNameLst>
                                      </p:cBhvr>
                                      <p:tavLst>
                                        <p:tav tm="0">
                                          <p:val>
                                            <p:strVal val="#ppt_x-0.025"/>
                                          </p:val>
                                        </p:tav>
                                        <p:tav tm="100000">
                                          <p:val>
                                            <p:strVal val="#ppt_x"/>
                                          </p:val>
                                        </p:tav>
                                      </p:tavLst>
                                    </p:anim>
                                    <p:animEffect transition="in" filter="fade">
                                      <p:cBhvr>
                                        <p:cTn id="21" dur="900"/>
                                        <p:tgtEl>
                                          <p:spTgt spid="8"/>
                                        </p:tgtEl>
                                      </p:cBhvr>
                                    </p:animEffect>
                                  </p:childTnLst>
                                </p:cTn>
                              </p:par>
                              <p:par>
                                <p:cTn id="26" presetID="2" presetClass="entr" presetSubtype="8" fill="hold" decel="100000" nodeType="withEffect">
                                  <p:stCondLst>
                                    <p:cond delay="72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4" dur="900" fill="hold"/>
                                        <p:tgtEl>
                                          <p:spTgt spid="9"/>
                                        </p:tgtEl>
                                        <p:attrNameLst>
                                          <p:attrName>ppt_x</p:attrName>
                                        </p:attrNameLst>
                                      </p:cBhvr>
                                      <p:tavLst>
                                        <p:tav tm="0">
                                          <p:val>
                                            <p:strVal val="#ppt_x-0.025"/>
                                          </p:val>
                                        </p:tav>
                                        <p:tav tm="100000">
                                          <p:val>
                                            <p:strVal val="#ppt_x"/>
                                          </p:val>
                                        </p:tav>
                                      </p:tavLst>
                                    </p:anim>
                                    <p:animEffect transition="in" filter="fade">
                                      <p:cBhvr>
                                        <p:cTn id="25" dur="900"/>
                                        <p:tgtEl>
                                          <p:spTgt spid="9"/>
                                        </p:tgtEl>
                                      </p:cBhvr>
                                    </p:animEffect>
                                  </p:childTnLst>
                                </p:cTn>
                              </p:par>
                              <p:par>
                                <p:cTn id="30" presetID="2" presetClass="entr" presetSubtype="8" fill="hold" decel="100000" nodeType="withEffect">
                                  <p:stCondLst>
                                    <p:cond delay="84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28" dur="900" fill="hold"/>
                                        <p:tgtEl>
                                          <p:spTgt spid="10"/>
                                        </p:tgtEl>
                                        <p:attrNameLst>
                                          <p:attrName>ppt_x</p:attrName>
                                        </p:attrNameLst>
                                      </p:cBhvr>
                                      <p:tavLst>
                                        <p:tav tm="0">
                                          <p:val>
                                            <p:strVal val="#ppt_x-0.025"/>
                                          </p:val>
                                        </p:tav>
                                        <p:tav tm="100000">
                                          <p:val>
                                            <p:strVal val="#ppt_x"/>
                                          </p:val>
                                        </p:tav>
                                      </p:tavLst>
                                    </p:anim>
                                    <p:animEffect transition="in" filter="fade">
                                      <p:cBhvr>
                                        <p:cTn id="29" dur="900"/>
                                        <p:tgtEl>
                                          <p:spTgt spid="10"/>
                                        </p:tgtEl>
                                      </p:cBhvr>
                                    </p:animEffect>
                                  </p:childTnLst>
                                </p:cTn>
                              </p:par>
                              <p:par>
                                <p:cTn id="34" presetID="2" presetClass="entr" presetSubtype="4" fill="hold" decel="100000" nodeType="withEffect">
                                  <p:stCondLst>
                                    <p:cond delay="100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2" dur="900" fill="hold"/>
                                        <p:tgtEl>
                                          <p:spTgt spid="11"/>
                                        </p:tgtEl>
                                        <p:attrNameLst>
                                          <p:attrName>ppt_y</p:attrName>
                                        </p:attrNameLst>
                                      </p:cBhvr>
                                      <p:tavLst>
                                        <p:tav tm="0">
                                          <p:val>
                                            <p:strVal val="#ppt_y+0.03"/>
                                          </p:val>
                                        </p:tav>
                                        <p:tav tm="100000">
                                          <p:val>
                                            <p:strVal val="#ppt_y"/>
                                          </p:val>
                                        </p:tav>
                                      </p:tavLst>
                                    </p:anim>
                                    <p:animEffect transition="in" filter="fade">
                                      <p:cBhvr>
                                        <p:cTn id="33" dur="900"/>
                                        <p:tgtEl>
                                          <p:spTgt spid="11"/>
                                        </p:tgtEl>
                                      </p:cBhvr>
                                    </p:animEffect>
                                  </p:childTnLst>
                                </p:cTn>
                              </p:par>
                              <p:par>
                                <p:cTn id="38" presetID="2" presetClass="entr" presetSubtype="4" fill="hold" decel="100000" nodeType="withEffect">
                                  <p:stCondLst>
                                    <p:cond delay="40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36" dur="900" fill="hold"/>
                                        <p:tgtEl>
                                          <p:spTgt spid="12"/>
                                        </p:tgtEl>
                                        <p:attrNameLst>
                                          <p:attrName>ppt_y</p:attrName>
                                        </p:attrNameLst>
                                      </p:cBhvr>
                                      <p:tavLst>
                                        <p:tav tm="0">
                                          <p:val>
                                            <p:strVal val="#ppt_y+0.03"/>
                                          </p:val>
                                        </p:tav>
                                        <p:tav tm="100000">
                                          <p:val>
                                            <p:strVal val="#ppt_y"/>
                                          </p:val>
                                        </p:tav>
                                      </p:tavLst>
                                    </p:anim>
                                    <p:animEffect transition="in" filter="fade">
                                      <p:cBhvr>
                                        <p:cTn id="37" dur="900"/>
                                        <p:tgtEl>
                                          <p:spTgt spid="12"/>
                                        </p:tgtEl>
                                      </p:cBhvr>
                                    </p:animEffect>
                                  </p:childTnLst>
                                </p:cTn>
                              </p:par>
                              <p:par>
                                <p:cTn id="41" presetID="10" presetClass="entr" presetSubtype="0" fill="hold" decel="100000" nodeType="withEffect">
                                  <p:stCondLst>
                                    <p:cond delay="500"/>
                                  </p:stCondLst>
                                  <p:childTnLst>
                                    <p:set>
                                      <p:cBhvr>
                                        <p:cTn id="42" dur="1" fill="hold">
                                          <p:stCondLst>
                                            <p:cond delay="0"/>
                                          </p:stCondLst>
                                        </p:cTn>
                                        <p:tgtEl>
                                          <p:spTgt spid="13"/>
                                        </p:tgtEl>
                                        <p:attrNameLst>
                                          <p:attrName>style.visibility</p:attrName>
                                        </p:attrNameLst>
                                      </p:cBhvr>
                                      <p:to>
                                        <p:strVal val="visible"/>
                                      </p:to>
                                    </p:set>
                                    <p:animEffect transition="in" filter="fade">
                                      <p:cBhvr>
                                        <p:cTn id="40" dur="900"/>
                                        <p:tgtEl>
                                          <p:spTgt spid="13"/>
                                        </p:tgtEl>
                                      </p:cBhvr>
                                    </p:animEffect>
                                  </p:childTnLst>
                                </p:cTn>
                              </p:par>
                              <p:par>
                                <p:cTn id="45" presetID="2" presetClass="entr" presetSubtype="2" fill="hold" decel="100000" nodeType="withEffect">
                                  <p:stCondLst>
                                    <p:cond delay="70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3" dur="900" fill="hold"/>
                                        <p:tgtEl>
                                          <p:spTgt spid="14"/>
                                        </p:tgtEl>
                                        <p:attrNameLst>
                                          <p:attrName>ppt_x</p:attrName>
                                        </p:attrNameLst>
                                      </p:cBhvr>
                                      <p:tavLst>
                                        <p:tav tm="0">
                                          <p:val>
                                            <p:strVal val="#ppt_x+0.025"/>
                                          </p:val>
                                        </p:tav>
                                        <p:tav tm="100000">
                                          <p:val>
                                            <p:strVal val="#ppt_x"/>
                                          </p:val>
                                        </p:tav>
                                      </p:tavLst>
                                    </p:anim>
                                    <p:animEffect transition="in" filter="fade">
                                      <p:cBhvr>
                                        <p:cTn id="44" dur="900"/>
                                        <p:tgtEl>
                                          <p:spTgt spid="14"/>
                                        </p:tgtEl>
                                      </p:cBhvr>
                                    </p:animEffect>
                                  </p:childTnLst>
                                </p:cTn>
                              </p:par>
                              <p:par>
                                <p:cTn id="48" presetID="10" presetClass="entr" presetSubtype="0" fill="hold" decel="100000" nodeType="withEffect">
                                  <p:stCondLst>
                                    <p:cond delay="1300"/>
                                  </p:stCondLst>
                                  <p:childTnLst>
                                    <p:set>
                                      <p:cBhvr>
                                        <p:cTn id="49" dur="1" fill="hold">
                                          <p:stCondLst>
                                            <p:cond delay="0"/>
                                          </p:stCondLst>
                                        </p:cTn>
                                        <p:tgtEl>
                                          <p:spTgt spid="15"/>
                                        </p:tgtEl>
                                        <p:attrNameLst>
                                          <p:attrName>style.visibility</p:attrName>
                                        </p:attrNameLst>
                                      </p:cBhvr>
                                      <p:to>
                                        <p:strVal val="visible"/>
                                      </p:to>
                                    </p:set>
                                    <p:animEffect transition="in" filter="fade">
                                      <p:cBhvr>
                                        <p:cTn id="47" dur="900"/>
                                        <p:tgtEl>
                                          <p:spTgt spid="15"/>
                                        </p:tgtEl>
                                      </p:cBhvr>
                                    </p:animEffect>
                                  </p:childTnLst>
                                </p:cTn>
                              </p:par>
                              <p:par>
                                <p:cTn id="51" presetID="10" presetClass="entr" presetSubtype="0" fill="hold" decel="100000" nodeType="withEffect">
                                  <p:stCondLst>
                                    <p:cond delay="1500"/>
                                  </p:stCondLst>
                                  <p:childTnLst>
                                    <p:set>
                                      <p:cBhvr>
                                        <p:cTn id="52" dur="1" fill="hold">
                                          <p:stCondLst>
                                            <p:cond delay="0"/>
                                          </p:stCondLst>
                                        </p:cTn>
                                        <p:tgtEl>
                                          <p:spTgt spid="16"/>
                                        </p:tgtEl>
                                        <p:attrNameLst>
                                          <p:attrName>style.visibility</p:attrName>
                                        </p:attrNameLst>
                                      </p:cBhvr>
                                      <p:to>
                                        <p:strVal val="visible"/>
                                      </p:to>
                                    </p:set>
                                    <p:animEffect transition="in" filter="fade">
                                      <p:cBhvr>
                                        <p:cTn id="50" dur="900"/>
                                        <p:tgtEl>
                                          <p:spTgt spid="16"/>
                                        </p:tgtEl>
                                      </p:cBhvr>
                                    </p:animEffect>
                                  </p:childTnLst>
                                </p:cTn>
                              </p:par>
                              <p:par>
                                <p:cTn id="55" presetID="2" presetClass="entr" presetSubtype="4" fill="hold" decel="100000" nodeType="withEffect">
                                  <p:stCondLst>
                                    <p:cond delay="240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3" dur="900" fill="hold"/>
                                        <p:tgtEl>
                                          <p:spTgt spid="17"/>
                                        </p:tgtEl>
                                        <p:attrNameLst>
                                          <p:attrName>ppt_y</p:attrName>
                                        </p:attrNameLst>
                                      </p:cBhvr>
                                      <p:tavLst>
                                        <p:tav tm="0">
                                          <p:val>
                                            <p:strVal val="#ppt_y+0.03"/>
                                          </p:val>
                                        </p:tav>
                                        <p:tav tm="100000">
                                          <p:val>
                                            <p:strVal val="#ppt_y"/>
                                          </p:val>
                                        </p:tav>
                                      </p:tavLst>
                                    </p:anim>
                                    <p:animEffect transition="in" filter="fade">
                                      <p:cBhvr>
                                        <p:cTn id="54" dur="900"/>
                                        <p:tgtEl>
                                          <p:spTgt spid="17"/>
                                        </p:tgtEl>
                                      </p:cBhvr>
                                    </p:animEffect>
                                  </p:childTnLst>
                                </p:cTn>
                              </p:par>
                              <p:par>
                                <p:cTn id="59" presetID="2" presetClass="entr" presetSubtype="2" fill="hold" decel="100000" nodeType="withEffect">
                                  <p:stCondLst>
                                    <p:cond delay="70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57" dur="900" fill="hold"/>
                                        <p:tgtEl>
                                          <p:spTgt spid="18"/>
                                        </p:tgtEl>
                                        <p:attrNameLst>
                                          <p:attrName>ppt_x</p:attrName>
                                        </p:attrNameLst>
                                      </p:cBhvr>
                                      <p:tavLst>
                                        <p:tav tm="0">
                                          <p:val>
                                            <p:strVal val="#ppt_x+0.025"/>
                                          </p:val>
                                        </p:tav>
                                        <p:tav tm="100000">
                                          <p:val>
                                            <p:strVal val="#ppt_x"/>
                                          </p:val>
                                        </p:tav>
                                      </p:tavLst>
                                    </p:anim>
                                    <p:animEffect transition="in" filter="fade">
                                      <p:cBhvr>
                                        <p:cTn id="58" dur="9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AI where it earns its place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12AI where it earns its place" descr="12AI where it earns its place"/>
          <p:cNvPicPr>
            <a:picLocks noChangeAspect="1"/>
          </p:cNvPicPr>
          <p:nvPr/>
        </p:nvPicPr>
        <p:blipFill>
          <a:blip r:embed="rId3"/>
          <a:stretch>
            <a:fillRect/>
          </a:stretch>
        </p:blipFill>
        <p:spPr>
          <a:xfrm>
            <a:off x="660400" y="609600"/>
            <a:ext cx="10871200" cy="444500"/>
          </a:xfrm>
          <a:prstGeom prst="rect">
            <a:avLst/>
          </a:prstGeom>
        </p:spPr>
      </p:pic>
      <p:pic>
        <p:nvPicPr>
          <p:cNvPr id="4" name="01 up · Two AI layers. Neither may inv" descr="Two AI layers. Neither may invent a number."/>
          <p:cNvPicPr>
            <a:picLocks noChangeAspect="1"/>
          </p:cNvPicPr>
          <p:nvPr/>
        </p:nvPicPr>
        <p:blipFill>
          <a:blip r:embed="rId4"/>
          <a:stretch>
            <a:fillRect/>
          </a:stretch>
        </p:blipFill>
        <p:spPr>
          <a:xfrm>
            <a:off x="660400" y="977900"/>
            <a:ext cx="9829800" cy="730250"/>
          </a:xfrm>
          <a:prstGeom prst="rect">
            <a:avLst/>
          </a:prstGeom>
        </p:spPr>
      </p:pic>
      <p:pic>
        <p:nvPicPr>
          <p:cNvPr id="5" name="02 up · System 1 · local · offlinePred" descr="System 1 · local · offlinePredicted Laya Answers typed questions in a single pass: condition, recommended action, urgency, needs human review. Open source (Apache-2.0), runs on the laptop. Never gener"/>
          <p:cNvPicPr>
            <a:picLocks noChangeAspect="1"/>
          </p:cNvPicPr>
          <p:nvPr/>
        </p:nvPicPr>
        <p:blipFill>
          <a:blip r:embed="rId5"/>
          <a:stretch>
            <a:fillRect/>
          </a:stretch>
        </p:blipFill>
        <p:spPr>
          <a:xfrm>
            <a:off x="660400" y="1752600"/>
            <a:ext cx="5473700" cy="3270250"/>
          </a:xfrm>
          <a:prstGeom prst="rect">
            <a:avLst/>
          </a:prstGeom>
        </p:spPr>
      </p:pic>
      <p:pic>
        <p:nvPicPr>
          <p:cNvPr id="6" name="03 up · System 2 · cloud · OpenRouterA" descr="System 2 · cloud · OpenRouterAI-explained DeepSeek V4.1 Flash Turns the calculated facts into plain language for the operator. May rank only feasible options, and move the spoilage estimate only withi"/>
          <p:cNvPicPr>
            <a:picLocks noChangeAspect="1"/>
          </p:cNvPicPr>
          <p:nvPr/>
        </p:nvPicPr>
        <p:blipFill>
          <a:blip r:embed="rId6"/>
          <a:stretch>
            <a:fillRect/>
          </a:stretch>
        </p:blipFill>
        <p:spPr>
          <a:xfrm>
            <a:off x="6057900" y="1752600"/>
            <a:ext cx="5473700" cy="3270250"/>
          </a:xfrm>
          <a:prstGeom prst="rect">
            <a:avLst/>
          </a:prstGeom>
        </p:spPr>
      </p:pic>
      <p:pic>
        <p:nvPicPr>
          <p:cNvPr id="7" name="04 up · Plain code, not AI Spoilage pr" descr="Plain code, not AI Spoilage probabilityAnomaly detectionDemand forecasting"/>
          <p:cNvPicPr>
            <a:picLocks noChangeAspect="1"/>
          </p:cNvPicPr>
          <p:nvPr/>
        </p:nvPicPr>
        <p:blipFill>
          <a:blip r:embed="rId7"/>
          <a:stretch>
            <a:fillRect/>
          </a:stretch>
        </p:blipFill>
        <p:spPr>
          <a:xfrm>
            <a:off x="660400" y="4940300"/>
            <a:ext cx="10871200" cy="6794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8" presetID="2" presetClass="entr" presetSubtype="4" fill="hold" decel="100000"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6" dur="900" fill="hold"/>
                                        <p:tgtEl>
                                          <p:spTgt spid="4"/>
                                        </p:tgtEl>
                                        <p:attrNameLst>
                                          <p:attrName>ppt_y</p:attrName>
                                        </p:attrNameLst>
                                      </p:cBhvr>
                                      <p:tavLst>
                                        <p:tav tm="0">
                                          <p:val>
                                            <p:strVal val="#ppt_y+0.03"/>
                                          </p:val>
                                        </p:tav>
                                        <p:tav tm="100000">
                                          <p:val>
                                            <p:strVal val="#ppt_y"/>
                                          </p:val>
                                        </p:tav>
                                      </p:tavLst>
                                    </p:anim>
                                    <p:animEffect transition="in" filter="fade">
                                      <p:cBhvr>
                                        <p:cTn id="7" dur="900"/>
                                        <p:tgtEl>
                                          <p:spTgt spid="4"/>
                                        </p:tgtEl>
                                      </p:cBhvr>
                                    </p:animEffect>
                                  </p:childTnLst>
                                </p:cTn>
                              </p:par>
                              <p:par>
                                <p:cTn id="12" presetID="2" presetClass="entr" presetSubtype="4" fill="hold" decel="100000" nodeType="withEffect">
                                  <p:stCondLst>
                                    <p:cond delay="32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0" dur="900" fill="hold"/>
                                        <p:tgtEl>
                                          <p:spTgt spid="5"/>
                                        </p:tgtEl>
                                        <p:attrNameLst>
                                          <p:attrName>ppt_y</p:attrName>
                                        </p:attrNameLst>
                                      </p:cBhvr>
                                      <p:tavLst>
                                        <p:tav tm="0">
                                          <p:val>
                                            <p:strVal val="#ppt_y+0.03"/>
                                          </p:val>
                                        </p:tav>
                                        <p:tav tm="100000">
                                          <p:val>
                                            <p:strVal val="#ppt_y"/>
                                          </p:val>
                                        </p:tav>
                                      </p:tavLst>
                                    </p:anim>
                                    <p:animEffect transition="in" filter="fade">
                                      <p:cBhvr>
                                        <p:cTn id="11" dur="900"/>
                                        <p:tgtEl>
                                          <p:spTgt spid="5"/>
                                        </p:tgtEl>
                                      </p:cBhvr>
                                    </p:animEffect>
                                  </p:childTnLst>
                                </p:cTn>
                              </p:par>
                              <p:par>
                                <p:cTn id="16" presetID="2" presetClass="entr" presetSubtype="4" fill="hold" decel="100000" nodeType="withEffect">
                                  <p:stCondLst>
                                    <p:cond delay="48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4" dur="900" fill="hold"/>
                                        <p:tgtEl>
                                          <p:spTgt spid="6"/>
                                        </p:tgtEl>
                                        <p:attrNameLst>
                                          <p:attrName>ppt_y</p:attrName>
                                        </p:attrNameLst>
                                      </p:cBhvr>
                                      <p:tavLst>
                                        <p:tav tm="0">
                                          <p:val>
                                            <p:strVal val="#ppt_y+0.03"/>
                                          </p:val>
                                        </p:tav>
                                        <p:tav tm="100000">
                                          <p:val>
                                            <p:strVal val="#ppt_y"/>
                                          </p:val>
                                        </p:tav>
                                      </p:tavLst>
                                    </p:anim>
                                    <p:animEffect transition="in" filter="fade">
                                      <p:cBhvr>
                                        <p:cTn id="15" dur="900"/>
                                        <p:tgtEl>
                                          <p:spTgt spid="6"/>
                                        </p:tgtEl>
                                      </p:cBhvr>
                                    </p:animEffect>
                                  </p:childTnLst>
                                </p:cTn>
                              </p:par>
                              <p:par>
                                <p:cTn id="20" presetID="2" presetClass="entr" presetSubtype="4" fill="hold" decel="100000" nodeType="withEffect">
                                  <p:stCondLst>
                                    <p:cond delay="75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18" dur="900" fill="hold"/>
                                        <p:tgtEl>
                                          <p:spTgt spid="7"/>
                                        </p:tgtEl>
                                        <p:attrNameLst>
                                          <p:attrName>ppt_y</p:attrName>
                                        </p:attrNameLst>
                                      </p:cBhvr>
                                      <p:tavLst>
                                        <p:tav tm="0">
                                          <p:val>
                                            <p:strVal val="#ppt_y+0.03"/>
                                          </p:val>
                                        </p:tav>
                                        <p:tav tm="100000">
                                          <p:val>
                                            <p:strVal val="#ppt_y"/>
                                          </p:val>
                                        </p:tav>
                                      </p:tavLst>
                                    </p:anim>
                                    <p:animEffect transition="in" filter="fade">
                                      <p:cBhvr>
                                        <p:cTn id="19" dur="9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From biology to liquidity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13The shift, in full" descr="13The shift, in full"/>
          <p:cNvPicPr>
            <a:picLocks noChangeAspect="1"/>
          </p:cNvPicPr>
          <p:nvPr/>
        </p:nvPicPr>
        <p:blipFill>
          <a:blip r:embed="rId3"/>
          <a:stretch>
            <a:fillRect/>
          </a:stretch>
        </p:blipFill>
        <p:spPr>
          <a:xfrm>
            <a:off x="660400" y="609600"/>
            <a:ext cx="10871200" cy="444500"/>
          </a:xfrm>
          <a:prstGeom prst="rect">
            <a:avLst/>
          </a:prstGeom>
        </p:spPr>
      </p:pic>
      <p:pic>
        <p:nvPicPr>
          <p:cNvPr id="4" name="01 up · From managing biology to manag" descr="From managing biology to managing liquidity."/>
          <p:cNvPicPr>
            <a:picLocks noChangeAspect="1"/>
          </p:cNvPicPr>
          <p:nvPr/>
        </p:nvPicPr>
        <p:blipFill>
          <a:blip r:embed="rId4"/>
          <a:stretch>
            <a:fillRect/>
          </a:stretch>
        </p:blipFill>
        <p:spPr>
          <a:xfrm>
            <a:off x="660400" y="977900"/>
            <a:ext cx="9829800" cy="742950"/>
          </a:xfrm>
          <a:prstGeom prst="rect">
            <a:avLst/>
          </a:prstGeom>
        </p:spPr>
      </p:pic>
      <p:pic>
        <p:nvPicPr>
          <p:cNvPr id="5" name="02 up · Dimension Legacy supply chain " descr="Dimension Legacy supply chain Thermal Trace The goal Delay spoilage (defensive) Maximise yield (offensive) Asset view A degrading physical object An asset with a live, priced value Inventory rule FEFO"/>
          <p:cNvPicPr>
            <a:picLocks noChangeAspect="1"/>
          </p:cNvPicPr>
          <p:nvPr/>
        </p:nvPicPr>
        <p:blipFill>
          <a:blip r:embed="rId5"/>
          <a:stretch>
            <a:fillRect/>
          </a:stretch>
        </p:blipFill>
        <p:spPr>
          <a:xfrm>
            <a:off x="660400" y="1689100"/>
            <a:ext cx="10871200" cy="3098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8" presetID="2" presetClass="entr" presetSubtype="4" fill="hold" decel="100000"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6" dur="900" fill="hold"/>
                                        <p:tgtEl>
                                          <p:spTgt spid="4"/>
                                        </p:tgtEl>
                                        <p:attrNameLst>
                                          <p:attrName>ppt_y</p:attrName>
                                        </p:attrNameLst>
                                      </p:cBhvr>
                                      <p:tavLst>
                                        <p:tav tm="0">
                                          <p:val>
                                            <p:strVal val="#ppt_y+0.03"/>
                                          </p:val>
                                        </p:tav>
                                        <p:tav tm="100000">
                                          <p:val>
                                            <p:strVal val="#ppt_y"/>
                                          </p:val>
                                        </p:tav>
                                      </p:tavLst>
                                    </p:anim>
                                    <p:animEffect transition="in" filter="fade">
                                      <p:cBhvr>
                                        <p:cTn id="7" dur="900"/>
                                        <p:tgtEl>
                                          <p:spTgt spid="4"/>
                                        </p:tgtEl>
                                      </p:cBhvr>
                                    </p:animEffect>
                                  </p:childTnLst>
                                </p:cTn>
                              </p:par>
                              <p:par>
                                <p:cTn id="12" presetID="2" presetClass="entr" presetSubtype="4" fill="hold" decel="100000"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0" dur="900" fill="hold"/>
                                        <p:tgtEl>
                                          <p:spTgt spid="5"/>
                                        </p:tgtEl>
                                        <p:attrNameLst>
                                          <p:attrName>ppt_y</p:attrName>
                                        </p:attrNameLst>
                                      </p:cBhvr>
                                      <p:tavLst>
                                        <p:tav tm="0">
                                          <p:val>
                                            <p:strVal val="#ppt_y+0.03"/>
                                          </p:val>
                                        </p:tav>
                                        <p:tav tm="100000">
                                          <p:val>
                                            <p:strVal val="#ppt_y"/>
                                          </p:val>
                                        </p:tav>
                                      </p:tavLst>
                                    </p:anim>
                                    <p:animEffect transition="in" filter="fade">
                                      <p:cBhvr>
                                        <p:cTn id="11" dur="9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usiness model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Hypotheses to validate · not m" descr="Hypotheses to validate · not market prices"/>
          <p:cNvPicPr>
            <a:picLocks noChangeAspect="1"/>
          </p:cNvPicPr>
          <p:nvPr/>
        </p:nvPicPr>
        <p:blipFill>
          <a:blip r:embed="rId3"/>
          <a:stretch>
            <a:fillRect/>
          </a:stretch>
        </p:blipFill>
        <p:spPr>
          <a:xfrm>
            <a:off x="7594600" y="558800"/>
            <a:ext cx="3937000" cy="546100"/>
          </a:xfrm>
          <a:prstGeom prst="rect">
            <a:avLst/>
          </a:prstGeom>
        </p:spPr>
      </p:pic>
      <p:pic>
        <p:nvPicPr>
          <p:cNvPr id="4" name="01 fade · 14Business model" descr="14Business model"/>
          <p:cNvPicPr>
            <a:picLocks noChangeAspect="1"/>
          </p:cNvPicPr>
          <p:nvPr/>
        </p:nvPicPr>
        <p:blipFill>
          <a:blip r:embed="rId4"/>
          <a:stretch>
            <a:fillRect/>
          </a:stretch>
        </p:blipFill>
        <p:spPr>
          <a:xfrm>
            <a:off x="660400" y="609600"/>
            <a:ext cx="10871200" cy="444500"/>
          </a:xfrm>
          <a:prstGeom prst="rect">
            <a:avLst/>
          </a:prstGeom>
        </p:spPr>
      </p:pic>
      <p:pic>
        <p:nvPicPr>
          <p:cNvPr id="5" name="02 up · Priced against verified value." descr="Priced against verified value."/>
          <p:cNvPicPr>
            <a:picLocks noChangeAspect="1"/>
          </p:cNvPicPr>
          <p:nvPr/>
        </p:nvPicPr>
        <p:blipFill>
          <a:blip r:embed="rId5"/>
          <a:stretch>
            <a:fillRect/>
          </a:stretch>
        </p:blipFill>
        <p:spPr>
          <a:xfrm>
            <a:off x="660400" y="977900"/>
            <a:ext cx="9829800" cy="838200"/>
          </a:xfrm>
          <a:prstGeom prst="rect">
            <a:avLst/>
          </a:prstGeom>
        </p:spPr>
      </p:pic>
      <p:pic>
        <p:nvPicPr>
          <p:cNvPr id="6" name="03 up · QAR 100–175K Pilot · 12–16 wee" descr="QAR 100–175K Pilot · 12–16 weeks 3–5 facilities, one anchor customer: a cold-chain operator or hypermarket."/>
          <p:cNvPicPr>
            <a:picLocks noChangeAspect="1"/>
          </p:cNvPicPr>
          <p:nvPr/>
        </p:nvPicPr>
        <p:blipFill>
          <a:blip r:embed="rId6"/>
          <a:stretch>
            <a:fillRect/>
          </a:stretch>
        </p:blipFill>
        <p:spPr>
          <a:xfrm>
            <a:off x="660400" y="1809750"/>
            <a:ext cx="3708400" cy="2305050"/>
          </a:xfrm>
          <a:prstGeom prst="rect">
            <a:avLst/>
          </a:prstGeom>
        </p:spPr>
      </p:pic>
      <p:pic>
        <p:nvPicPr>
          <p:cNvPr id="7" name="04 up · QAR 120–240K / yr Enterprise s" descr="QAR 120–240K / yr Enterprise subscription Plus implementation fees for heavy installs."/>
          <p:cNvPicPr>
            <a:picLocks noChangeAspect="1"/>
          </p:cNvPicPr>
          <p:nvPr/>
        </p:nvPicPr>
        <p:blipFill>
          <a:blip r:embed="rId7"/>
          <a:stretch>
            <a:fillRect/>
          </a:stretch>
        </p:blipFill>
        <p:spPr>
          <a:xfrm>
            <a:off x="4241800" y="1809750"/>
            <a:ext cx="3708400" cy="2305050"/>
          </a:xfrm>
          <a:prstGeom prst="rect">
            <a:avLst/>
          </a:prstGeom>
        </p:spPr>
      </p:pic>
      <p:pic>
        <p:nvPicPr>
          <p:cNvPr id="8" name="05 up · ≥ 3× The value test Avoided lo" descr="≥ 3× The value test Avoided loss must be at least 3× the fee: QAR 540K of benefit to justify a QAR 180K fee."/>
          <p:cNvPicPr>
            <a:picLocks noChangeAspect="1"/>
          </p:cNvPicPr>
          <p:nvPr/>
        </p:nvPicPr>
        <p:blipFill>
          <a:blip r:embed="rId8"/>
          <a:stretch>
            <a:fillRect/>
          </a:stretch>
        </p:blipFill>
        <p:spPr>
          <a:xfrm>
            <a:off x="7823200" y="1809750"/>
            <a:ext cx="3708400" cy="2305050"/>
          </a:xfrm>
          <a:prstGeom prst="rect">
            <a:avLst/>
          </a:prstGeom>
        </p:spPr>
      </p:pic>
      <p:pic>
        <p:nvPicPr>
          <p:cNvPr id="9" name="06 up · Month-12 target: QAR 300–500K " descr="Month-12 target: QAR 300–500K contracted ARR. A target, not a forecast."/>
          <p:cNvPicPr>
            <a:picLocks noChangeAspect="1"/>
          </p:cNvPicPr>
          <p:nvPr/>
        </p:nvPicPr>
        <p:blipFill>
          <a:blip r:embed="rId9"/>
          <a:stretch>
            <a:fillRect/>
          </a:stretch>
        </p:blipFill>
        <p:spPr>
          <a:xfrm>
            <a:off x="660400" y="4057650"/>
            <a:ext cx="10871200" cy="8826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20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7" presetID="10" presetClass="entr" presetSubtype="0" fill="hold" decel="10000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6" dur="900"/>
                                        <p:tgtEl>
                                          <p:spTgt spid="4"/>
                                        </p:tgtEl>
                                      </p:cBhvr>
                                    </p:animEffect>
                                  </p:childTnLst>
                                </p:cTn>
                              </p:par>
                              <p:par>
                                <p:cTn id="11" presetID="2" presetClass="entr" presetSubtype="4" fill="hold" decel="100000" nodeType="withEffect">
                                  <p:stCondLst>
                                    <p:cond delay="12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9" dur="900" fill="hold"/>
                                        <p:tgtEl>
                                          <p:spTgt spid="5"/>
                                        </p:tgtEl>
                                        <p:attrNameLst>
                                          <p:attrName>ppt_y</p:attrName>
                                        </p:attrNameLst>
                                      </p:cBhvr>
                                      <p:tavLst>
                                        <p:tav tm="0">
                                          <p:val>
                                            <p:strVal val="#ppt_y+0.03"/>
                                          </p:val>
                                        </p:tav>
                                        <p:tav tm="100000">
                                          <p:val>
                                            <p:strVal val="#ppt_y"/>
                                          </p:val>
                                        </p:tav>
                                      </p:tavLst>
                                    </p:anim>
                                    <p:animEffect transition="in" filter="fade">
                                      <p:cBhvr>
                                        <p:cTn id="10" dur="900"/>
                                        <p:tgtEl>
                                          <p:spTgt spid="5"/>
                                        </p:tgtEl>
                                      </p:cBhvr>
                                    </p:animEffect>
                                  </p:childTnLst>
                                </p:cTn>
                              </p:par>
                              <p:par>
                                <p:cTn id="15" presetID="2" presetClass="entr" presetSubtype="4" fill="hold" decel="100000" nodeType="withEffect">
                                  <p:stCondLst>
                                    <p:cond delay="3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3" dur="900" fill="hold"/>
                                        <p:tgtEl>
                                          <p:spTgt spid="6"/>
                                        </p:tgtEl>
                                        <p:attrNameLst>
                                          <p:attrName>ppt_y</p:attrName>
                                        </p:attrNameLst>
                                      </p:cBhvr>
                                      <p:tavLst>
                                        <p:tav tm="0">
                                          <p:val>
                                            <p:strVal val="#ppt_y+0.03"/>
                                          </p:val>
                                        </p:tav>
                                        <p:tav tm="100000">
                                          <p:val>
                                            <p:strVal val="#ppt_y"/>
                                          </p:val>
                                        </p:tav>
                                      </p:tavLst>
                                    </p:anim>
                                    <p:animEffect transition="in" filter="fade">
                                      <p:cBhvr>
                                        <p:cTn id="14" dur="900"/>
                                        <p:tgtEl>
                                          <p:spTgt spid="6"/>
                                        </p:tgtEl>
                                      </p:cBhvr>
                                    </p:animEffect>
                                  </p:childTnLst>
                                </p:cTn>
                              </p:par>
                              <p:par>
                                <p:cTn id="19" presetID="2" presetClass="entr" presetSubtype="4" fill="hold" decel="100000" nodeType="withEffect">
                                  <p:stCondLst>
                                    <p:cond delay="45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17" dur="900" fill="hold"/>
                                        <p:tgtEl>
                                          <p:spTgt spid="7"/>
                                        </p:tgtEl>
                                        <p:attrNameLst>
                                          <p:attrName>ppt_y</p:attrName>
                                        </p:attrNameLst>
                                      </p:cBhvr>
                                      <p:tavLst>
                                        <p:tav tm="0">
                                          <p:val>
                                            <p:strVal val="#ppt_y+0.03"/>
                                          </p:val>
                                        </p:tav>
                                        <p:tav tm="100000">
                                          <p:val>
                                            <p:strVal val="#ppt_y"/>
                                          </p:val>
                                        </p:tav>
                                      </p:tavLst>
                                    </p:anim>
                                    <p:animEffect transition="in" filter="fade">
                                      <p:cBhvr>
                                        <p:cTn id="18" dur="900"/>
                                        <p:tgtEl>
                                          <p:spTgt spid="7"/>
                                        </p:tgtEl>
                                      </p:cBhvr>
                                    </p:animEffect>
                                  </p:childTnLst>
                                </p:cTn>
                              </p:par>
                              <p:par>
                                <p:cTn id="23" presetID="2" presetClass="entr" presetSubtype="4" fill="hold" decel="100000" nodeType="withEffect">
                                  <p:stCondLst>
                                    <p:cond delay="60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1" dur="900" fill="hold"/>
                                        <p:tgtEl>
                                          <p:spTgt spid="8"/>
                                        </p:tgtEl>
                                        <p:attrNameLst>
                                          <p:attrName>ppt_y</p:attrName>
                                        </p:attrNameLst>
                                      </p:cBhvr>
                                      <p:tavLst>
                                        <p:tav tm="0">
                                          <p:val>
                                            <p:strVal val="#ppt_y+0.03"/>
                                          </p:val>
                                        </p:tav>
                                        <p:tav tm="100000">
                                          <p:val>
                                            <p:strVal val="#ppt_y"/>
                                          </p:val>
                                        </p:tav>
                                      </p:tavLst>
                                    </p:anim>
                                    <p:animEffect transition="in" filter="fade">
                                      <p:cBhvr>
                                        <p:cTn id="22" dur="900"/>
                                        <p:tgtEl>
                                          <p:spTgt spid="8"/>
                                        </p:tgtEl>
                                      </p:cBhvr>
                                    </p:animEffect>
                                  </p:childTnLst>
                                </p:cTn>
                              </p:par>
                              <p:par>
                                <p:cTn id="27" presetID="2" presetClass="entr" presetSubtype="4" fill="hold" decel="100000" nodeType="withEffect">
                                  <p:stCondLst>
                                    <p:cond delay="80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5" dur="900" fill="hold"/>
                                        <p:tgtEl>
                                          <p:spTgt spid="9"/>
                                        </p:tgtEl>
                                        <p:attrNameLst>
                                          <p:attrName>ppt_y</p:attrName>
                                        </p:attrNameLst>
                                      </p:cBhvr>
                                      <p:tavLst>
                                        <p:tav tm="0">
                                          <p:val>
                                            <p:strVal val="#ppt_y+0.03"/>
                                          </p:val>
                                        </p:tav>
                                        <p:tav tm="100000">
                                          <p:val>
                                            <p:strVal val="#ppt_y"/>
                                          </p:val>
                                        </p:tav>
                                      </p:tavLst>
                                    </p:anim>
                                    <p:animEffect transition="in" filter="fade">
                                      <p:cBhvr>
                                        <p:cTn id="26" dur="9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The ask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15The ask" descr="15The ask"/>
          <p:cNvPicPr>
            <a:picLocks noChangeAspect="1"/>
          </p:cNvPicPr>
          <p:nvPr/>
        </p:nvPicPr>
        <p:blipFill>
          <a:blip r:embed="rId3"/>
          <a:stretch>
            <a:fillRect/>
          </a:stretch>
        </p:blipFill>
        <p:spPr>
          <a:xfrm>
            <a:off x="660400" y="609600"/>
            <a:ext cx="10871200" cy="444500"/>
          </a:xfrm>
          <a:prstGeom prst="rect">
            <a:avLst/>
          </a:prstGeom>
        </p:spPr>
      </p:pic>
      <p:pic>
        <p:nvPicPr>
          <p:cNvPr id="4" name="01 up · Twelve months to prove it in t" descr="Twelve months to prove it in the field."/>
          <p:cNvPicPr>
            <a:picLocks noChangeAspect="1"/>
          </p:cNvPicPr>
          <p:nvPr/>
        </p:nvPicPr>
        <p:blipFill>
          <a:blip r:embed="rId4"/>
          <a:stretch>
            <a:fillRect/>
          </a:stretch>
        </p:blipFill>
        <p:spPr>
          <a:xfrm>
            <a:off x="660400" y="977900"/>
            <a:ext cx="9829800" cy="838200"/>
          </a:xfrm>
          <a:prstGeom prst="rect">
            <a:avLst/>
          </a:prstGeom>
        </p:spPr>
      </p:pic>
      <p:pic>
        <p:nvPicPr>
          <p:cNvPr id="5" name="02 up · QAR 1,850,000" descr="QAR 1,850,000"/>
          <p:cNvPicPr>
            <a:picLocks noChangeAspect="1"/>
          </p:cNvPicPr>
          <p:nvPr/>
        </p:nvPicPr>
        <p:blipFill>
          <a:blip r:embed="rId5"/>
          <a:stretch>
            <a:fillRect/>
          </a:stretch>
        </p:blipFill>
        <p:spPr>
          <a:xfrm>
            <a:off x="660400" y="1784350"/>
            <a:ext cx="6350000" cy="971550"/>
          </a:xfrm>
          <a:prstGeom prst="rect">
            <a:avLst/>
          </a:prstGeom>
        </p:spPr>
      </p:pic>
      <p:pic>
        <p:nvPicPr>
          <p:cNvPr id="6" name="03 fade · ≈ US$508,000 · 12 months · pre" descr="≈ US$508,000 · 12 months · pre-seed or strategic round"/>
          <p:cNvPicPr>
            <a:picLocks noChangeAspect="1"/>
          </p:cNvPicPr>
          <p:nvPr/>
        </p:nvPicPr>
        <p:blipFill>
          <a:blip r:embed="rId6"/>
          <a:stretch>
            <a:fillRect/>
          </a:stretch>
        </p:blipFill>
        <p:spPr>
          <a:xfrm>
            <a:off x="660400" y="2559050"/>
            <a:ext cx="6350000" cy="488950"/>
          </a:xfrm>
          <a:prstGeom prst="rect">
            <a:avLst/>
          </a:prstGeom>
        </p:spPr>
      </p:pic>
      <p:pic>
        <p:nvPicPr>
          <p:cNvPr id="7" name="04 up · graphic" descr=""/>
          <p:cNvPicPr>
            <a:picLocks noChangeAspect="1"/>
          </p:cNvPicPr>
          <p:nvPr/>
        </p:nvPicPr>
        <p:blipFill>
          <a:blip r:embed="rId7"/>
          <a:stretch>
            <a:fillRect/>
          </a:stretch>
        </p:blipFill>
        <p:spPr>
          <a:xfrm>
            <a:off x="660400" y="2990850"/>
            <a:ext cx="6350000" cy="527050"/>
          </a:xfrm>
          <a:prstGeom prst="rect">
            <a:avLst/>
          </a:prstGeom>
        </p:spPr>
      </p:pic>
      <p:pic>
        <p:nvPicPr>
          <p:cNvPr id="8" name="05 up · Core five-person engineering t" descr="Core five-person engineering team55.1%"/>
          <p:cNvPicPr>
            <a:picLocks noChangeAspect="1"/>
          </p:cNvPicPr>
          <p:nvPr/>
        </p:nvPicPr>
        <p:blipFill>
          <a:blip r:embed="rId8"/>
          <a:stretch>
            <a:fillRect/>
          </a:stretch>
        </p:blipFill>
        <p:spPr>
          <a:xfrm>
            <a:off x="660400" y="3371850"/>
            <a:ext cx="6350000" cy="685800"/>
          </a:xfrm>
          <a:prstGeom prst="rect">
            <a:avLst/>
          </a:prstGeom>
        </p:spPr>
      </p:pic>
      <p:pic>
        <p:nvPicPr>
          <p:cNvPr id="9" name="06 up · Sensors, deployment, cloud, in" descr="Sensors, deployment, cloud, integration23.5%"/>
          <p:cNvPicPr>
            <a:picLocks noChangeAspect="1"/>
          </p:cNvPicPr>
          <p:nvPr/>
        </p:nvPicPr>
        <p:blipFill>
          <a:blip r:embed="rId9"/>
          <a:stretch>
            <a:fillRect/>
          </a:stretch>
        </p:blipFill>
        <p:spPr>
          <a:xfrm>
            <a:off x="660400" y="3746500"/>
            <a:ext cx="6350000" cy="685800"/>
          </a:xfrm>
          <a:prstGeom prst="rect">
            <a:avLst/>
          </a:prstGeom>
        </p:spPr>
      </p:pic>
      <p:pic>
        <p:nvPicPr>
          <p:cNvPr id="10" name="07 up · Validation, customers, legal10" descr="Validation, customers, legal10.8%"/>
          <p:cNvPicPr>
            <a:picLocks noChangeAspect="1"/>
          </p:cNvPicPr>
          <p:nvPr/>
        </p:nvPicPr>
        <p:blipFill>
          <a:blip r:embed="rId10"/>
          <a:stretch>
            <a:fillRect/>
          </a:stretch>
        </p:blipFill>
        <p:spPr>
          <a:xfrm>
            <a:off x="660400" y="4121150"/>
            <a:ext cx="6350000" cy="685800"/>
          </a:xfrm>
          <a:prstGeom prst="rect">
            <a:avLst/>
          </a:prstGeom>
        </p:spPr>
      </p:pic>
      <p:pic>
        <p:nvPicPr>
          <p:cNvPr id="11" name="08 up · Contingency reserve10.5%" descr="Contingency reserve10.5%"/>
          <p:cNvPicPr>
            <a:picLocks noChangeAspect="1"/>
          </p:cNvPicPr>
          <p:nvPr/>
        </p:nvPicPr>
        <p:blipFill>
          <a:blip r:embed="rId11"/>
          <a:stretch>
            <a:fillRect/>
          </a:stretch>
        </p:blipFill>
        <p:spPr>
          <a:xfrm>
            <a:off x="660400" y="4495800"/>
            <a:ext cx="6350000" cy="685800"/>
          </a:xfrm>
          <a:prstGeom prst="rect">
            <a:avLst/>
          </a:prstGeom>
        </p:spPr>
      </p:pic>
      <p:pic>
        <p:nvPicPr>
          <p:cNvPr id="12" name="09 right · What it buys in 12 months An a" descr="What it buys in 12 months An anchor customer live at 3–5 facilities Avoided loss measured at ≥ 3× the platform fee Commercial Reserve tested in controlled trials An annual contract and a second custom"/>
          <p:cNvPicPr>
            <a:picLocks noChangeAspect="1"/>
          </p:cNvPicPr>
          <p:nvPr/>
        </p:nvPicPr>
        <p:blipFill>
          <a:blip r:embed="rId12"/>
          <a:stretch>
            <a:fillRect/>
          </a:stretch>
        </p:blipFill>
        <p:spPr>
          <a:xfrm>
            <a:off x="7162800" y="1784350"/>
            <a:ext cx="4368800" cy="3937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8" presetID="2" presetClass="entr" presetSubtype="4" fill="hold" decel="100000"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6" dur="900" fill="hold"/>
                                        <p:tgtEl>
                                          <p:spTgt spid="4"/>
                                        </p:tgtEl>
                                        <p:attrNameLst>
                                          <p:attrName>ppt_y</p:attrName>
                                        </p:attrNameLst>
                                      </p:cBhvr>
                                      <p:tavLst>
                                        <p:tav tm="0">
                                          <p:val>
                                            <p:strVal val="#ppt_y+0.03"/>
                                          </p:val>
                                        </p:tav>
                                        <p:tav tm="100000">
                                          <p:val>
                                            <p:strVal val="#ppt_y"/>
                                          </p:val>
                                        </p:tav>
                                      </p:tavLst>
                                    </p:anim>
                                    <p:animEffect transition="in" filter="fade">
                                      <p:cBhvr>
                                        <p:cTn id="7" dur="900"/>
                                        <p:tgtEl>
                                          <p:spTgt spid="4"/>
                                        </p:tgtEl>
                                      </p:cBhvr>
                                    </p:animEffect>
                                  </p:childTnLst>
                                </p:cTn>
                              </p:par>
                              <p:par>
                                <p:cTn id="12" presetID="2" presetClass="entr" presetSubtype="4" fill="hold" decel="100000"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0" dur="900" fill="hold"/>
                                        <p:tgtEl>
                                          <p:spTgt spid="5"/>
                                        </p:tgtEl>
                                        <p:attrNameLst>
                                          <p:attrName>ppt_y</p:attrName>
                                        </p:attrNameLst>
                                      </p:cBhvr>
                                      <p:tavLst>
                                        <p:tav tm="0">
                                          <p:val>
                                            <p:strVal val="#ppt_y+0.03"/>
                                          </p:val>
                                        </p:tav>
                                        <p:tav tm="100000">
                                          <p:val>
                                            <p:strVal val="#ppt_y"/>
                                          </p:val>
                                        </p:tav>
                                      </p:tavLst>
                                    </p:anim>
                                    <p:animEffect transition="in" filter="fade">
                                      <p:cBhvr>
                                        <p:cTn id="11" dur="900"/>
                                        <p:tgtEl>
                                          <p:spTgt spid="5"/>
                                        </p:tgtEl>
                                      </p:cBhvr>
                                    </p:animEffect>
                                  </p:childTnLst>
                                </p:cTn>
                              </p:par>
                              <p:par>
                                <p:cTn id="15" presetID="10" presetClass="entr" presetSubtype="0" fill="hold" decel="100000" nodeType="withEffect">
                                  <p:stCondLst>
                                    <p:cond delay="500"/>
                                  </p:stCondLst>
                                  <p:childTnLst>
                                    <p:set>
                                      <p:cBhvr>
                                        <p:cTn id="16" dur="1" fill="hold">
                                          <p:stCondLst>
                                            <p:cond delay="0"/>
                                          </p:stCondLst>
                                        </p:cTn>
                                        <p:tgtEl>
                                          <p:spTgt spid="6"/>
                                        </p:tgtEl>
                                        <p:attrNameLst>
                                          <p:attrName>style.visibility</p:attrName>
                                        </p:attrNameLst>
                                      </p:cBhvr>
                                      <p:to>
                                        <p:strVal val="visible"/>
                                      </p:to>
                                    </p:set>
                                    <p:animEffect transition="in" filter="fade">
                                      <p:cBhvr>
                                        <p:cTn id="14" dur="900"/>
                                        <p:tgtEl>
                                          <p:spTgt spid="6"/>
                                        </p:tgtEl>
                                      </p:cBhvr>
                                    </p:animEffect>
                                  </p:childTnLst>
                                </p:cTn>
                              </p:par>
                              <p:par>
                                <p:cTn id="19" presetID="2" presetClass="entr" presetSubtype="4" fill="hold" decel="100000" nodeType="withEffect">
                                  <p:stCondLst>
                                    <p:cond delay="7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17" dur="900" fill="hold"/>
                                        <p:tgtEl>
                                          <p:spTgt spid="7"/>
                                        </p:tgtEl>
                                        <p:attrNameLst>
                                          <p:attrName>ppt_y</p:attrName>
                                        </p:attrNameLst>
                                      </p:cBhvr>
                                      <p:tavLst>
                                        <p:tav tm="0">
                                          <p:val>
                                            <p:strVal val="#ppt_y+0.03"/>
                                          </p:val>
                                        </p:tav>
                                        <p:tav tm="100000">
                                          <p:val>
                                            <p:strVal val="#ppt_y"/>
                                          </p:val>
                                        </p:tav>
                                      </p:tavLst>
                                    </p:anim>
                                    <p:animEffect transition="in" filter="fade">
                                      <p:cBhvr>
                                        <p:cTn id="18" dur="900"/>
                                        <p:tgtEl>
                                          <p:spTgt spid="7"/>
                                        </p:tgtEl>
                                      </p:cBhvr>
                                    </p:animEffect>
                                  </p:childTnLst>
                                </p:cTn>
                              </p:par>
                              <p:par>
                                <p:cTn id="23" presetID="2" presetClass="entr" presetSubtype="4" fill="hold" decel="100000" nodeType="withEffect">
                                  <p:stCondLst>
                                    <p:cond delay="90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1" dur="900" fill="hold"/>
                                        <p:tgtEl>
                                          <p:spTgt spid="8"/>
                                        </p:tgtEl>
                                        <p:attrNameLst>
                                          <p:attrName>ppt_y</p:attrName>
                                        </p:attrNameLst>
                                      </p:cBhvr>
                                      <p:tavLst>
                                        <p:tav tm="0">
                                          <p:val>
                                            <p:strVal val="#ppt_y+0.03"/>
                                          </p:val>
                                        </p:tav>
                                        <p:tav tm="100000">
                                          <p:val>
                                            <p:strVal val="#ppt_y"/>
                                          </p:val>
                                        </p:tav>
                                      </p:tavLst>
                                    </p:anim>
                                    <p:animEffect transition="in" filter="fade">
                                      <p:cBhvr>
                                        <p:cTn id="22" dur="900"/>
                                        <p:tgtEl>
                                          <p:spTgt spid="8"/>
                                        </p:tgtEl>
                                      </p:cBhvr>
                                    </p:animEffect>
                                  </p:childTnLst>
                                </p:cTn>
                              </p:par>
                              <p:par>
                                <p:cTn id="27" presetID="2" presetClass="entr" presetSubtype="4" fill="hold" decel="100000" nodeType="withEffect">
                                  <p:stCondLst>
                                    <p:cond delay="100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5" dur="900" fill="hold"/>
                                        <p:tgtEl>
                                          <p:spTgt spid="9"/>
                                        </p:tgtEl>
                                        <p:attrNameLst>
                                          <p:attrName>ppt_y</p:attrName>
                                        </p:attrNameLst>
                                      </p:cBhvr>
                                      <p:tavLst>
                                        <p:tav tm="0">
                                          <p:val>
                                            <p:strVal val="#ppt_y+0.03"/>
                                          </p:val>
                                        </p:tav>
                                        <p:tav tm="100000">
                                          <p:val>
                                            <p:strVal val="#ppt_y"/>
                                          </p:val>
                                        </p:tav>
                                      </p:tavLst>
                                    </p:anim>
                                    <p:animEffect transition="in" filter="fade">
                                      <p:cBhvr>
                                        <p:cTn id="26" dur="900"/>
                                        <p:tgtEl>
                                          <p:spTgt spid="9"/>
                                        </p:tgtEl>
                                      </p:cBhvr>
                                    </p:animEffect>
                                  </p:childTnLst>
                                </p:cTn>
                              </p:par>
                              <p:par>
                                <p:cTn id="31" presetID="2" presetClass="entr" presetSubtype="4" fill="hold" decel="100000" nodeType="withEffect">
                                  <p:stCondLst>
                                    <p:cond delay="110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29" dur="900" fill="hold"/>
                                        <p:tgtEl>
                                          <p:spTgt spid="10"/>
                                        </p:tgtEl>
                                        <p:attrNameLst>
                                          <p:attrName>ppt_y</p:attrName>
                                        </p:attrNameLst>
                                      </p:cBhvr>
                                      <p:tavLst>
                                        <p:tav tm="0">
                                          <p:val>
                                            <p:strVal val="#ppt_y+0.03"/>
                                          </p:val>
                                        </p:tav>
                                        <p:tav tm="100000">
                                          <p:val>
                                            <p:strVal val="#ppt_y"/>
                                          </p:val>
                                        </p:tav>
                                      </p:tavLst>
                                    </p:anim>
                                    <p:animEffect transition="in" filter="fade">
                                      <p:cBhvr>
                                        <p:cTn id="30" dur="900"/>
                                        <p:tgtEl>
                                          <p:spTgt spid="10"/>
                                        </p:tgtEl>
                                      </p:cBhvr>
                                    </p:animEffect>
                                  </p:childTnLst>
                                </p:cTn>
                              </p:par>
                              <p:par>
                                <p:cTn id="35" presetID="2" presetClass="entr" presetSubtype="4" fill="hold" decel="100000" nodeType="withEffect">
                                  <p:stCondLst>
                                    <p:cond delay="120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3" dur="900" fill="hold"/>
                                        <p:tgtEl>
                                          <p:spTgt spid="11"/>
                                        </p:tgtEl>
                                        <p:attrNameLst>
                                          <p:attrName>ppt_y</p:attrName>
                                        </p:attrNameLst>
                                      </p:cBhvr>
                                      <p:tavLst>
                                        <p:tav tm="0">
                                          <p:val>
                                            <p:strVal val="#ppt_y+0.03"/>
                                          </p:val>
                                        </p:tav>
                                        <p:tav tm="100000">
                                          <p:val>
                                            <p:strVal val="#ppt_y"/>
                                          </p:val>
                                        </p:tav>
                                      </p:tavLst>
                                    </p:anim>
                                    <p:animEffect transition="in" filter="fade">
                                      <p:cBhvr>
                                        <p:cTn id="34" dur="900"/>
                                        <p:tgtEl>
                                          <p:spTgt spid="11"/>
                                        </p:tgtEl>
                                      </p:cBhvr>
                                    </p:animEffect>
                                  </p:childTnLst>
                                </p:cTn>
                              </p:par>
                              <p:par>
                                <p:cTn id="39" presetID="2" presetClass="entr" presetSubtype="2" fill="hold" decel="100000" nodeType="withEffect">
                                  <p:stCondLst>
                                    <p:cond delay="60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37" dur="900" fill="hold"/>
                                        <p:tgtEl>
                                          <p:spTgt spid="12"/>
                                        </p:tgtEl>
                                        <p:attrNameLst>
                                          <p:attrName>ppt_x</p:attrName>
                                        </p:attrNameLst>
                                      </p:cBhvr>
                                      <p:tavLst>
                                        <p:tav tm="0">
                                          <p:val>
                                            <p:strVal val="#ppt_x+0.025"/>
                                          </p:val>
                                        </p:tav>
                                        <p:tav tm="100000">
                                          <p:val>
                                            <p:strVal val="#ppt_x"/>
                                          </p:val>
                                        </p:tav>
                                      </p:tavLst>
                                    </p:anim>
                                    <p:animEffect transition="in" filter="fade">
                                      <p:cBhvr>
                                        <p:cTn id="38" dur="9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The ask · How the money flows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Pre-seed budget · QAR" descr="Pre-seed budget · QAR"/>
          <p:cNvPicPr>
            <a:picLocks noChangeAspect="1"/>
          </p:cNvPicPr>
          <p:nvPr/>
        </p:nvPicPr>
        <p:blipFill>
          <a:blip r:embed="rId3"/>
          <a:stretch>
            <a:fillRect/>
          </a:stretch>
        </p:blipFill>
        <p:spPr>
          <a:xfrm>
            <a:off x="9239250" y="558800"/>
            <a:ext cx="2292350" cy="546100"/>
          </a:xfrm>
          <a:prstGeom prst="rect">
            <a:avLst/>
          </a:prstGeom>
        </p:spPr>
      </p:pic>
      <p:pic>
        <p:nvPicPr>
          <p:cNvPr id="4" name="01 fade · 16The ask · How the money flow" descr="16The ask · How the money flows"/>
          <p:cNvPicPr>
            <a:picLocks noChangeAspect="1"/>
          </p:cNvPicPr>
          <p:nvPr/>
        </p:nvPicPr>
        <p:blipFill>
          <a:blip r:embed="rId4"/>
          <a:stretch>
            <a:fillRect/>
          </a:stretch>
        </p:blipFill>
        <p:spPr>
          <a:xfrm>
            <a:off x="660400" y="609600"/>
            <a:ext cx="10871200" cy="444500"/>
          </a:xfrm>
          <a:prstGeom prst="rect">
            <a:avLst/>
          </a:prstGeom>
        </p:spPr>
      </p:pic>
      <p:pic>
        <p:nvPicPr>
          <p:cNvPr id="5" name="02 up · Every riyal, from round to lin" descr="Every riyal, from round to line item."/>
          <p:cNvPicPr>
            <a:picLocks noChangeAspect="1"/>
          </p:cNvPicPr>
          <p:nvPr/>
        </p:nvPicPr>
        <p:blipFill>
          <a:blip r:embed="rId5"/>
          <a:stretch>
            <a:fillRect/>
          </a:stretch>
        </p:blipFill>
        <p:spPr>
          <a:xfrm>
            <a:off x="660400" y="977900"/>
            <a:ext cx="9829800" cy="755650"/>
          </a:xfrm>
          <a:prstGeom prst="rect">
            <a:avLst/>
          </a:prstGeom>
        </p:spPr>
      </p:pic>
      <p:pic>
        <p:nvPicPr>
          <p:cNvPr id="6" name="03 fade · graphic" descr=""/>
          <p:cNvPicPr>
            <a:picLocks noChangeAspect="1"/>
          </p:cNvPicPr>
          <p:nvPr/>
        </p:nvPicPr>
        <p:blipFill>
          <a:blip r:embed="rId6"/>
          <a:stretch>
            <a:fillRect/>
          </a:stretch>
        </p:blipFill>
        <p:spPr>
          <a:xfrm>
            <a:off x="2419350" y="1600200"/>
            <a:ext cx="2159000" cy="2463800"/>
          </a:xfrm>
          <a:prstGeom prst="rect">
            <a:avLst/>
          </a:prstGeom>
        </p:spPr>
      </p:pic>
      <p:pic>
        <p:nvPicPr>
          <p:cNvPr id="7" name="04 fade · graphic" descr=""/>
          <p:cNvPicPr>
            <a:picLocks noChangeAspect="1"/>
          </p:cNvPicPr>
          <p:nvPr/>
        </p:nvPicPr>
        <p:blipFill>
          <a:blip r:embed="rId7"/>
          <a:stretch>
            <a:fillRect/>
          </a:stretch>
        </p:blipFill>
        <p:spPr>
          <a:xfrm>
            <a:off x="6115050" y="1600200"/>
            <a:ext cx="1562100" cy="2266950"/>
          </a:xfrm>
          <a:prstGeom prst="rect">
            <a:avLst/>
          </a:prstGeom>
        </p:spPr>
      </p:pic>
      <p:pic>
        <p:nvPicPr>
          <p:cNvPr id="8" name="05 fade · graphic" descr=""/>
          <p:cNvPicPr>
            <a:picLocks noChangeAspect="1"/>
          </p:cNvPicPr>
          <p:nvPr/>
        </p:nvPicPr>
        <p:blipFill>
          <a:blip r:embed="rId8"/>
          <a:stretch>
            <a:fillRect/>
          </a:stretch>
        </p:blipFill>
        <p:spPr>
          <a:xfrm>
            <a:off x="2419350" y="3689350"/>
            <a:ext cx="2159000" cy="1206500"/>
          </a:xfrm>
          <a:prstGeom prst="rect">
            <a:avLst/>
          </a:prstGeom>
        </p:spPr>
      </p:pic>
      <p:pic>
        <p:nvPicPr>
          <p:cNvPr id="9" name="06 fade · graphic" descr=""/>
          <p:cNvPicPr>
            <a:picLocks noChangeAspect="1"/>
          </p:cNvPicPr>
          <p:nvPr/>
        </p:nvPicPr>
        <p:blipFill>
          <a:blip r:embed="rId9"/>
          <a:stretch>
            <a:fillRect/>
          </a:stretch>
        </p:blipFill>
        <p:spPr>
          <a:xfrm>
            <a:off x="6115050" y="3606800"/>
            <a:ext cx="1562100" cy="685800"/>
          </a:xfrm>
          <a:prstGeom prst="rect">
            <a:avLst/>
          </a:prstGeom>
        </p:spPr>
      </p:pic>
      <p:pic>
        <p:nvPicPr>
          <p:cNvPr id="10" name="07 fade · graphic" descr=""/>
          <p:cNvPicPr>
            <a:picLocks noChangeAspect="1"/>
          </p:cNvPicPr>
          <p:nvPr/>
        </p:nvPicPr>
        <p:blipFill>
          <a:blip r:embed="rId10"/>
          <a:stretch>
            <a:fillRect/>
          </a:stretch>
        </p:blipFill>
        <p:spPr>
          <a:xfrm>
            <a:off x="6115050" y="3949700"/>
            <a:ext cx="1562100" cy="527050"/>
          </a:xfrm>
          <a:prstGeom prst="rect">
            <a:avLst/>
          </a:prstGeom>
        </p:spPr>
      </p:pic>
      <p:pic>
        <p:nvPicPr>
          <p:cNvPr id="11" name="08 fade · graphic" descr=""/>
          <p:cNvPicPr>
            <a:picLocks noChangeAspect="1"/>
          </p:cNvPicPr>
          <p:nvPr/>
        </p:nvPicPr>
        <p:blipFill>
          <a:blip r:embed="rId11"/>
          <a:stretch>
            <a:fillRect/>
          </a:stretch>
        </p:blipFill>
        <p:spPr>
          <a:xfrm>
            <a:off x="6115050" y="4165600"/>
            <a:ext cx="1562100" cy="520700"/>
          </a:xfrm>
          <a:prstGeom prst="rect">
            <a:avLst/>
          </a:prstGeom>
        </p:spPr>
      </p:pic>
      <p:pic>
        <p:nvPicPr>
          <p:cNvPr id="12" name="09 fade · graphic" descr=""/>
          <p:cNvPicPr>
            <a:picLocks noChangeAspect="1"/>
          </p:cNvPicPr>
          <p:nvPr/>
        </p:nvPicPr>
        <p:blipFill>
          <a:blip r:embed="rId12"/>
          <a:stretch>
            <a:fillRect/>
          </a:stretch>
        </p:blipFill>
        <p:spPr>
          <a:xfrm>
            <a:off x="6115050" y="4356100"/>
            <a:ext cx="1562100" cy="539750"/>
          </a:xfrm>
          <a:prstGeom prst="rect">
            <a:avLst/>
          </a:prstGeom>
        </p:spPr>
      </p:pic>
      <p:pic>
        <p:nvPicPr>
          <p:cNvPr id="13" name="10 fade · graphic" descr=""/>
          <p:cNvPicPr>
            <a:picLocks noChangeAspect="1"/>
          </p:cNvPicPr>
          <p:nvPr/>
        </p:nvPicPr>
        <p:blipFill>
          <a:blip r:embed="rId13"/>
          <a:stretch>
            <a:fillRect/>
          </a:stretch>
        </p:blipFill>
        <p:spPr>
          <a:xfrm>
            <a:off x="2419350" y="4584700"/>
            <a:ext cx="2159000" cy="762000"/>
          </a:xfrm>
          <a:prstGeom prst="rect">
            <a:avLst/>
          </a:prstGeom>
        </p:spPr>
      </p:pic>
      <p:pic>
        <p:nvPicPr>
          <p:cNvPr id="14" name="11 fade · graphic" descr=""/>
          <p:cNvPicPr>
            <a:picLocks noChangeAspect="1"/>
          </p:cNvPicPr>
          <p:nvPr/>
        </p:nvPicPr>
        <p:blipFill>
          <a:blip r:embed="rId14"/>
          <a:stretch>
            <a:fillRect/>
          </a:stretch>
        </p:blipFill>
        <p:spPr>
          <a:xfrm>
            <a:off x="6115050" y="4635500"/>
            <a:ext cx="1562100" cy="450850"/>
          </a:xfrm>
          <a:prstGeom prst="rect">
            <a:avLst/>
          </a:prstGeom>
        </p:spPr>
      </p:pic>
      <p:pic>
        <p:nvPicPr>
          <p:cNvPr id="15" name="12 fade · graphic" descr=""/>
          <p:cNvPicPr>
            <a:picLocks noChangeAspect="1"/>
          </p:cNvPicPr>
          <p:nvPr/>
        </p:nvPicPr>
        <p:blipFill>
          <a:blip r:embed="rId15"/>
          <a:stretch>
            <a:fillRect/>
          </a:stretch>
        </p:blipFill>
        <p:spPr>
          <a:xfrm>
            <a:off x="6115050" y="4775200"/>
            <a:ext cx="1562100" cy="476250"/>
          </a:xfrm>
          <a:prstGeom prst="rect">
            <a:avLst/>
          </a:prstGeom>
        </p:spPr>
      </p:pic>
      <p:pic>
        <p:nvPicPr>
          <p:cNvPr id="16" name="13 fade · graphic" descr=""/>
          <p:cNvPicPr>
            <a:picLocks noChangeAspect="1"/>
          </p:cNvPicPr>
          <p:nvPr/>
        </p:nvPicPr>
        <p:blipFill>
          <a:blip r:embed="rId16"/>
          <a:stretch>
            <a:fillRect/>
          </a:stretch>
        </p:blipFill>
        <p:spPr>
          <a:xfrm>
            <a:off x="6115050" y="4908550"/>
            <a:ext cx="1562100" cy="520700"/>
          </a:xfrm>
          <a:prstGeom prst="rect">
            <a:avLst/>
          </a:prstGeom>
        </p:spPr>
      </p:pic>
      <p:pic>
        <p:nvPicPr>
          <p:cNvPr id="17" name="14 fade · graphic" descr=""/>
          <p:cNvPicPr>
            <a:picLocks noChangeAspect="1"/>
          </p:cNvPicPr>
          <p:nvPr/>
        </p:nvPicPr>
        <p:blipFill>
          <a:blip r:embed="rId17"/>
          <a:stretch>
            <a:fillRect/>
          </a:stretch>
        </p:blipFill>
        <p:spPr>
          <a:xfrm>
            <a:off x="2419350" y="4965700"/>
            <a:ext cx="2159000" cy="882650"/>
          </a:xfrm>
          <a:prstGeom prst="rect">
            <a:avLst/>
          </a:prstGeom>
        </p:spPr>
      </p:pic>
      <p:pic>
        <p:nvPicPr>
          <p:cNvPr id="18" name="15 fade · graphic" descr=""/>
          <p:cNvPicPr>
            <a:picLocks noChangeAspect="1"/>
          </p:cNvPicPr>
          <p:nvPr/>
        </p:nvPicPr>
        <p:blipFill>
          <a:blip r:embed="rId18"/>
          <a:stretch>
            <a:fillRect/>
          </a:stretch>
        </p:blipFill>
        <p:spPr>
          <a:xfrm>
            <a:off x="6115050" y="5162550"/>
            <a:ext cx="1562100" cy="685800"/>
          </a:xfrm>
          <a:prstGeom prst="rect">
            <a:avLst/>
          </a:prstGeom>
        </p:spPr>
      </p:pic>
      <p:pic>
        <p:nvPicPr>
          <p:cNvPr id="19" name="16 up · Engineering teamQAR 1,020,000" descr="Engineering teamQAR 1,020,000"/>
          <p:cNvPicPr>
            <a:picLocks noChangeAspect="1"/>
          </p:cNvPicPr>
          <p:nvPr/>
        </p:nvPicPr>
        <p:blipFill>
          <a:blip r:embed="rId19"/>
          <a:stretch>
            <a:fillRect/>
          </a:stretch>
        </p:blipFill>
        <p:spPr>
          <a:xfrm>
            <a:off x="4267200" y="1600200"/>
            <a:ext cx="2159000" cy="2266950"/>
          </a:xfrm>
          <a:prstGeom prst="rect">
            <a:avLst/>
          </a:prstGeom>
        </p:spPr>
      </p:pic>
      <p:pic>
        <p:nvPicPr>
          <p:cNvPr id="20" name="17 fade · graphic" descr=""/>
          <p:cNvPicPr>
            <a:picLocks noChangeAspect="1"/>
          </p:cNvPicPr>
          <p:nvPr/>
        </p:nvPicPr>
        <p:blipFill>
          <a:blip r:embed="rId20"/>
          <a:stretch>
            <a:fillRect/>
          </a:stretch>
        </p:blipFill>
        <p:spPr>
          <a:xfrm>
            <a:off x="7366000" y="1600200"/>
            <a:ext cx="412750" cy="2266950"/>
          </a:xfrm>
          <a:prstGeom prst="rect">
            <a:avLst/>
          </a:prstGeom>
        </p:spPr>
      </p:pic>
      <p:pic>
        <p:nvPicPr>
          <p:cNvPr id="21" name="18 up · Hardware &amp; platformQAR 435,000" descr="Hardware &amp; platformQAR 435,000"/>
          <p:cNvPicPr>
            <a:picLocks noChangeAspect="1"/>
          </p:cNvPicPr>
          <p:nvPr/>
        </p:nvPicPr>
        <p:blipFill>
          <a:blip r:embed="rId21"/>
          <a:stretch>
            <a:fillRect/>
          </a:stretch>
        </p:blipFill>
        <p:spPr>
          <a:xfrm>
            <a:off x="4267200" y="3689350"/>
            <a:ext cx="2159000" cy="1143000"/>
          </a:xfrm>
          <a:prstGeom prst="rect">
            <a:avLst/>
          </a:prstGeom>
        </p:spPr>
      </p:pic>
      <p:pic>
        <p:nvPicPr>
          <p:cNvPr id="22" name="19 fade · graphic" descr=""/>
          <p:cNvPicPr>
            <a:picLocks noChangeAspect="1"/>
          </p:cNvPicPr>
          <p:nvPr/>
        </p:nvPicPr>
        <p:blipFill>
          <a:blip r:embed="rId22"/>
          <a:stretch>
            <a:fillRect/>
          </a:stretch>
        </p:blipFill>
        <p:spPr>
          <a:xfrm>
            <a:off x="7366000" y="3606800"/>
            <a:ext cx="412750" cy="603250"/>
          </a:xfrm>
          <a:prstGeom prst="rect">
            <a:avLst/>
          </a:prstGeom>
        </p:spPr>
      </p:pic>
      <p:pic>
        <p:nvPicPr>
          <p:cNvPr id="23" name="20 fade · graphic" descr=""/>
          <p:cNvPicPr>
            <a:picLocks noChangeAspect="1"/>
          </p:cNvPicPr>
          <p:nvPr/>
        </p:nvPicPr>
        <p:blipFill>
          <a:blip r:embed="rId23"/>
          <a:stretch>
            <a:fillRect/>
          </a:stretch>
        </p:blipFill>
        <p:spPr>
          <a:xfrm>
            <a:off x="7366000" y="3949700"/>
            <a:ext cx="412750" cy="495300"/>
          </a:xfrm>
          <a:prstGeom prst="rect">
            <a:avLst/>
          </a:prstGeom>
        </p:spPr>
      </p:pic>
      <p:pic>
        <p:nvPicPr>
          <p:cNvPr id="24" name="21 fade · graphic" descr=""/>
          <p:cNvPicPr>
            <a:picLocks noChangeAspect="1"/>
          </p:cNvPicPr>
          <p:nvPr/>
        </p:nvPicPr>
        <p:blipFill>
          <a:blip r:embed="rId24"/>
          <a:stretch>
            <a:fillRect/>
          </a:stretch>
        </p:blipFill>
        <p:spPr>
          <a:xfrm>
            <a:off x="7366000" y="4184650"/>
            <a:ext cx="412750" cy="501650"/>
          </a:xfrm>
          <a:prstGeom prst="rect">
            <a:avLst/>
          </a:prstGeom>
        </p:spPr>
      </p:pic>
      <p:pic>
        <p:nvPicPr>
          <p:cNvPr id="25" name="22 fade · graphic" descr=""/>
          <p:cNvPicPr>
            <a:picLocks noChangeAspect="1"/>
          </p:cNvPicPr>
          <p:nvPr/>
        </p:nvPicPr>
        <p:blipFill>
          <a:blip r:embed="rId25"/>
          <a:stretch>
            <a:fillRect/>
          </a:stretch>
        </p:blipFill>
        <p:spPr>
          <a:xfrm>
            <a:off x="7366000" y="4419600"/>
            <a:ext cx="412750" cy="476250"/>
          </a:xfrm>
          <a:prstGeom prst="rect">
            <a:avLst/>
          </a:prstGeom>
        </p:spPr>
      </p:pic>
      <p:pic>
        <p:nvPicPr>
          <p:cNvPr id="26" name="23 up · Validation &amp; go-to-marketQAR 2" descr="Validation &amp; go-to-marketQAR 200,000"/>
          <p:cNvPicPr>
            <a:picLocks noChangeAspect="1"/>
          </p:cNvPicPr>
          <p:nvPr/>
        </p:nvPicPr>
        <p:blipFill>
          <a:blip r:embed="rId26"/>
          <a:stretch>
            <a:fillRect/>
          </a:stretch>
        </p:blipFill>
        <p:spPr>
          <a:xfrm>
            <a:off x="4267200" y="4648200"/>
            <a:ext cx="2159000" cy="698500"/>
          </a:xfrm>
          <a:prstGeom prst="rect">
            <a:avLst/>
          </a:prstGeom>
        </p:spPr>
      </p:pic>
      <p:pic>
        <p:nvPicPr>
          <p:cNvPr id="27" name="24 fade · graphic" descr=""/>
          <p:cNvPicPr>
            <a:picLocks noChangeAspect="1"/>
          </p:cNvPicPr>
          <p:nvPr/>
        </p:nvPicPr>
        <p:blipFill>
          <a:blip r:embed="rId27"/>
          <a:stretch>
            <a:fillRect/>
          </a:stretch>
        </p:blipFill>
        <p:spPr>
          <a:xfrm>
            <a:off x="7366000" y="4635500"/>
            <a:ext cx="412750" cy="431800"/>
          </a:xfrm>
          <a:prstGeom prst="rect">
            <a:avLst/>
          </a:prstGeom>
        </p:spPr>
      </p:pic>
      <p:pic>
        <p:nvPicPr>
          <p:cNvPr id="28" name="25 fade · graphic" descr=""/>
          <p:cNvPicPr>
            <a:picLocks noChangeAspect="1"/>
          </p:cNvPicPr>
          <p:nvPr/>
        </p:nvPicPr>
        <p:blipFill>
          <a:blip r:embed="rId28"/>
          <a:stretch>
            <a:fillRect/>
          </a:stretch>
        </p:blipFill>
        <p:spPr>
          <a:xfrm>
            <a:off x="7366000" y="4806950"/>
            <a:ext cx="412750" cy="444500"/>
          </a:xfrm>
          <a:prstGeom prst="rect">
            <a:avLst/>
          </a:prstGeom>
        </p:spPr>
      </p:pic>
      <p:pic>
        <p:nvPicPr>
          <p:cNvPr id="29" name="26 fade · graphic" descr=""/>
          <p:cNvPicPr>
            <a:picLocks noChangeAspect="1"/>
          </p:cNvPicPr>
          <p:nvPr/>
        </p:nvPicPr>
        <p:blipFill>
          <a:blip r:embed="rId29"/>
          <a:stretch>
            <a:fillRect/>
          </a:stretch>
        </p:blipFill>
        <p:spPr>
          <a:xfrm>
            <a:off x="7366000" y="4991100"/>
            <a:ext cx="412750" cy="438150"/>
          </a:xfrm>
          <a:prstGeom prst="rect">
            <a:avLst/>
          </a:prstGeom>
        </p:spPr>
      </p:pic>
      <p:pic>
        <p:nvPicPr>
          <p:cNvPr id="30" name="27 up · ContingencyQAR 195,000" descr="ContingencyQAR 195,000"/>
          <p:cNvPicPr>
            <a:picLocks noChangeAspect="1"/>
          </p:cNvPicPr>
          <p:nvPr/>
        </p:nvPicPr>
        <p:blipFill>
          <a:blip r:embed="rId30"/>
          <a:stretch>
            <a:fillRect/>
          </a:stretch>
        </p:blipFill>
        <p:spPr>
          <a:xfrm>
            <a:off x="4267200" y="5162550"/>
            <a:ext cx="2159000" cy="685800"/>
          </a:xfrm>
          <a:prstGeom prst="rect">
            <a:avLst/>
          </a:prstGeom>
        </p:spPr>
      </p:pic>
      <p:pic>
        <p:nvPicPr>
          <p:cNvPr id="31" name="28 fade · graphic" descr=""/>
          <p:cNvPicPr>
            <a:picLocks noChangeAspect="1"/>
          </p:cNvPicPr>
          <p:nvPr/>
        </p:nvPicPr>
        <p:blipFill>
          <a:blip r:embed="rId31"/>
          <a:stretch>
            <a:fillRect/>
          </a:stretch>
        </p:blipFill>
        <p:spPr>
          <a:xfrm>
            <a:off x="7366000" y="5162550"/>
            <a:ext cx="412750" cy="685800"/>
          </a:xfrm>
          <a:prstGeom prst="rect">
            <a:avLst/>
          </a:prstGeom>
        </p:spPr>
      </p:pic>
      <p:pic>
        <p:nvPicPr>
          <p:cNvPr id="32" name="29 fade · Core five-person team1,020,000" descr="Core five-person team1,020,00055.1%"/>
          <p:cNvPicPr>
            <a:picLocks noChangeAspect="1"/>
          </p:cNvPicPr>
          <p:nvPr/>
        </p:nvPicPr>
        <p:blipFill>
          <a:blip r:embed="rId32"/>
          <a:stretch>
            <a:fillRect/>
          </a:stretch>
        </p:blipFill>
        <p:spPr>
          <a:xfrm>
            <a:off x="7562850" y="2489200"/>
            <a:ext cx="3810000" cy="482600"/>
          </a:xfrm>
          <a:prstGeom prst="rect">
            <a:avLst/>
          </a:prstGeom>
        </p:spPr>
      </p:pic>
      <p:pic>
        <p:nvPicPr>
          <p:cNvPr id="33" name="30 fade · Sensors, edge equipment155,000" descr="Sensors, edge equipment155,0008.4%"/>
          <p:cNvPicPr>
            <a:picLocks noChangeAspect="1"/>
          </p:cNvPicPr>
          <p:nvPr/>
        </p:nvPicPr>
        <p:blipFill>
          <a:blip r:embed="rId33"/>
          <a:stretch>
            <a:fillRect/>
          </a:stretch>
        </p:blipFill>
        <p:spPr>
          <a:xfrm>
            <a:off x="7562850" y="3663950"/>
            <a:ext cx="3810000" cy="482600"/>
          </a:xfrm>
          <a:prstGeom prst="rect">
            <a:avLst/>
          </a:prstGeom>
        </p:spPr>
      </p:pic>
      <p:pic>
        <p:nvPicPr>
          <p:cNvPr id="34" name="31 fade · Deployment, calibration95,0005" descr="Deployment, calibration95,0005.1%"/>
          <p:cNvPicPr>
            <a:picLocks noChangeAspect="1"/>
          </p:cNvPicPr>
          <p:nvPr/>
        </p:nvPicPr>
        <p:blipFill>
          <a:blip r:embed="rId34"/>
          <a:stretch>
            <a:fillRect/>
          </a:stretch>
        </p:blipFill>
        <p:spPr>
          <a:xfrm>
            <a:off x="7562850" y="3949700"/>
            <a:ext cx="3810000" cy="482600"/>
          </a:xfrm>
          <a:prstGeom prst="rect">
            <a:avLst/>
          </a:prstGeom>
        </p:spPr>
      </p:pic>
      <p:pic>
        <p:nvPicPr>
          <p:cNvPr id="35" name="32 fade · Cloud, data, security100,0005." descr="Cloud, data, security100,0005.4%"/>
          <p:cNvPicPr>
            <a:picLocks noChangeAspect="1"/>
          </p:cNvPicPr>
          <p:nvPr/>
        </p:nvPicPr>
        <p:blipFill>
          <a:blip r:embed="rId35"/>
          <a:stretch>
            <a:fillRect/>
          </a:stretch>
        </p:blipFill>
        <p:spPr>
          <a:xfrm>
            <a:off x="7562850" y="4184650"/>
            <a:ext cx="3810000" cy="482600"/>
          </a:xfrm>
          <a:prstGeom prst="rect">
            <a:avLst/>
          </a:prstGeom>
        </p:spPr>
      </p:pic>
      <p:pic>
        <p:nvPicPr>
          <p:cNvPr id="36" name="33 fade · Enterprise integration85,0004." descr="Enterprise integration85,0004.6%"/>
          <p:cNvPicPr>
            <a:picLocks noChangeAspect="1"/>
          </p:cNvPicPr>
          <p:nvPr/>
        </p:nvPicPr>
        <p:blipFill>
          <a:blip r:embed="rId36"/>
          <a:stretch>
            <a:fillRect/>
          </a:stretch>
        </p:blipFill>
        <p:spPr>
          <a:xfrm>
            <a:off x="7562850" y="4413250"/>
            <a:ext cx="3810000" cy="482600"/>
          </a:xfrm>
          <a:prstGeom prst="rect">
            <a:avLst/>
          </a:prstGeom>
        </p:spPr>
      </p:pic>
      <p:pic>
        <p:nvPicPr>
          <p:cNvPr id="37" name="34 fade · Food-domain validation65,0003." descr="Food-domain validation65,0003.5%"/>
          <p:cNvPicPr>
            <a:picLocks noChangeAspect="1"/>
          </p:cNvPicPr>
          <p:nvPr/>
        </p:nvPicPr>
        <p:blipFill>
          <a:blip r:embed="rId37"/>
          <a:stretch>
            <a:fillRect/>
          </a:stretch>
        </p:blipFill>
        <p:spPr>
          <a:xfrm>
            <a:off x="7562850" y="4603750"/>
            <a:ext cx="3810000" cy="482600"/>
          </a:xfrm>
          <a:prstGeom prst="rect">
            <a:avLst/>
          </a:prstGeom>
        </p:spPr>
      </p:pic>
      <p:pic>
        <p:nvPicPr>
          <p:cNvPr id="38" name="35 fade · Customer development70,0003.8%" descr="Customer development70,0003.8%"/>
          <p:cNvPicPr>
            <a:picLocks noChangeAspect="1"/>
          </p:cNvPicPr>
          <p:nvPr/>
        </p:nvPicPr>
        <p:blipFill>
          <a:blip r:embed="rId38"/>
          <a:stretch>
            <a:fillRect/>
          </a:stretch>
        </p:blipFill>
        <p:spPr>
          <a:xfrm>
            <a:off x="7562850" y="4787900"/>
            <a:ext cx="3810000" cy="482600"/>
          </a:xfrm>
          <a:prstGeom prst="rect">
            <a:avLst/>
          </a:prstGeom>
        </p:spPr>
      </p:pic>
      <p:pic>
        <p:nvPicPr>
          <p:cNvPr id="39" name="36 fade · Legal, IP, readiness65,0003.5%" descr="Legal, IP, readiness65,0003.5%"/>
          <p:cNvPicPr>
            <a:picLocks noChangeAspect="1"/>
          </p:cNvPicPr>
          <p:nvPr/>
        </p:nvPicPr>
        <p:blipFill>
          <a:blip r:embed="rId39"/>
          <a:stretch>
            <a:fillRect/>
          </a:stretch>
        </p:blipFill>
        <p:spPr>
          <a:xfrm>
            <a:off x="7562850" y="4965700"/>
            <a:ext cx="3810000" cy="482600"/>
          </a:xfrm>
          <a:prstGeom prst="rect">
            <a:avLst/>
          </a:prstGeom>
        </p:spPr>
      </p:pic>
      <p:pic>
        <p:nvPicPr>
          <p:cNvPr id="40" name="37 fade · Contingency reserve195,00010.5" descr="Contingency reserve195,00010.5%"/>
          <p:cNvPicPr>
            <a:picLocks noChangeAspect="1"/>
          </p:cNvPicPr>
          <p:nvPr/>
        </p:nvPicPr>
        <p:blipFill>
          <a:blip r:embed="rId40"/>
          <a:stretch>
            <a:fillRect/>
          </a:stretch>
        </p:blipFill>
        <p:spPr>
          <a:xfrm>
            <a:off x="7562850" y="5264150"/>
            <a:ext cx="3810000" cy="482600"/>
          </a:xfrm>
          <a:prstGeom prst="rect">
            <a:avLst/>
          </a:prstGeom>
        </p:spPr>
      </p:pic>
      <p:pic>
        <p:nvPicPr>
          <p:cNvPr id="41" name="38 fade · PRE-SEED ROUNDQAR 1.85M≈ US$50" descr="PRE-SEED ROUNDQAR 1.85M≈ US$508K · 12 mo"/>
          <p:cNvPicPr>
            <a:picLocks noChangeAspect="1"/>
          </p:cNvPicPr>
          <p:nvPr/>
        </p:nvPicPr>
        <p:blipFill>
          <a:blip r:embed="rId41"/>
          <a:stretch>
            <a:fillRect/>
          </a:stretch>
        </p:blipFill>
        <p:spPr>
          <a:xfrm>
            <a:off x="825500" y="3340100"/>
            <a:ext cx="1568450" cy="9271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20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7" presetID="10" presetClass="entr" presetSubtype="0" fill="hold" decel="10000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6" dur="900"/>
                                        <p:tgtEl>
                                          <p:spTgt spid="4"/>
                                        </p:tgtEl>
                                      </p:cBhvr>
                                    </p:animEffect>
                                  </p:childTnLst>
                                </p:cTn>
                              </p:par>
                              <p:par>
                                <p:cTn id="11" presetID="2" presetClass="entr" presetSubtype="4" fill="hold" decel="100000" nodeType="withEffect">
                                  <p:stCondLst>
                                    <p:cond delay="12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9" dur="900" fill="hold"/>
                                        <p:tgtEl>
                                          <p:spTgt spid="5"/>
                                        </p:tgtEl>
                                        <p:attrNameLst>
                                          <p:attrName>ppt_y</p:attrName>
                                        </p:attrNameLst>
                                      </p:cBhvr>
                                      <p:tavLst>
                                        <p:tav tm="0">
                                          <p:val>
                                            <p:strVal val="#ppt_y+0.03"/>
                                          </p:val>
                                        </p:tav>
                                        <p:tav tm="100000">
                                          <p:val>
                                            <p:strVal val="#ppt_y"/>
                                          </p:val>
                                        </p:tav>
                                      </p:tavLst>
                                    </p:anim>
                                    <p:animEffect transition="in" filter="fade">
                                      <p:cBhvr>
                                        <p:cTn id="10" dur="900"/>
                                        <p:tgtEl>
                                          <p:spTgt spid="5"/>
                                        </p:tgtEl>
                                      </p:cBhvr>
                                    </p:animEffect>
                                  </p:childTnLst>
                                </p:cTn>
                              </p:par>
                              <p:par>
                                <p:cTn id="14" presetID="10" presetClass="entr" presetSubtype="0" fill="hold" decel="100000" nodeType="withEffect">
                                  <p:stCondLst>
                                    <p:cond delay="400"/>
                                  </p:stCondLst>
                                  <p:childTnLst>
                                    <p:set>
                                      <p:cBhvr>
                                        <p:cTn id="15" dur="1" fill="hold">
                                          <p:stCondLst>
                                            <p:cond delay="0"/>
                                          </p:stCondLst>
                                        </p:cTn>
                                        <p:tgtEl>
                                          <p:spTgt spid="6"/>
                                        </p:tgtEl>
                                        <p:attrNameLst>
                                          <p:attrName>style.visibility</p:attrName>
                                        </p:attrNameLst>
                                      </p:cBhvr>
                                      <p:to>
                                        <p:strVal val="visible"/>
                                      </p:to>
                                    </p:set>
                                    <p:animEffect transition="in" filter="fade">
                                      <p:cBhvr>
                                        <p:cTn id="13" dur="900"/>
                                        <p:tgtEl>
                                          <p:spTgt spid="6"/>
                                        </p:tgtEl>
                                      </p:cBhvr>
                                    </p:animEffect>
                                  </p:childTnLst>
                                </p:cTn>
                              </p:par>
                              <p:par>
                                <p:cTn id="17" presetID="10" presetClass="entr" presetSubtype="0" fill="hold" decel="100000" nodeType="withEffect">
                                  <p:stCondLst>
                                    <p:cond delay="700"/>
                                  </p:stCondLst>
                                  <p:childTnLst>
                                    <p:set>
                                      <p:cBhvr>
                                        <p:cTn id="18" dur="1" fill="hold">
                                          <p:stCondLst>
                                            <p:cond delay="0"/>
                                          </p:stCondLst>
                                        </p:cTn>
                                        <p:tgtEl>
                                          <p:spTgt spid="7"/>
                                        </p:tgtEl>
                                        <p:attrNameLst>
                                          <p:attrName>style.visibility</p:attrName>
                                        </p:attrNameLst>
                                      </p:cBhvr>
                                      <p:to>
                                        <p:strVal val="visible"/>
                                      </p:to>
                                    </p:set>
                                    <p:animEffect transition="in" filter="fade">
                                      <p:cBhvr>
                                        <p:cTn id="16" dur="900"/>
                                        <p:tgtEl>
                                          <p:spTgt spid="7"/>
                                        </p:tgtEl>
                                      </p:cBhvr>
                                    </p:animEffect>
                                  </p:childTnLst>
                                </p:cTn>
                              </p:par>
                              <p:par>
                                <p:cTn id="20" presetID="10" presetClass="entr" presetSubtype="0" fill="hold" decel="100000" nodeType="withEffect">
                                  <p:stCondLst>
                                    <p:cond delay="520"/>
                                  </p:stCondLst>
                                  <p:childTnLst>
                                    <p:set>
                                      <p:cBhvr>
                                        <p:cTn id="21" dur="1" fill="hold">
                                          <p:stCondLst>
                                            <p:cond delay="0"/>
                                          </p:stCondLst>
                                        </p:cTn>
                                        <p:tgtEl>
                                          <p:spTgt spid="8"/>
                                        </p:tgtEl>
                                        <p:attrNameLst>
                                          <p:attrName>style.visibility</p:attrName>
                                        </p:attrNameLst>
                                      </p:cBhvr>
                                      <p:to>
                                        <p:strVal val="visible"/>
                                      </p:to>
                                    </p:set>
                                    <p:animEffect transition="in" filter="fade">
                                      <p:cBhvr>
                                        <p:cTn id="19" dur="900"/>
                                        <p:tgtEl>
                                          <p:spTgt spid="8"/>
                                        </p:tgtEl>
                                      </p:cBhvr>
                                    </p:animEffect>
                                  </p:childTnLst>
                                </p:cTn>
                              </p:par>
                              <p:par>
                                <p:cTn id="23" presetID="10" presetClass="entr" presetSubtype="0" fill="hold" decel="100000" nodeType="withEffect">
                                  <p:stCondLst>
                                    <p:cond delay="820"/>
                                  </p:stCondLst>
                                  <p:childTnLst>
                                    <p:set>
                                      <p:cBhvr>
                                        <p:cTn id="24" dur="1" fill="hold">
                                          <p:stCondLst>
                                            <p:cond delay="0"/>
                                          </p:stCondLst>
                                        </p:cTn>
                                        <p:tgtEl>
                                          <p:spTgt spid="9"/>
                                        </p:tgtEl>
                                        <p:attrNameLst>
                                          <p:attrName>style.visibility</p:attrName>
                                        </p:attrNameLst>
                                      </p:cBhvr>
                                      <p:to>
                                        <p:strVal val="visible"/>
                                      </p:to>
                                    </p:set>
                                    <p:animEffect transition="in" filter="fade">
                                      <p:cBhvr>
                                        <p:cTn id="22" dur="900"/>
                                        <p:tgtEl>
                                          <p:spTgt spid="9"/>
                                        </p:tgtEl>
                                      </p:cBhvr>
                                    </p:animEffect>
                                  </p:childTnLst>
                                </p:cTn>
                              </p:par>
                              <p:par>
                                <p:cTn id="26" presetID="10" presetClass="entr" presetSubtype="0" fill="hold" decel="100000" nodeType="withEffect">
                                  <p:stCondLst>
                                    <p:cond delay="820"/>
                                  </p:stCondLst>
                                  <p:childTnLst>
                                    <p:set>
                                      <p:cBhvr>
                                        <p:cTn id="27" dur="1" fill="hold">
                                          <p:stCondLst>
                                            <p:cond delay="0"/>
                                          </p:stCondLst>
                                        </p:cTn>
                                        <p:tgtEl>
                                          <p:spTgt spid="10"/>
                                        </p:tgtEl>
                                        <p:attrNameLst>
                                          <p:attrName>style.visibility</p:attrName>
                                        </p:attrNameLst>
                                      </p:cBhvr>
                                      <p:to>
                                        <p:strVal val="visible"/>
                                      </p:to>
                                    </p:set>
                                    <p:animEffect transition="in" filter="fade">
                                      <p:cBhvr>
                                        <p:cTn id="25" dur="900"/>
                                        <p:tgtEl>
                                          <p:spTgt spid="10"/>
                                        </p:tgtEl>
                                      </p:cBhvr>
                                    </p:animEffect>
                                  </p:childTnLst>
                                </p:cTn>
                              </p:par>
                              <p:par>
                                <p:cTn id="29" presetID="10" presetClass="entr" presetSubtype="0" fill="hold" decel="100000" nodeType="withEffect">
                                  <p:stCondLst>
                                    <p:cond delay="820"/>
                                  </p:stCondLst>
                                  <p:childTnLst>
                                    <p:set>
                                      <p:cBhvr>
                                        <p:cTn id="30" dur="1" fill="hold">
                                          <p:stCondLst>
                                            <p:cond delay="0"/>
                                          </p:stCondLst>
                                        </p:cTn>
                                        <p:tgtEl>
                                          <p:spTgt spid="11"/>
                                        </p:tgtEl>
                                        <p:attrNameLst>
                                          <p:attrName>style.visibility</p:attrName>
                                        </p:attrNameLst>
                                      </p:cBhvr>
                                      <p:to>
                                        <p:strVal val="visible"/>
                                      </p:to>
                                    </p:set>
                                    <p:animEffect transition="in" filter="fade">
                                      <p:cBhvr>
                                        <p:cTn id="28" dur="900"/>
                                        <p:tgtEl>
                                          <p:spTgt spid="11"/>
                                        </p:tgtEl>
                                      </p:cBhvr>
                                    </p:animEffect>
                                  </p:childTnLst>
                                </p:cTn>
                              </p:par>
                              <p:par>
                                <p:cTn id="32" presetID="10" presetClass="entr" presetSubtype="0" fill="hold" decel="100000" nodeType="withEffect">
                                  <p:stCondLst>
                                    <p:cond delay="820"/>
                                  </p:stCondLst>
                                  <p:childTnLst>
                                    <p:set>
                                      <p:cBhvr>
                                        <p:cTn id="33" dur="1" fill="hold">
                                          <p:stCondLst>
                                            <p:cond delay="0"/>
                                          </p:stCondLst>
                                        </p:cTn>
                                        <p:tgtEl>
                                          <p:spTgt spid="12"/>
                                        </p:tgtEl>
                                        <p:attrNameLst>
                                          <p:attrName>style.visibility</p:attrName>
                                        </p:attrNameLst>
                                      </p:cBhvr>
                                      <p:to>
                                        <p:strVal val="visible"/>
                                      </p:to>
                                    </p:set>
                                    <p:animEffect transition="in" filter="fade">
                                      <p:cBhvr>
                                        <p:cTn id="31" dur="900"/>
                                        <p:tgtEl>
                                          <p:spTgt spid="12"/>
                                        </p:tgtEl>
                                      </p:cBhvr>
                                    </p:animEffect>
                                  </p:childTnLst>
                                </p:cTn>
                              </p:par>
                              <p:par>
                                <p:cTn id="35" presetID="10" presetClass="entr" presetSubtype="0" fill="hold" decel="100000" nodeType="withEffect">
                                  <p:stCondLst>
                                    <p:cond delay="640"/>
                                  </p:stCondLst>
                                  <p:childTnLst>
                                    <p:set>
                                      <p:cBhvr>
                                        <p:cTn id="36" dur="1" fill="hold">
                                          <p:stCondLst>
                                            <p:cond delay="0"/>
                                          </p:stCondLst>
                                        </p:cTn>
                                        <p:tgtEl>
                                          <p:spTgt spid="13"/>
                                        </p:tgtEl>
                                        <p:attrNameLst>
                                          <p:attrName>style.visibility</p:attrName>
                                        </p:attrNameLst>
                                      </p:cBhvr>
                                      <p:to>
                                        <p:strVal val="visible"/>
                                      </p:to>
                                    </p:set>
                                    <p:animEffect transition="in" filter="fade">
                                      <p:cBhvr>
                                        <p:cTn id="34" dur="900"/>
                                        <p:tgtEl>
                                          <p:spTgt spid="13"/>
                                        </p:tgtEl>
                                      </p:cBhvr>
                                    </p:animEffect>
                                  </p:childTnLst>
                                </p:cTn>
                              </p:par>
                              <p:par>
                                <p:cTn id="38" presetID="10" presetClass="entr" presetSubtype="0" fill="hold" decel="100000" nodeType="withEffect">
                                  <p:stCondLst>
                                    <p:cond delay="940"/>
                                  </p:stCondLst>
                                  <p:childTnLst>
                                    <p:set>
                                      <p:cBhvr>
                                        <p:cTn id="39" dur="1" fill="hold">
                                          <p:stCondLst>
                                            <p:cond delay="0"/>
                                          </p:stCondLst>
                                        </p:cTn>
                                        <p:tgtEl>
                                          <p:spTgt spid="14"/>
                                        </p:tgtEl>
                                        <p:attrNameLst>
                                          <p:attrName>style.visibility</p:attrName>
                                        </p:attrNameLst>
                                      </p:cBhvr>
                                      <p:to>
                                        <p:strVal val="visible"/>
                                      </p:to>
                                    </p:set>
                                    <p:animEffect transition="in" filter="fade">
                                      <p:cBhvr>
                                        <p:cTn id="37" dur="900"/>
                                        <p:tgtEl>
                                          <p:spTgt spid="14"/>
                                        </p:tgtEl>
                                      </p:cBhvr>
                                    </p:animEffect>
                                  </p:childTnLst>
                                </p:cTn>
                              </p:par>
                              <p:par>
                                <p:cTn id="41" presetID="10" presetClass="entr" presetSubtype="0" fill="hold" decel="100000" nodeType="withEffect">
                                  <p:stCondLst>
                                    <p:cond delay="940"/>
                                  </p:stCondLst>
                                  <p:childTnLst>
                                    <p:set>
                                      <p:cBhvr>
                                        <p:cTn id="42" dur="1" fill="hold">
                                          <p:stCondLst>
                                            <p:cond delay="0"/>
                                          </p:stCondLst>
                                        </p:cTn>
                                        <p:tgtEl>
                                          <p:spTgt spid="15"/>
                                        </p:tgtEl>
                                        <p:attrNameLst>
                                          <p:attrName>style.visibility</p:attrName>
                                        </p:attrNameLst>
                                      </p:cBhvr>
                                      <p:to>
                                        <p:strVal val="visible"/>
                                      </p:to>
                                    </p:set>
                                    <p:animEffect transition="in" filter="fade">
                                      <p:cBhvr>
                                        <p:cTn id="40" dur="900"/>
                                        <p:tgtEl>
                                          <p:spTgt spid="15"/>
                                        </p:tgtEl>
                                      </p:cBhvr>
                                    </p:animEffect>
                                  </p:childTnLst>
                                </p:cTn>
                              </p:par>
                              <p:par>
                                <p:cTn id="44" presetID="10" presetClass="entr" presetSubtype="0" fill="hold" decel="100000" nodeType="withEffect">
                                  <p:stCondLst>
                                    <p:cond delay="940"/>
                                  </p:stCondLst>
                                  <p:childTnLst>
                                    <p:set>
                                      <p:cBhvr>
                                        <p:cTn id="45" dur="1" fill="hold">
                                          <p:stCondLst>
                                            <p:cond delay="0"/>
                                          </p:stCondLst>
                                        </p:cTn>
                                        <p:tgtEl>
                                          <p:spTgt spid="16"/>
                                        </p:tgtEl>
                                        <p:attrNameLst>
                                          <p:attrName>style.visibility</p:attrName>
                                        </p:attrNameLst>
                                      </p:cBhvr>
                                      <p:to>
                                        <p:strVal val="visible"/>
                                      </p:to>
                                    </p:set>
                                    <p:animEffect transition="in" filter="fade">
                                      <p:cBhvr>
                                        <p:cTn id="43" dur="900"/>
                                        <p:tgtEl>
                                          <p:spTgt spid="16"/>
                                        </p:tgtEl>
                                      </p:cBhvr>
                                    </p:animEffect>
                                  </p:childTnLst>
                                </p:cTn>
                              </p:par>
                              <p:par>
                                <p:cTn id="47" presetID="10" presetClass="entr" presetSubtype="0" fill="hold" decel="100000" nodeType="withEffect">
                                  <p:stCondLst>
                                    <p:cond delay="760"/>
                                  </p:stCondLst>
                                  <p:childTnLst>
                                    <p:set>
                                      <p:cBhvr>
                                        <p:cTn id="48" dur="1" fill="hold">
                                          <p:stCondLst>
                                            <p:cond delay="0"/>
                                          </p:stCondLst>
                                        </p:cTn>
                                        <p:tgtEl>
                                          <p:spTgt spid="17"/>
                                        </p:tgtEl>
                                        <p:attrNameLst>
                                          <p:attrName>style.visibility</p:attrName>
                                        </p:attrNameLst>
                                      </p:cBhvr>
                                      <p:to>
                                        <p:strVal val="visible"/>
                                      </p:to>
                                    </p:set>
                                    <p:animEffect transition="in" filter="fade">
                                      <p:cBhvr>
                                        <p:cTn id="46" dur="900"/>
                                        <p:tgtEl>
                                          <p:spTgt spid="17"/>
                                        </p:tgtEl>
                                      </p:cBhvr>
                                    </p:animEffect>
                                  </p:childTnLst>
                                </p:cTn>
                              </p:par>
                              <p:par>
                                <p:cTn id="50" presetID="10" presetClass="entr" presetSubtype="0" fill="hold" decel="100000" nodeType="withEffect">
                                  <p:stCondLst>
                                    <p:cond delay="1060"/>
                                  </p:stCondLst>
                                  <p:childTnLst>
                                    <p:set>
                                      <p:cBhvr>
                                        <p:cTn id="51" dur="1" fill="hold">
                                          <p:stCondLst>
                                            <p:cond delay="0"/>
                                          </p:stCondLst>
                                        </p:cTn>
                                        <p:tgtEl>
                                          <p:spTgt spid="18"/>
                                        </p:tgtEl>
                                        <p:attrNameLst>
                                          <p:attrName>style.visibility</p:attrName>
                                        </p:attrNameLst>
                                      </p:cBhvr>
                                      <p:to>
                                        <p:strVal val="visible"/>
                                      </p:to>
                                    </p:set>
                                    <p:animEffect transition="in" filter="fade">
                                      <p:cBhvr>
                                        <p:cTn id="49" dur="900"/>
                                        <p:tgtEl>
                                          <p:spTgt spid="18"/>
                                        </p:tgtEl>
                                      </p:cBhvr>
                                    </p:animEffect>
                                  </p:childTnLst>
                                </p:cTn>
                              </p:par>
                              <p:par>
                                <p:cTn id="54" presetID="2" presetClass="entr" presetSubtype="4" fill="hold" decel="100000" nodeType="withEffect">
                                  <p:stCondLst>
                                    <p:cond delay="55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2" dur="900" fill="hold"/>
                                        <p:tgtEl>
                                          <p:spTgt spid="19"/>
                                        </p:tgtEl>
                                        <p:attrNameLst>
                                          <p:attrName>ppt_y</p:attrName>
                                        </p:attrNameLst>
                                      </p:cBhvr>
                                      <p:tavLst>
                                        <p:tav tm="0">
                                          <p:val>
                                            <p:strVal val="#ppt_y+0.03"/>
                                          </p:val>
                                        </p:tav>
                                        <p:tav tm="100000">
                                          <p:val>
                                            <p:strVal val="#ppt_y"/>
                                          </p:val>
                                        </p:tav>
                                      </p:tavLst>
                                    </p:anim>
                                    <p:animEffect transition="in" filter="fade">
                                      <p:cBhvr>
                                        <p:cTn id="53" dur="900"/>
                                        <p:tgtEl>
                                          <p:spTgt spid="19"/>
                                        </p:tgtEl>
                                      </p:cBhvr>
                                    </p:animEffect>
                                  </p:childTnLst>
                                </p:cTn>
                              </p:par>
                              <p:par>
                                <p:cTn id="57" presetID="10" presetClass="entr" presetSubtype="0" fill="hold" decel="100000" nodeType="withEffect">
                                  <p:stCondLst>
                                    <p:cond delay="850"/>
                                  </p:stCondLst>
                                  <p:childTnLst>
                                    <p:set>
                                      <p:cBhvr>
                                        <p:cTn id="58" dur="1" fill="hold">
                                          <p:stCondLst>
                                            <p:cond delay="0"/>
                                          </p:stCondLst>
                                        </p:cTn>
                                        <p:tgtEl>
                                          <p:spTgt spid="20"/>
                                        </p:tgtEl>
                                        <p:attrNameLst>
                                          <p:attrName>style.visibility</p:attrName>
                                        </p:attrNameLst>
                                      </p:cBhvr>
                                      <p:to>
                                        <p:strVal val="visible"/>
                                      </p:to>
                                    </p:set>
                                    <p:animEffect transition="in" filter="fade">
                                      <p:cBhvr>
                                        <p:cTn id="56" dur="900"/>
                                        <p:tgtEl>
                                          <p:spTgt spid="20"/>
                                        </p:tgtEl>
                                      </p:cBhvr>
                                    </p:animEffect>
                                  </p:childTnLst>
                                </p:cTn>
                              </p:par>
                              <p:par>
                                <p:cTn id="61" presetID="2" presetClass="entr" presetSubtype="4" fill="hold" decel="100000" nodeType="withEffect">
                                  <p:stCondLst>
                                    <p:cond delay="67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59" dur="900" fill="hold"/>
                                        <p:tgtEl>
                                          <p:spTgt spid="21"/>
                                        </p:tgtEl>
                                        <p:attrNameLst>
                                          <p:attrName>ppt_y</p:attrName>
                                        </p:attrNameLst>
                                      </p:cBhvr>
                                      <p:tavLst>
                                        <p:tav tm="0">
                                          <p:val>
                                            <p:strVal val="#ppt_y+0.03"/>
                                          </p:val>
                                        </p:tav>
                                        <p:tav tm="100000">
                                          <p:val>
                                            <p:strVal val="#ppt_y"/>
                                          </p:val>
                                        </p:tav>
                                      </p:tavLst>
                                    </p:anim>
                                    <p:animEffect transition="in" filter="fade">
                                      <p:cBhvr>
                                        <p:cTn id="60" dur="900"/>
                                        <p:tgtEl>
                                          <p:spTgt spid="21"/>
                                        </p:tgtEl>
                                      </p:cBhvr>
                                    </p:animEffect>
                                  </p:childTnLst>
                                </p:cTn>
                              </p:par>
                              <p:par>
                                <p:cTn id="64" presetID="10" presetClass="entr" presetSubtype="0" fill="hold" decel="100000" nodeType="withEffect">
                                  <p:stCondLst>
                                    <p:cond delay="970"/>
                                  </p:stCondLst>
                                  <p:childTnLst>
                                    <p:set>
                                      <p:cBhvr>
                                        <p:cTn id="65" dur="1" fill="hold">
                                          <p:stCondLst>
                                            <p:cond delay="0"/>
                                          </p:stCondLst>
                                        </p:cTn>
                                        <p:tgtEl>
                                          <p:spTgt spid="22"/>
                                        </p:tgtEl>
                                        <p:attrNameLst>
                                          <p:attrName>style.visibility</p:attrName>
                                        </p:attrNameLst>
                                      </p:cBhvr>
                                      <p:to>
                                        <p:strVal val="visible"/>
                                      </p:to>
                                    </p:set>
                                    <p:animEffect transition="in" filter="fade">
                                      <p:cBhvr>
                                        <p:cTn id="63" dur="900"/>
                                        <p:tgtEl>
                                          <p:spTgt spid="22"/>
                                        </p:tgtEl>
                                      </p:cBhvr>
                                    </p:animEffect>
                                  </p:childTnLst>
                                </p:cTn>
                              </p:par>
                              <p:par>
                                <p:cTn id="67" presetID="10" presetClass="entr" presetSubtype="0" fill="hold" decel="100000" nodeType="withEffect">
                                  <p:stCondLst>
                                    <p:cond delay="970"/>
                                  </p:stCondLst>
                                  <p:childTnLst>
                                    <p:set>
                                      <p:cBhvr>
                                        <p:cTn id="68" dur="1" fill="hold">
                                          <p:stCondLst>
                                            <p:cond delay="0"/>
                                          </p:stCondLst>
                                        </p:cTn>
                                        <p:tgtEl>
                                          <p:spTgt spid="23"/>
                                        </p:tgtEl>
                                        <p:attrNameLst>
                                          <p:attrName>style.visibility</p:attrName>
                                        </p:attrNameLst>
                                      </p:cBhvr>
                                      <p:to>
                                        <p:strVal val="visible"/>
                                      </p:to>
                                    </p:set>
                                    <p:animEffect transition="in" filter="fade">
                                      <p:cBhvr>
                                        <p:cTn id="66" dur="900"/>
                                        <p:tgtEl>
                                          <p:spTgt spid="23"/>
                                        </p:tgtEl>
                                      </p:cBhvr>
                                    </p:animEffect>
                                  </p:childTnLst>
                                </p:cTn>
                              </p:par>
                              <p:par>
                                <p:cTn id="70" presetID="10" presetClass="entr" presetSubtype="0" fill="hold" decel="100000" nodeType="withEffect">
                                  <p:stCondLst>
                                    <p:cond delay="970"/>
                                  </p:stCondLst>
                                  <p:childTnLst>
                                    <p:set>
                                      <p:cBhvr>
                                        <p:cTn id="71" dur="1" fill="hold">
                                          <p:stCondLst>
                                            <p:cond delay="0"/>
                                          </p:stCondLst>
                                        </p:cTn>
                                        <p:tgtEl>
                                          <p:spTgt spid="24"/>
                                        </p:tgtEl>
                                        <p:attrNameLst>
                                          <p:attrName>style.visibility</p:attrName>
                                        </p:attrNameLst>
                                      </p:cBhvr>
                                      <p:to>
                                        <p:strVal val="visible"/>
                                      </p:to>
                                    </p:set>
                                    <p:animEffect transition="in" filter="fade">
                                      <p:cBhvr>
                                        <p:cTn id="69" dur="900"/>
                                        <p:tgtEl>
                                          <p:spTgt spid="24"/>
                                        </p:tgtEl>
                                      </p:cBhvr>
                                    </p:animEffect>
                                  </p:childTnLst>
                                </p:cTn>
                              </p:par>
                              <p:par>
                                <p:cTn id="73" presetID="10" presetClass="entr" presetSubtype="0" fill="hold" decel="100000" nodeType="withEffect">
                                  <p:stCondLst>
                                    <p:cond delay="970"/>
                                  </p:stCondLst>
                                  <p:childTnLst>
                                    <p:set>
                                      <p:cBhvr>
                                        <p:cTn id="74" dur="1" fill="hold">
                                          <p:stCondLst>
                                            <p:cond delay="0"/>
                                          </p:stCondLst>
                                        </p:cTn>
                                        <p:tgtEl>
                                          <p:spTgt spid="25"/>
                                        </p:tgtEl>
                                        <p:attrNameLst>
                                          <p:attrName>style.visibility</p:attrName>
                                        </p:attrNameLst>
                                      </p:cBhvr>
                                      <p:to>
                                        <p:strVal val="visible"/>
                                      </p:to>
                                    </p:set>
                                    <p:animEffect transition="in" filter="fade">
                                      <p:cBhvr>
                                        <p:cTn id="72" dur="900"/>
                                        <p:tgtEl>
                                          <p:spTgt spid="25"/>
                                        </p:tgtEl>
                                      </p:cBhvr>
                                    </p:animEffect>
                                  </p:childTnLst>
                                </p:cTn>
                              </p:par>
                              <p:par>
                                <p:cTn id="77" presetID="2" presetClass="entr" presetSubtype="4" fill="hold" decel="100000" nodeType="withEffect">
                                  <p:stCondLst>
                                    <p:cond delay="79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5" dur="900" fill="hold"/>
                                        <p:tgtEl>
                                          <p:spTgt spid="26"/>
                                        </p:tgtEl>
                                        <p:attrNameLst>
                                          <p:attrName>ppt_y</p:attrName>
                                        </p:attrNameLst>
                                      </p:cBhvr>
                                      <p:tavLst>
                                        <p:tav tm="0">
                                          <p:val>
                                            <p:strVal val="#ppt_y+0.03"/>
                                          </p:val>
                                        </p:tav>
                                        <p:tav tm="100000">
                                          <p:val>
                                            <p:strVal val="#ppt_y"/>
                                          </p:val>
                                        </p:tav>
                                      </p:tavLst>
                                    </p:anim>
                                    <p:animEffect transition="in" filter="fade">
                                      <p:cBhvr>
                                        <p:cTn id="76" dur="900"/>
                                        <p:tgtEl>
                                          <p:spTgt spid="26"/>
                                        </p:tgtEl>
                                      </p:cBhvr>
                                    </p:animEffect>
                                  </p:childTnLst>
                                </p:cTn>
                              </p:par>
                              <p:par>
                                <p:cTn id="80" presetID="10" presetClass="entr" presetSubtype="0" fill="hold" decel="100000" nodeType="withEffect">
                                  <p:stCondLst>
                                    <p:cond delay="1090"/>
                                  </p:stCondLst>
                                  <p:childTnLst>
                                    <p:set>
                                      <p:cBhvr>
                                        <p:cTn id="81" dur="1" fill="hold">
                                          <p:stCondLst>
                                            <p:cond delay="0"/>
                                          </p:stCondLst>
                                        </p:cTn>
                                        <p:tgtEl>
                                          <p:spTgt spid="27"/>
                                        </p:tgtEl>
                                        <p:attrNameLst>
                                          <p:attrName>style.visibility</p:attrName>
                                        </p:attrNameLst>
                                      </p:cBhvr>
                                      <p:to>
                                        <p:strVal val="visible"/>
                                      </p:to>
                                    </p:set>
                                    <p:animEffect transition="in" filter="fade">
                                      <p:cBhvr>
                                        <p:cTn id="79" dur="900"/>
                                        <p:tgtEl>
                                          <p:spTgt spid="27"/>
                                        </p:tgtEl>
                                      </p:cBhvr>
                                    </p:animEffect>
                                  </p:childTnLst>
                                </p:cTn>
                              </p:par>
                              <p:par>
                                <p:cTn id="83" presetID="10" presetClass="entr" presetSubtype="0" fill="hold" decel="100000" nodeType="withEffect">
                                  <p:stCondLst>
                                    <p:cond delay="1090"/>
                                  </p:stCondLst>
                                  <p:childTnLst>
                                    <p:set>
                                      <p:cBhvr>
                                        <p:cTn id="84" dur="1" fill="hold">
                                          <p:stCondLst>
                                            <p:cond delay="0"/>
                                          </p:stCondLst>
                                        </p:cTn>
                                        <p:tgtEl>
                                          <p:spTgt spid="28"/>
                                        </p:tgtEl>
                                        <p:attrNameLst>
                                          <p:attrName>style.visibility</p:attrName>
                                        </p:attrNameLst>
                                      </p:cBhvr>
                                      <p:to>
                                        <p:strVal val="visible"/>
                                      </p:to>
                                    </p:set>
                                    <p:animEffect transition="in" filter="fade">
                                      <p:cBhvr>
                                        <p:cTn id="82" dur="900"/>
                                        <p:tgtEl>
                                          <p:spTgt spid="28"/>
                                        </p:tgtEl>
                                      </p:cBhvr>
                                    </p:animEffect>
                                  </p:childTnLst>
                                </p:cTn>
                              </p:par>
                              <p:par>
                                <p:cTn id="86" presetID="10" presetClass="entr" presetSubtype="0" fill="hold" decel="100000" nodeType="withEffect">
                                  <p:stCondLst>
                                    <p:cond delay="1090"/>
                                  </p:stCondLst>
                                  <p:childTnLst>
                                    <p:set>
                                      <p:cBhvr>
                                        <p:cTn id="87" dur="1" fill="hold">
                                          <p:stCondLst>
                                            <p:cond delay="0"/>
                                          </p:stCondLst>
                                        </p:cTn>
                                        <p:tgtEl>
                                          <p:spTgt spid="29"/>
                                        </p:tgtEl>
                                        <p:attrNameLst>
                                          <p:attrName>style.visibility</p:attrName>
                                        </p:attrNameLst>
                                      </p:cBhvr>
                                      <p:to>
                                        <p:strVal val="visible"/>
                                      </p:to>
                                    </p:set>
                                    <p:animEffect transition="in" filter="fade">
                                      <p:cBhvr>
                                        <p:cTn id="85" dur="900"/>
                                        <p:tgtEl>
                                          <p:spTgt spid="29"/>
                                        </p:tgtEl>
                                      </p:cBhvr>
                                    </p:animEffect>
                                  </p:childTnLst>
                                </p:cTn>
                              </p:par>
                              <p:par>
                                <p:cTn id="90" presetID="2" presetClass="entr" presetSubtype="4" fill="hold" decel="100000" nodeType="withEffect">
                                  <p:stCondLst>
                                    <p:cond delay="910"/>
                                  </p:stCondLst>
                                  <p:childTnLst>
                                    <p:set>
                                      <p:cBhvr>
                                        <p:cTn id="91" dur="1" fill="hold">
                                          <p:stCondLst>
                                            <p:cond delay="0"/>
                                          </p:stCondLst>
                                        </p:cTn>
                                        <p:tgtEl>
                                          <p:spTgt spid="30"/>
                                        </p:tgtEl>
                                        <p:attrNameLst>
                                          <p:attrName>style.visibility</p:attrName>
                                        </p:attrNameLst>
                                      </p:cBhvr>
                                      <p:to>
                                        <p:strVal val="visible"/>
                                      </p:to>
                                    </p:set>
                                    <p:anim calcmode="lin" valueType="num">
                                      <p:cBhvr additive="base">
                                        <p:cTn id="88" dur="900" fill="hold"/>
                                        <p:tgtEl>
                                          <p:spTgt spid="30"/>
                                        </p:tgtEl>
                                        <p:attrNameLst>
                                          <p:attrName>ppt_y</p:attrName>
                                        </p:attrNameLst>
                                      </p:cBhvr>
                                      <p:tavLst>
                                        <p:tav tm="0">
                                          <p:val>
                                            <p:strVal val="#ppt_y+0.03"/>
                                          </p:val>
                                        </p:tav>
                                        <p:tav tm="100000">
                                          <p:val>
                                            <p:strVal val="#ppt_y"/>
                                          </p:val>
                                        </p:tav>
                                      </p:tavLst>
                                    </p:anim>
                                    <p:animEffect transition="in" filter="fade">
                                      <p:cBhvr>
                                        <p:cTn id="89" dur="900"/>
                                        <p:tgtEl>
                                          <p:spTgt spid="30"/>
                                        </p:tgtEl>
                                      </p:cBhvr>
                                    </p:animEffect>
                                  </p:childTnLst>
                                </p:cTn>
                              </p:par>
                              <p:par>
                                <p:cTn id="93" presetID="10" presetClass="entr" presetSubtype="0" fill="hold" decel="100000" nodeType="withEffect">
                                  <p:stCondLst>
                                    <p:cond delay="1210"/>
                                  </p:stCondLst>
                                  <p:childTnLst>
                                    <p:set>
                                      <p:cBhvr>
                                        <p:cTn id="94" dur="1" fill="hold">
                                          <p:stCondLst>
                                            <p:cond delay="0"/>
                                          </p:stCondLst>
                                        </p:cTn>
                                        <p:tgtEl>
                                          <p:spTgt spid="31"/>
                                        </p:tgtEl>
                                        <p:attrNameLst>
                                          <p:attrName>style.visibility</p:attrName>
                                        </p:attrNameLst>
                                      </p:cBhvr>
                                      <p:to>
                                        <p:strVal val="visible"/>
                                      </p:to>
                                    </p:set>
                                    <p:animEffect transition="in" filter="fade">
                                      <p:cBhvr>
                                        <p:cTn id="92" dur="900"/>
                                        <p:tgtEl>
                                          <p:spTgt spid="31"/>
                                        </p:tgtEl>
                                      </p:cBhvr>
                                    </p:animEffect>
                                  </p:childTnLst>
                                </p:cTn>
                              </p:par>
                              <p:par>
                                <p:cTn id="96" presetID="10" presetClass="entr" presetSubtype="0" fill="hold" decel="100000" nodeType="withEffect">
                                  <p:stCondLst>
                                    <p:cond delay="900"/>
                                  </p:stCondLst>
                                  <p:childTnLst>
                                    <p:set>
                                      <p:cBhvr>
                                        <p:cTn id="97" dur="1" fill="hold">
                                          <p:stCondLst>
                                            <p:cond delay="0"/>
                                          </p:stCondLst>
                                        </p:cTn>
                                        <p:tgtEl>
                                          <p:spTgt spid="32"/>
                                        </p:tgtEl>
                                        <p:attrNameLst>
                                          <p:attrName>style.visibility</p:attrName>
                                        </p:attrNameLst>
                                      </p:cBhvr>
                                      <p:to>
                                        <p:strVal val="visible"/>
                                      </p:to>
                                    </p:set>
                                    <p:animEffect transition="in" filter="fade">
                                      <p:cBhvr>
                                        <p:cTn id="95" dur="900"/>
                                        <p:tgtEl>
                                          <p:spTgt spid="32"/>
                                        </p:tgtEl>
                                      </p:cBhvr>
                                    </p:animEffect>
                                  </p:childTnLst>
                                </p:cTn>
                              </p:par>
                              <p:par>
                                <p:cTn id="99" presetID="10" presetClass="entr" presetSubtype="0" fill="hold" decel="100000" nodeType="withEffect">
                                  <p:stCondLst>
                                    <p:cond delay="1020"/>
                                  </p:stCondLst>
                                  <p:childTnLst>
                                    <p:set>
                                      <p:cBhvr>
                                        <p:cTn id="100" dur="1" fill="hold">
                                          <p:stCondLst>
                                            <p:cond delay="0"/>
                                          </p:stCondLst>
                                        </p:cTn>
                                        <p:tgtEl>
                                          <p:spTgt spid="33"/>
                                        </p:tgtEl>
                                        <p:attrNameLst>
                                          <p:attrName>style.visibility</p:attrName>
                                        </p:attrNameLst>
                                      </p:cBhvr>
                                      <p:to>
                                        <p:strVal val="visible"/>
                                      </p:to>
                                    </p:set>
                                    <p:animEffect transition="in" filter="fade">
                                      <p:cBhvr>
                                        <p:cTn id="98" dur="900"/>
                                        <p:tgtEl>
                                          <p:spTgt spid="33"/>
                                        </p:tgtEl>
                                      </p:cBhvr>
                                    </p:animEffect>
                                  </p:childTnLst>
                                </p:cTn>
                              </p:par>
                              <p:par>
                                <p:cTn id="102" presetID="10" presetClass="entr" presetSubtype="0" fill="hold" decel="100000" nodeType="withEffect">
                                  <p:stCondLst>
                                    <p:cond delay="102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1" dur="900"/>
                                        <p:tgtEl>
                                          <p:spTgt spid="34"/>
                                        </p:tgtEl>
                                      </p:cBhvr>
                                    </p:animEffect>
                                  </p:childTnLst>
                                </p:cTn>
                              </p:par>
                              <p:par>
                                <p:cTn id="105" presetID="10" presetClass="entr" presetSubtype="0" fill="hold" decel="100000" nodeType="withEffect">
                                  <p:stCondLst>
                                    <p:cond delay="102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4" dur="900"/>
                                        <p:tgtEl>
                                          <p:spTgt spid="35"/>
                                        </p:tgtEl>
                                      </p:cBhvr>
                                    </p:animEffect>
                                  </p:childTnLst>
                                </p:cTn>
                              </p:par>
                              <p:par>
                                <p:cTn id="108" presetID="10" presetClass="entr" presetSubtype="0" fill="hold" decel="100000" nodeType="withEffect">
                                  <p:stCondLst>
                                    <p:cond delay="1020"/>
                                  </p:stCondLst>
                                  <p:childTnLst>
                                    <p:set>
                                      <p:cBhvr>
                                        <p:cTn id="109" dur="1" fill="hold">
                                          <p:stCondLst>
                                            <p:cond delay="0"/>
                                          </p:stCondLst>
                                        </p:cTn>
                                        <p:tgtEl>
                                          <p:spTgt spid="36"/>
                                        </p:tgtEl>
                                        <p:attrNameLst>
                                          <p:attrName>style.visibility</p:attrName>
                                        </p:attrNameLst>
                                      </p:cBhvr>
                                      <p:to>
                                        <p:strVal val="visible"/>
                                      </p:to>
                                    </p:set>
                                    <p:animEffect transition="in" filter="fade">
                                      <p:cBhvr>
                                        <p:cTn id="107" dur="900"/>
                                        <p:tgtEl>
                                          <p:spTgt spid="36"/>
                                        </p:tgtEl>
                                      </p:cBhvr>
                                    </p:animEffect>
                                  </p:childTnLst>
                                </p:cTn>
                              </p:par>
                              <p:par>
                                <p:cTn id="111" presetID="10" presetClass="entr" presetSubtype="0" fill="hold" decel="100000" nodeType="withEffect">
                                  <p:stCondLst>
                                    <p:cond delay="1140"/>
                                  </p:stCondLst>
                                  <p:childTnLst>
                                    <p:set>
                                      <p:cBhvr>
                                        <p:cTn id="112" dur="1" fill="hold">
                                          <p:stCondLst>
                                            <p:cond delay="0"/>
                                          </p:stCondLst>
                                        </p:cTn>
                                        <p:tgtEl>
                                          <p:spTgt spid="37"/>
                                        </p:tgtEl>
                                        <p:attrNameLst>
                                          <p:attrName>style.visibility</p:attrName>
                                        </p:attrNameLst>
                                      </p:cBhvr>
                                      <p:to>
                                        <p:strVal val="visible"/>
                                      </p:to>
                                    </p:set>
                                    <p:animEffect transition="in" filter="fade">
                                      <p:cBhvr>
                                        <p:cTn id="110" dur="900"/>
                                        <p:tgtEl>
                                          <p:spTgt spid="37"/>
                                        </p:tgtEl>
                                      </p:cBhvr>
                                    </p:animEffect>
                                  </p:childTnLst>
                                </p:cTn>
                              </p:par>
                              <p:par>
                                <p:cTn id="114" presetID="10" presetClass="entr" presetSubtype="0" fill="hold" decel="100000" nodeType="withEffect">
                                  <p:stCondLst>
                                    <p:cond delay="1140"/>
                                  </p:stCondLst>
                                  <p:childTnLst>
                                    <p:set>
                                      <p:cBhvr>
                                        <p:cTn id="115" dur="1" fill="hold">
                                          <p:stCondLst>
                                            <p:cond delay="0"/>
                                          </p:stCondLst>
                                        </p:cTn>
                                        <p:tgtEl>
                                          <p:spTgt spid="38"/>
                                        </p:tgtEl>
                                        <p:attrNameLst>
                                          <p:attrName>style.visibility</p:attrName>
                                        </p:attrNameLst>
                                      </p:cBhvr>
                                      <p:to>
                                        <p:strVal val="visible"/>
                                      </p:to>
                                    </p:set>
                                    <p:animEffect transition="in" filter="fade">
                                      <p:cBhvr>
                                        <p:cTn id="113" dur="900"/>
                                        <p:tgtEl>
                                          <p:spTgt spid="38"/>
                                        </p:tgtEl>
                                      </p:cBhvr>
                                    </p:animEffect>
                                  </p:childTnLst>
                                </p:cTn>
                              </p:par>
                              <p:par>
                                <p:cTn id="117" presetID="10" presetClass="entr" presetSubtype="0" fill="hold" decel="100000" nodeType="withEffect">
                                  <p:stCondLst>
                                    <p:cond delay="1140"/>
                                  </p:stCondLst>
                                  <p:childTnLst>
                                    <p:set>
                                      <p:cBhvr>
                                        <p:cTn id="118" dur="1" fill="hold">
                                          <p:stCondLst>
                                            <p:cond delay="0"/>
                                          </p:stCondLst>
                                        </p:cTn>
                                        <p:tgtEl>
                                          <p:spTgt spid="39"/>
                                        </p:tgtEl>
                                        <p:attrNameLst>
                                          <p:attrName>style.visibility</p:attrName>
                                        </p:attrNameLst>
                                      </p:cBhvr>
                                      <p:to>
                                        <p:strVal val="visible"/>
                                      </p:to>
                                    </p:set>
                                    <p:animEffect transition="in" filter="fade">
                                      <p:cBhvr>
                                        <p:cTn id="116" dur="900"/>
                                        <p:tgtEl>
                                          <p:spTgt spid="39"/>
                                        </p:tgtEl>
                                      </p:cBhvr>
                                    </p:animEffect>
                                  </p:childTnLst>
                                </p:cTn>
                              </p:par>
                              <p:par>
                                <p:cTn id="120" presetID="10" presetClass="entr" presetSubtype="0" fill="hold" decel="100000" nodeType="withEffect">
                                  <p:stCondLst>
                                    <p:cond delay="1260"/>
                                  </p:stCondLst>
                                  <p:childTnLst>
                                    <p:set>
                                      <p:cBhvr>
                                        <p:cTn id="121" dur="1" fill="hold">
                                          <p:stCondLst>
                                            <p:cond delay="0"/>
                                          </p:stCondLst>
                                        </p:cTn>
                                        <p:tgtEl>
                                          <p:spTgt spid="40"/>
                                        </p:tgtEl>
                                        <p:attrNameLst>
                                          <p:attrName>style.visibility</p:attrName>
                                        </p:attrNameLst>
                                      </p:cBhvr>
                                      <p:to>
                                        <p:strVal val="visible"/>
                                      </p:to>
                                    </p:set>
                                    <p:animEffect transition="in" filter="fade">
                                      <p:cBhvr>
                                        <p:cTn id="119" dur="900"/>
                                        <p:tgtEl>
                                          <p:spTgt spid="40"/>
                                        </p:tgtEl>
                                      </p:cBhvr>
                                    </p:animEffect>
                                  </p:childTnLst>
                                </p:cTn>
                              </p:par>
                              <p:par>
                                <p:cTn id="123" presetID="10" presetClass="entr" presetSubtype="0" fill="hold" decel="100000" nodeType="withEffect">
                                  <p:stCondLst>
                                    <p:cond delay="200"/>
                                  </p:stCondLst>
                                  <p:childTnLst>
                                    <p:set>
                                      <p:cBhvr>
                                        <p:cTn id="124" dur="1" fill="hold">
                                          <p:stCondLst>
                                            <p:cond delay="0"/>
                                          </p:stCondLst>
                                        </p:cTn>
                                        <p:tgtEl>
                                          <p:spTgt spid="41"/>
                                        </p:tgtEl>
                                        <p:attrNameLst>
                                          <p:attrName>style.visibility</p:attrName>
                                        </p:attrNameLst>
                                      </p:cBhvr>
                                      <p:to>
                                        <p:strVal val="visible"/>
                                      </p:to>
                                    </p:set>
                                    <p:animEffect transition="in" filter="fade">
                                      <p:cBhvr>
                                        <p:cTn id="122" dur="9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The ask · The team it hires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Planning assumptions · not mar" descr="Planning assumptions · not market rates"/>
          <p:cNvPicPr>
            <a:picLocks noChangeAspect="1"/>
          </p:cNvPicPr>
          <p:nvPr/>
        </p:nvPicPr>
        <p:blipFill>
          <a:blip r:embed="rId3"/>
          <a:stretch>
            <a:fillRect/>
          </a:stretch>
        </p:blipFill>
        <p:spPr>
          <a:xfrm>
            <a:off x="7829550" y="558800"/>
            <a:ext cx="3702050" cy="546100"/>
          </a:xfrm>
          <a:prstGeom prst="rect">
            <a:avLst/>
          </a:prstGeom>
        </p:spPr>
      </p:pic>
      <p:pic>
        <p:nvPicPr>
          <p:cNvPr id="4" name="01 fade · 17The ask · The team it hires" descr="17The ask · The team it hires"/>
          <p:cNvPicPr>
            <a:picLocks noChangeAspect="1"/>
          </p:cNvPicPr>
          <p:nvPr/>
        </p:nvPicPr>
        <p:blipFill>
          <a:blip r:embed="rId4"/>
          <a:stretch>
            <a:fillRect/>
          </a:stretch>
        </p:blipFill>
        <p:spPr>
          <a:xfrm>
            <a:off x="660400" y="609600"/>
            <a:ext cx="10871200" cy="444500"/>
          </a:xfrm>
          <a:prstGeom prst="rect">
            <a:avLst/>
          </a:prstGeom>
        </p:spPr>
      </p:pic>
      <p:pic>
        <p:nvPicPr>
          <p:cNvPr id="5" name="02 up · Five engineers, QAR 76,000 a m" descr="Five engineers, QAR 76,000 a month."/>
          <p:cNvPicPr>
            <a:picLocks noChangeAspect="1"/>
          </p:cNvPicPr>
          <p:nvPr/>
        </p:nvPicPr>
        <p:blipFill>
          <a:blip r:embed="rId5"/>
          <a:stretch>
            <a:fillRect/>
          </a:stretch>
        </p:blipFill>
        <p:spPr>
          <a:xfrm>
            <a:off x="660400" y="977900"/>
            <a:ext cx="9829800" cy="755650"/>
          </a:xfrm>
          <a:prstGeom prst="rect">
            <a:avLst/>
          </a:prstGeom>
        </p:spPr>
      </p:pic>
      <p:pic>
        <p:nvPicPr>
          <p:cNvPr id="6" name="03 up · Role Owns Monthly (QAR) Annual" descr="Role Owns Monthly (QAR) Annual (QAR) CTO · Systems &amp; Product Architect Architecture, scope, data contracts, security, delivery 20,000 240,000 Thermal Intelligence · Data Engineer Thermal state, exposu"/>
          <p:cNvPicPr>
            <a:picLocks noChangeAspect="1"/>
          </p:cNvPicPr>
          <p:nvPr/>
        </p:nvPicPr>
        <p:blipFill>
          <a:blip r:embed="rId6"/>
          <a:stretch>
            <a:fillRect/>
          </a:stretch>
        </p:blipFill>
        <p:spPr>
          <a:xfrm>
            <a:off x="660400" y="1625600"/>
            <a:ext cx="10871200" cy="3384550"/>
          </a:xfrm>
          <a:prstGeom prst="rect">
            <a:avLst/>
          </a:prstGeom>
        </p:spPr>
      </p:pic>
      <p:pic>
        <p:nvPicPr>
          <p:cNvPr id="7" name="04 up · The CEO leads investors, ancho" descr="The CEO leads investors, anchor customers and sales. Food-safety experts are hired fractionally, from the validation line."/>
          <p:cNvPicPr>
            <a:picLocks noChangeAspect="1"/>
          </p:cNvPicPr>
          <p:nvPr/>
        </p:nvPicPr>
        <p:blipFill>
          <a:blip r:embed="rId7"/>
          <a:stretch>
            <a:fillRect/>
          </a:stretch>
        </p:blipFill>
        <p:spPr>
          <a:xfrm>
            <a:off x="660400" y="4813300"/>
            <a:ext cx="10871200" cy="5270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20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7" presetID="10" presetClass="entr" presetSubtype="0" fill="hold" decel="10000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6" dur="900"/>
                                        <p:tgtEl>
                                          <p:spTgt spid="4"/>
                                        </p:tgtEl>
                                      </p:cBhvr>
                                    </p:animEffect>
                                  </p:childTnLst>
                                </p:cTn>
                              </p:par>
                              <p:par>
                                <p:cTn id="11" presetID="2" presetClass="entr" presetSubtype="4" fill="hold" decel="100000" nodeType="withEffect">
                                  <p:stCondLst>
                                    <p:cond delay="12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9" dur="900" fill="hold"/>
                                        <p:tgtEl>
                                          <p:spTgt spid="5"/>
                                        </p:tgtEl>
                                        <p:attrNameLst>
                                          <p:attrName>ppt_y</p:attrName>
                                        </p:attrNameLst>
                                      </p:cBhvr>
                                      <p:tavLst>
                                        <p:tav tm="0">
                                          <p:val>
                                            <p:strVal val="#ppt_y+0.03"/>
                                          </p:val>
                                        </p:tav>
                                        <p:tav tm="100000">
                                          <p:val>
                                            <p:strVal val="#ppt_y"/>
                                          </p:val>
                                        </p:tav>
                                      </p:tavLst>
                                    </p:anim>
                                    <p:animEffect transition="in" filter="fade">
                                      <p:cBhvr>
                                        <p:cTn id="10" dur="900"/>
                                        <p:tgtEl>
                                          <p:spTgt spid="5"/>
                                        </p:tgtEl>
                                      </p:cBhvr>
                                    </p:animEffect>
                                  </p:childTnLst>
                                </p:cTn>
                              </p:par>
                              <p:par>
                                <p:cTn id="15" presetID="2" presetClass="entr" presetSubtype="4" fill="hold" decel="100000" nodeType="withEffect">
                                  <p:stCondLst>
                                    <p:cond delay="3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3" dur="900" fill="hold"/>
                                        <p:tgtEl>
                                          <p:spTgt spid="6"/>
                                        </p:tgtEl>
                                        <p:attrNameLst>
                                          <p:attrName>ppt_y</p:attrName>
                                        </p:attrNameLst>
                                      </p:cBhvr>
                                      <p:tavLst>
                                        <p:tav tm="0">
                                          <p:val>
                                            <p:strVal val="#ppt_y+0.03"/>
                                          </p:val>
                                        </p:tav>
                                        <p:tav tm="100000">
                                          <p:val>
                                            <p:strVal val="#ppt_y"/>
                                          </p:val>
                                        </p:tav>
                                      </p:tavLst>
                                    </p:anim>
                                    <p:animEffect transition="in" filter="fade">
                                      <p:cBhvr>
                                        <p:cTn id="14" dur="900"/>
                                        <p:tgtEl>
                                          <p:spTgt spid="6"/>
                                        </p:tgtEl>
                                      </p:cBhvr>
                                    </p:animEffect>
                                  </p:childTnLst>
                                </p:cTn>
                              </p:par>
                              <p:par>
                                <p:cTn id="19" presetID="2" presetClass="entr" presetSubtype="4" fill="hold" decel="100000" nodeType="withEffect">
                                  <p:stCondLst>
                                    <p:cond delay="6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17" dur="900" fill="hold"/>
                                        <p:tgtEl>
                                          <p:spTgt spid="7"/>
                                        </p:tgtEl>
                                        <p:attrNameLst>
                                          <p:attrName>ppt_y</p:attrName>
                                        </p:attrNameLst>
                                      </p:cBhvr>
                                      <p:tavLst>
                                        <p:tav tm="0">
                                          <p:val>
                                            <p:strVal val="#ppt_y+0.03"/>
                                          </p:val>
                                        </p:tav>
                                        <p:tav tm="100000">
                                          <p:val>
                                            <p:strVal val="#ppt_y"/>
                                          </p:val>
                                        </p:tav>
                                      </p:tavLst>
                                    </p:anim>
                                    <p:animEffect transition="in" filter="fade">
                                      <p:cBhvr>
                                        <p:cTn id="18" dur="9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The ask · What the rest buys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18The ask · What the rest buys" descr="18The ask · What the rest buys"/>
          <p:cNvPicPr>
            <a:picLocks noChangeAspect="1"/>
          </p:cNvPicPr>
          <p:nvPr/>
        </p:nvPicPr>
        <p:blipFill>
          <a:blip r:embed="rId3"/>
          <a:stretch>
            <a:fillRect/>
          </a:stretch>
        </p:blipFill>
        <p:spPr>
          <a:xfrm>
            <a:off x="660400" y="609600"/>
            <a:ext cx="10871200" cy="444500"/>
          </a:xfrm>
          <a:prstGeom prst="rect">
            <a:avLst/>
          </a:prstGeom>
        </p:spPr>
      </p:pic>
      <p:pic>
        <p:nvPicPr>
          <p:cNvPr id="4" name="01 up · The other QAR 830K, line by li" descr="The other QAR 830K, line by line."/>
          <p:cNvPicPr>
            <a:picLocks noChangeAspect="1"/>
          </p:cNvPicPr>
          <p:nvPr/>
        </p:nvPicPr>
        <p:blipFill>
          <a:blip r:embed="rId4"/>
          <a:stretch>
            <a:fillRect/>
          </a:stretch>
        </p:blipFill>
        <p:spPr>
          <a:xfrm>
            <a:off x="660400" y="977900"/>
            <a:ext cx="9829800" cy="755650"/>
          </a:xfrm>
          <a:prstGeom prst="rect">
            <a:avLst/>
          </a:prstGeom>
        </p:spPr>
      </p:pic>
      <p:pic>
        <p:nvPicPr>
          <p:cNvPr id="5" name="02 up · Hardware &amp; platform 435,000 Se" descr="Hardware &amp; platform 435,000 Sensors and edge equipment Sensors and gateways for 3–5 facilities: cold rooms, reefer trucks, dispatch areas 155,000 Deployment, calibration, field testing Install, calibr"/>
          <p:cNvPicPr>
            <a:picLocks noChangeAspect="1"/>
          </p:cNvPicPr>
          <p:nvPr/>
        </p:nvPicPr>
        <p:blipFill>
          <a:blip r:embed="rId5"/>
          <a:stretch>
            <a:fillRect/>
          </a:stretch>
        </p:blipFill>
        <p:spPr>
          <a:xfrm>
            <a:off x="660400" y="1612900"/>
            <a:ext cx="10871200" cy="3746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8" presetID="2" presetClass="entr" presetSubtype="4" fill="hold" decel="100000"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6" dur="900" fill="hold"/>
                                        <p:tgtEl>
                                          <p:spTgt spid="4"/>
                                        </p:tgtEl>
                                        <p:attrNameLst>
                                          <p:attrName>ppt_y</p:attrName>
                                        </p:attrNameLst>
                                      </p:cBhvr>
                                      <p:tavLst>
                                        <p:tav tm="0">
                                          <p:val>
                                            <p:strVal val="#ppt_y+0.03"/>
                                          </p:val>
                                        </p:tav>
                                        <p:tav tm="100000">
                                          <p:val>
                                            <p:strVal val="#ppt_y"/>
                                          </p:val>
                                        </p:tav>
                                      </p:tavLst>
                                    </p:anim>
                                    <p:animEffect transition="in" filter="fade">
                                      <p:cBhvr>
                                        <p:cTn id="7" dur="900"/>
                                        <p:tgtEl>
                                          <p:spTgt spid="4"/>
                                        </p:tgtEl>
                                      </p:cBhvr>
                                    </p:animEffect>
                                  </p:childTnLst>
                                </p:cTn>
                              </p:par>
                              <p:par>
                                <p:cTn id="12" presetID="2" presetClass="entr" presetSubtype="4" fill="hold" decel="100000"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0" dur="900" fill="hold"/>
                                        <p:tgtEl>
                                          <p:spTgt spid="5"/>
                                        </p:tgtEl>
                                        <p:attrNameLst>
                                          <p:attrName>ppt_y</p:attrName>
                                        </p:attrNameLst>
                                      </p:cBhvr>
                                      <p:tavLst>
                                        <p:tav tm="0">
                                          <p:val>
                                            <p:strVal val="#ppt_y+0.03"/>
                                          </p:val>
                                        </p:tav>
                                        <p:tav tm="100000">
                                          <p:val>
                                            <p:strVal val="#ppt_y"/>
                                          </p:val>
                                        </p:tav>
                                      </p:tavLst>
                                    </p:anim>
                                    <p:animEffect transition="in" filter="fade">
                                      <p:cBhvr>
                                        <p:cTn id="11" dur="9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The ask · What the money proves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Spend phasing indicative" descr="Spend phasing indicative"/>
          <p:cNvPicPr>
            <a:picLocks noChangeAspect="1"/>
          </p:cNvPicPr>
          <p:nvPr/>
        </p:nvPicPr>
        <p:blipFill>
          <a:blip r:embed="rId3"/>
          <a:stretch>
            <a:fillRect/>
          </a:stretch>
        </p:blipFill>
        <p:spPr>
          <a:xfrm>
            <a:off x="8997950" y="558800"/>
            <a:ext cx="2533650" cy="546100"/>
          </a:xfrm>
          <a:prstGeom prst="rect">
            <a:avLst/>
          </a:prstGeom>
        </p:spPr>
      </p:pic>
      <p:pic>
        <p:nvPicPr>
          <p:cNvPr id="4" name="01 fade · 19The ask · What the money pro" descr="19The ask · What the money proves"/>
          <p:cNvPicPr>
            <a:picLocks noChangeAspect="1"/>
          </p:cNvPicPr>
          <p:nvPr/>
        </p:nvPicPr>
        <p:blipFill>
          <a:blip r:embed="rId4"/>
          <a:stretch>
            <a:fillRect/>
          </a:stretch>
        </p:blipFill>
        <p:spPr>
          <a:xfrm>
            <a:off x="660400" y="609600"/>
            <a:ext cx="10871200" cy="444500"/>
          </a:xfrm>
          <a:prstGeom prst="rect">
            <a:avLst/>
          </a:prstGeom>
        </p:spPr>
      </p:pic>
      <p:pic>
        <p:nvPicPr>
          <p:cNvPr id="5" name="02 up · From pilot to recurring revenu" descr="From pilot to recurring revenue."/>
          <p:cNvPicPr>
            <a:picLocks noChangeAspect="1"/>
          </p:cNvPicPr>
          <p:nvPr/>
        </p:nvPicPr>
        <p:blipFill>
          <a:blip r:embed="rId5"/>
          <a:stretch>
            <a:fillRect/>
          </a:stretch>
        </p:blipFill>
        <p:spPr>
          <a:xfrm>
            <a:off x="660400" y="977900"/>
            <a:ext cx="9829800" cy="755650"/>
          </a:xfrm>
          <a:prstGeom prst="rect">
            <a:avLst/>
          </a:prstGeom>
        </p:spPr>
      </p:pic>
      <p:pic>
        <p:nvPicPr>
          <p:cNvPr id="6" name="03 up · M1–2 Secure the pilot, survey " descr="M1–2 Secure the pilot, survey sites, agree how value is measured, build the baseline. CustomersLegal"/>
          <p:cNvPicPr>
            <a:picLocks noChangeAspect="1"/>
          </p:cNvPicPr>
          <p:nvPr/>
        </p:nvPicPr>
        <p:blipFill>
          <a:blip r:embed="rId6"/>
          <a:stretch>
            <a:fillRect/>
          </a:stretch>
        </p:blipFill>
        <p:spPr>
          <a:xfrm>
            <a:off x="660400" y="1651000"/>
            <a:ext cx="2387600" cy="2089150"/>
          </a:xfrm>
          <a:prstGeom prst="rect">
            <a:avLst/>
          </a:prstGeom>
        </p:spPr>
      </p:pic>
      <p:pic>
        <p:nvPicPr>
          <p:cNvPr id="7" name="04 up · M3–4 Install devices, build in" descr="M3–4 Install devices, build ingestion and asset history, test outages and alerts. SensorsDeploymentIntegration"/>
          <p:cNvPicPr>
            <a:picLocks noChangeAspect="1"/>
          </p:cNvPicPr>
          <p:nvPr/>
        </p:nvPicPr>
        <p:blipFill>
          <a:blip r:embed="rId7"/>
          <a:stretch>
            <a:fillRect/>
          </a:stretch>
        </p:blipFill>
        <p:spPr>
          <a:xfrm>
            <a:off x="2781300" y="1651000"/>
            <a:ext cx="2387600" cy="2089150"/>
          </a:xfrm>
          <a:prstGeom prst="rect">
            <a:avLst/>
          </a:prstGeom>
        </p:spPr>
      </p:pic>
      <p:pic>
        <p:nvPicPr>
          <p:cNvPr id="8" name="05 up · M5–6 Run excursion logic, risk" descr="M5–6 Run excursion logic, risk estimates and the approved intervention workflow. ValidationCloud"/>
          <p:cNvPicPr>
            <a:picLocks noChangeAspect="1"/>
          </p:cNvPicPr>
          <p:nvPr/>
        </p:nvPicPr>
        <p:blipFill>
          <a:blip r:embed="rId8"/>
          <a:stretch>
            <a:fillRect/>
          </a:stretch>
        </p:blipFill>
        <p:spPr>
          <a:xfrm>
            <a:off x="4902200" y="1651000"/>
            <a:ext cx="2387600" cy="2089150"/>
          </a:xfrm>
          <a:prstGeom prst="rect">
            <a:avLst/>
          </a:prstGeom>
        </p:spPr>
      </p:pic>
      <p:pic>
        <p:nvPicPr>
          <p:cNvPr id="9" name="06 up · M7–9 Compare to baseline, quan" descr="M7–9 Compare to baseline, quantify value, start controlled Commercial Reserve tests. ValidationCustomers"/>
          <p:cNvPicPr>
            <a:picLocks noChangeAspect="1"/>
          </p:cNvPicPr>
          <p:nvPr/>
        </p:nvPicPr>
        <p:blipFill>
          <a:blip r:embed="rId9"/>
          <a:stretch>
            <a:fillRect/>
          </a:stretch>
        </p:blipFill>
        <p:spPr>
          <a:xfrm>
            <a:off x="7023100" y="1651000"/>
            <a:ext cx="2387600" cy="2089150"/>
          </a:xfrm>
          <a:prstGeom prst="rect">
            <a:avLst/>
          </a:prstGeom>
        </p:spPr>
      </p:pic>
      <p:pic>
        <p:nvPicPr>
          <p:cNvPr id="10" name="07 up · M10–12 Convert to an annual co" descr="M10–12 Convert to an annual contract and pursue a second customer. LegalCustomers"/>
          <p:cNvPicPr>
            <a:picLocks noChangeAspect="1"/>
          </p:cNvPicPr>
          <p:nvPr/>
        </p:nvPicPr>
        <p:blipFill>
          <a:blip r:embed="rId10"/>
          <a:stretch>
            <a:fillRect/>
          </a:stretch>
        </p:blipFill>
        <p:spPr>
          <a:xfrm>
            <a:off x="9144000" y="1651000"/>
            <a:ext cx="2387600" cy="2089150"/>
          </a:xfrm>
          <a:prstGeom prst="rect">
            <a:avLst/>
          </a:prstGeom>
        </p:spPr>
      </p:pic>
      <p:pic>
        <p:nvPicPr>
          <p:cNvPr id="11" name="08 up · Team ≈ QAR 85K / month, all 12" descr="Team ≈ QAR 85K / month, all 12 months"/>
          <p:cNvPicPr>
            <a:picLocks noChangeAspect="1"/>
          </p:cNvPicPr>
          <p:nvPr/>
        </p:nvPicPr>
        <p:blipFill>
          <a:blip r:embed="rId11"/>
          <a:stretch>
            <a:fillRect/>
          </a:stretch>
        </p:blipFill>
        <p:spPr>
          <a:xfrm>
            <a:off x="660400" y="3581400"/>
            <a:ext cx="10871200" cy="450850"/>
          </a:xfrm>
          <a:prstGeom prst="rect">
            <a:avLst/>
          </a:prstGeom>
        </p:spPr>
      </p:pic>
      <p:pic>
        <p:nvPicPr>
          <p:cNvPr id="12" name="09 grow · graphic" descr=""/>
          <p:cNvPicPr>
            <a:picLocks noChangeAspect="1"/>
          </p:cNvPicPr>
          <p:nvPr/>
        </p:nvPicPr>
        <p:blipFill>
          <a:blip r:embed="rId12"/>
          <a:stretch>
            <a:fillRect/>
          </a:stretch>
        </p:blipFill>
        <p:spPr>
          <a:xfrm>
            <a:off x="1549400" y="3581400"/>
            <a:ext cx="7175500" cy="450850"/>
          </a:xfrm>
          <a:prstGeom prst="rect">
            <a:avLst/>
          </a:prstGeom>
        </p:spPr>
      </p:pic>
      <p:pic>
        <p:nvPicPr>
          <p:cNvPr id="13" name="10 up · The pilot must prove Measured " descr="The pilot must prove Measured avoided loss ≥ 3× the platform fee, from equipment anomaly to economic exposure."/>
          <p:cNvPicPr>
            <a:picLocks noChangeAspect="1"/>
          </p:cNvPicPr>
          <p:nvPr/>
        </p:nvPicPr>
        <p:blipFill>
          <a:blip r:embed="rId13"/>
          <a:stretch>
            <a:fillRect/>
          </a:stretch>
        </p:blipFill>
        <p:spPr>
          <a:xfrm>
            <a:off x="660400" y="3873500"/>
            <a:ext cx="5511800" cy="1143000"/>
          </a:xfrm>
          <a:prstGeom prst="rect">
            <a:avLst/>
          </a:prstGeom>
        </p:spPr>
      </p:pic>
      <p:pic>
        <p:nvPicPr>
          <p:cNvPr id="14" name="11 up · Month 12 A credible path to re" descr="Month 12 A credible path to repeatable deployments: QAR 300–500K contracted ARR. A target, not a forecast."/>
          <p:cNvPicPr>
            <a:picLocks noChangeAspect="1"/>
          </p:cNvPicPr>
          <p:nvPr/>
        </p:nvPicPr>
        <p:blipFill>
          <a:blip r:embed="rId14"/>
          <a:stretch>
            <a:fillRect/>
          </a:stretch>
        </p:blipFill>
        <p:spPr>
          <a:xfrm>
            <a:off x="6019800" y="3873500"/>
            <a:ext cx="5511800" cy="1143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20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7" presetID="10" presetClass="entr" presetSubtype="0" fill="hold" decel="10000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6" dur="900"/>
                                        <p:tgtEl>
                                          <p:spTgt spid="4"/>
                                        </p:tgtEl>
                                      </p:cBhvr>
                                    </p:animEffect>
                                  </p:childTnLst>
                                </p:cTn>
                              </p:par>
                              <p:par>
                                <p:cTn id="11" presetID="2" presetClass="entr" presetSubtype="4" fill="hold" decel="100000" nodeType="withEffect">
                                  <p:stCondLst>
                                    <p:cond delay="12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9" dur="900" fill="hold"/>
                                        <p:tgtEl>
                                          <p:spTgt spid="5"/>
                                        </p:tgtEl>
                                        <p:attrNameLst>
                                          <p:attrName>ppt_y</p:attrName>
                                        </p:attrNameLst>
                                      </p:cBhvr>
                                      <p:tavLst>
                                        <p:tav tm="0">
                                          <p:val>
                                            <p:strVal val="#ppt_y+0.03"/>
                                          </p:val>
                                        </p:tav>
                                        <p:tav tm="100000">
                                          <p:val>
                                            <p:strVal val="#ppt_y"/>
                                          </p:val>
                                        </p:tav>
                                      </p:tavLst>
                                    </p:anim>
                                    <p:animEffect transition="in" filter="fade">
                                      <p:cBhvr>
                                        <p:cTn id="10" dur="900"/>
                                        <p:tgtEl>
                                          <p:spTgt spid="5"/>
                                        </p:tgtEl>
                                      </p:cBhvr>
                                    </p:animEffect>
                                  </p:childTnLst>
                                </p:cTn>
                              </p:par>
                              <p:par>
                                <p:cTn id="15" presetID="2" presetClass="entr" presetSubtype="4" fill="hold" decel="100000" nodeType="withEffect">
                                  <p:stCondLst>
                                    <p:cond delay="3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3" dur="900" fill="hold"/>
                                        <p:tgtEl>
                                          <p:spTgt spid="6"/>
                                        </p:tgtEl>
                                        <p:attrNameLst>
                                          <p:attrName>ppt_y</p:attrName>
                                        </p:attrNameLst>
                                      </p:cBhvr>
                                      <p:tavLst>
                                        <p:tav tm="0">
                                          <p:val>
                                            <p:strVal val="#ppt_y+0.03"/>
                                          </p:val>
                                        </p:tav>
                                        <p:tav tm="100000">
                                          <p:val>
                                            <p:strVal val="#ppt_y"/>
                                          </p:val>
                                        </p:tav>
                                      </p:tavLst>
                                    </p:anim>
                                    <p:animEffect transition="in" filter="fade">
                                      <p:cBhvr>
                                        <p:cTn id="14" dur="900"/>
                                        <p:tgtEl>
                                          <p:spTgt spid="6"/>
                                        </p:tgtEl>
                                      </p:cBhvr>
                                    </p:animEffect>
                                  </p:childTnLst>
                                </p:cTn>
                              </p:par>
                              <p:par>
                                <p:cTn id="19" presetID="2" presetClass="entr" presetSubtype="4" fill="hold" decel="100000" nodeType="withEffect">
                                  <p:stCondLst>
                                    <p:cond delay="4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17" dur="900" fill="hold"/>
                                        <p:tgtEl>
                                          <p:spTgt spid="7"/>
                                        </p:tgtEl>
                                        <p:attrNameLst>
                                          <p:attrName>ppt_y</p:attrName>
                                        </p:attrNameLst>
                                      </p:cBhvr>
                                      <p:tavLst>
                                        <p:tav tm="0">
                                          <p:val>
                                            <p:strVal val="#ppt_y+0.03"/>
                                          </p:val>
                                        </p:tav>
                                        <p:tav tm="100000">
                                          <p:val>
                                            <p:strVal val="#ppt_y"/>
                                          </p:val>
                                        </p:tav>
                                      </p:tavLst>
                                    </p:anim>
                                    <p:animEffect transition="in" filter="fade">
                                      <p:cBhvr>
                                        <p:cTn id="18" dur="900"/>
                                        <p:tgtEl>
                                          <p:spTgt spid="7"/>
                                        </p:tgtEl>
                                      </p:cBhvr>
                                    </p:animEffect>
                                  </p:childTnLst>
                                </p:cTn>
                              </p:par>
                              <p:par>
                                <p:cTn id="23" presetID="2" presetClass="entr" presetSubtype="4" fill="hold" decel="100000" nodeType="withEffect">
                                  <p:stCondLst>
                                    <p:cond delay="50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1" dur="900" fill="hold"/>
                                        <p:tgtEl>
                                          <p:spTgt spid="8"/>
                                        </p:tgtEl>
                                        <p:attrNameLst>
                                          <p:attrName>ppt_y</p:attrName>
                                        </p:attrNameLst>
                                      </p:cBhvr>
                                      <p:tavLst>
                                        <p:tav tm="0">
                                          <p:val>
                                            <p:strVal val="#ppt_y+0.03"/>
                                          </p:val>
                                        </p:tav>
                                        <p:tav tm="100000">
                                          <p:val>
                                            <p:strVal val="#ppt_y"/>
                                          </p:val>
                                        </p:tav>
                                      </p:tavLst>
                                    </p:anim>
                                    <p:animEffect transition="in" filter="fade">
                                      <p:cBhvr>
                                        <p:cTn id="22" dur="900"/>
                                        <p:tgtEl>
                                          <p:spTgt spid="8"/>
                                        </p:tgtEl>
                                      </p:cBhvr>
                                    </p:animEffect>
                                  </p:childTnLst>
                                </p:cTn>
                              </p:par>
                              <p:par>
                                <p:cTn id="27" presetID="2" presetClass="entr" presetSubtype="4" fill="hold" decel="100000" nodeType="withEffect">
                                  <p:stCondLst>
                                    <p:cond delay="60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5" dur="900" fill="hold"/>
                                        <p:tgtEl>
                                          <p:spTgt spid="9"/>
                                        </p:tgtEl>
                                        <p:attrNameLst>
                                          <p:attrName>ppt_y</p:attrName>
                                        </p:attrNameLst>
                                      </p:cBhvr>
                                      <p:tavLst>
                                        <p:tav tm="0">
                                          <p:val>
                                            <p:strVal val="#ppt_y+0.03"/>
                                          </p:val>
                                        </p:tav>
                                        <p:tav tm="100000">
                                          <p:val>
                                            <p:strVal val="#ppt_y"/>
                                          </p:val>
                                        </p:tav>
                                      </p:tavLst>
                                    </p:anim>
                                    <p:animEffect transition="in" filter="fade">
                                      <p:cBhvr>
                                        <p:cTn id="26" dur="900"/>
                                        <p:tgtEl>
                                          <p:spTgt spid="9"/>
                                        </p:tgtEl>
                                      </p:cBhvr>
                                    </p:animEffect>
                                  </p:childTnLst>
                                </p:cTn>
                              </p:par>
                              <p:par>
                                <p:cTn id="31" presetID="2" presetClass="entr" presetSubtype="4" fill="hold" decel="100000" nodeType="withEffect">
                                  <p:stCondLst>
                                    <p:cond delay="70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29" dur="900" fill="hold"/>
                                        <p:tgtEl>
                                          <p:spTgt spid="10"/>
                                        </p:tgtEl>
                                        <p:attrNameLst>
                                          <p:attrName>ppt_y</p:attrName>
                                        </p:attrNameLst>
                                      </p:cBhvr>
                                      <p:tavLst>
                                        <p:tav tm="0">
                                          <p:val>
                                            <p:strVal val="#ppt_y+0.03"/>
                                          </p:val>
                                        </p:tav>
                                        <p:tav tm="100000">
                                          <p:val>
                                            <p:strVal val="#ppt_y"/>
                                          </p:val>
                                        </p:tav>
                                      </p:tavLst>
                                    </p:anim>
                                    <p:animEffect transition="in" filter="fade">
                                      <p:cBhvr>
                                        <p:cTn id="30" dur="900"/>
                                        <p:tgtEl>
                                          <p:spTgt spid="10"/>
                                        </p:tgtEl>
                                      </p:cBhvr>
                                    </p:animEffect>
                                  </p:childTnLst>
                                </p:cTn>
                              </p:par>
                              <p:par>
                                <p:cTn id="35" presetID="2" presetClass="entr" presetSubtype="4" fill="hold" decel="100000" nodeType="withEffect">
                                  <p:stCondLst>
                                    <p:cond delay="85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3" dur="900" fill="hold"/>
                                        <p:tgtEl>
                                          <p:spTgt spid="11"/>
                                        </p:tgtEl>
                                        <p:attrNameLst>
                                          <p:attrName>ppt_y</p:attrName>
                                        </p:attrNameLst>
                                      </p:cBhvr>
                                      <p:tavLst>
                                        <p:tav tm="0">
                                          <p:val>
                                            <p:strVal val="#ppt_y+0.03"/>
                                          </p:val>
                                        </p:tav>
                                        <p:tav tm="100000">
                                          <p:val>
                                            <p:strVal val="#ppt_y"/>
                                          </p:val>
                                        </p:tav>
                                      </p:tavLst>
                                    </p:anim>
                                    <p:animEffect transition="in" filter="fade">
                                      <p:cBhvr>
                                        <p:cTn id="34" dur="900"/>
                                        <p:tgtEl>
                                          <p:spTgt spid="11"/>
                                        </p:tgtEl>
                                      </p:cBhvr>
                                    </p:animEffect>
                                  </p:childTnLst>
                                </p:cTn>
                              </p:par>
                              <p:par>
                                <p:cTn id="38" presetID="22" presetClass="entr" presetSubtype="8" fill="hold" decel="100000" nodeType="withEffect">
                                  <p:stCondLst>
                                    <p:cond delay="100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37" dur="1400"/>
                                        <p:tgtEl>
                                          <p:spTgt spid="12"/>
                                        </p:tgtEl>
                                      </p:cBhvr>
                                    </p:animEffect>
                                  </p:childTnLst>
                                </p:cTn>
                              </p:par>
                              <p:par>
                                <p:cTn id="42" presetID="2" presetClass="entr" presetSubtype="4" fill="hold" decel="100000" nodeType="withEffect">
                                  <p:stCondLst>
                                    <p:cond delay="1100"/>
                                  </p:stCondLst>
                                  <p:childTnLst>
                                    <p:set>
                                      <p:cBhvr>
                                        <p:cTn id="43" dur="1" fill="hold">
                                          <p:stCondLst>
                                            <p:cond delay="0"/>
                                          </p:stCondLst>
                                        </p:cTn>
                                        <p:tgtEl>
                                          <p:spTgt spid="13"/>
                                        </p:tgtEl>
                                        <p:attrNameLst>
                                          <p:attrName>style.visibility</p:attrName>
                                        </p:attrNameLst>
                                      </p:cBhvr>
                                      <p:to>
                                        <p:strVal val="visible"/>
                                      </p:to>
                                    </p:set>
                                    <p:anim calcmode="lin" valueType="num">
                                      <p:cBhvr additive="base">
                                        <p:cTn id="40" dur="900" fill="hold"/>
                                        <p:tgtEl>
                                          <p:spTgt spid="13"/>
                                        </p:tgtEl>
                                        <p:attrNameLst>
                                          <p:attrName>ppt_y</p:attrName>
                                        </p:attrNameLst>
                                      </p:cBhvr>
                                      <p:tavLst>
                                        <p:tav tm="0">
                                          <p:val>
                                            <p:strVal val="#ppt_y+0.03"/>
                                          </p:val>
                                        </p:tav>
                                        <p:tav tm="100000">
                                          <p:val>
                                            <p:strVal val="#ppt_y"/>
                                          </p:val>
                                        </p:tav>
                                      </p:tavLst>
                                    </p:anim>
                                    <p:animEffect transition="in" filter="fade">
                                      <p:cBhvr>
                                        <p:cTn id="41" dur="900"/>
                                        <p:tgtEl>
                                          <p:spTgt spid="13"/>
                                        </p:tgtEl>
                                      </p:cBhvr>
                                    </p:animEffect>
                                  </p:childTnLst>
                                </p:cTn>
                              </p:par>
                              <p:par>
                                <p:cTn id="46" presetID="2" presetClass="entr" presetSubtype="4" fill="hold" decel="100000" nodeType="withEffect">
                                  <p:stCondLst>
                                    <p:cond delay="120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4" dur="900" fill="hold"/>
                                        <p:tgtEl>
                                          <p:spTgt spid="14"/>
                                        </p:tgtEl>
                                        <p:attrNameLst>
                                          <p:attrName>ppt_y</p:attrName>
                                        </p:attrNameLst>
                                      </p:cBhvr>
                                      <p:tavLst>
                                        <p:tav tm="0">
                                          <p:val>
                                            <p:strVal val="#ppt_y+0.03"/>
                                          </p:val>
                                        </p:tav>
                                        <p:tav tm="100000">
                                          <p:val>
                                            <p:strVal val="#ppt_y"/>
                                          </p:val>
                                        </p:tav>
                                      </p:tavLst>
                                    </p:anim>
                                    <p:animEffect transition="in" filter="fade">
                                      <p:cBhvr>
                                        <p:cTn id="45" dur="9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The ask · Risks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20The ask · Risks" descr="20The ask · Risks"/>
          <p:cNvPicPr>
            <a:picLocks noChangeAspect="1"/>
          </p:cNvPicPr>
          <p:nvPr/>
        </p:nvPicPr>
        <p:blipFill>
          <a:blip r:embed="rId3"/>
          <a:stretch>
            <a:fillRect/>
          </a:stretch>
        </p:blipFill>
        <p:spPr>
          <a:xfrm>
            <a:off x="660400" y="609600"/>
            <a:ext cx="10871200" cy="444500"/>
          </a:xfrm>
          <a:prstGeom prst="rect">
            <a:avLst/>
          </a:prstGeom>
        </p:spPr>
      </p:pic>
      <p:pic>
        <p:nvPicPr>
          <p:cNvPr id="4" name="01 up · Known risks, planned responses" descr="Known risks, planned responses."/>
          <p:cNvPicPr>
            <a:picLocks noChangeAspect="1"/>
          </p:cNvPicPr>
          <p:nvPr/>
        </p:nvPicPr>
        <p:blipFill>
          <a:blip r:embed="rId4"/>
          <a:stretch>
            <a:fillRect/>
          </a:stretch>
        </p:blipFill>
        <p:spPr>
          <a:xfrm>
            <a:off x="660400" y="977900"/>
            <a:ext cx="9829800" cy="838200"/>
          </a:xfrm>
          <a:prstGeom prst="rect">
            <a:avLst/>
          </a:prstGeom>
        </p:spPr>
      </p:pic>
      <p:pic>
        <p:nvPicPr>
          <p:cNvPr id="5" name="02 up · Risk Mitigation Customer data " descr="Risk Mitigation Customer data access Sign data access and a named sponsor first False precision Validated assumptions, uncertainty shown, domain review Integration complexity A few high-value data flo"/>
          <p:cNvPicPr>
            <a:picLocks noChangeAspect="1"/>
          </p:cNvPicPr>
          <p:nvPr/>
        </p:nvPicPr>
        <p:blipFill>
          <a:blip r:embed="rId5"/>
          <a:stretch>
            <a:fillRect/>
          </a:stretch>
        </p:blipFill>
        <p:spPr>
          <a:xfrm>
            <a:off x="660400" y="1809750"/>
            <a:ext cx="7721600" cy="2901950"/>
          </a:xfrm>
          <a:prstGeom prst="rect">
            <a:avLst/>
          </a:prstGeom>
        </p:spPr>
      </p:pic>
      <p:pic>
        <p:nvPicPr>
          <p:cNvPr id="6" name="03 right · 10.5% Contingency reserve QAR " descr="10.5% Contingency reserve QAR 195,000 held back. Spent only with documented approval from founders and investors."/>
          <p:cNvPicPr>
            <a:picLocks noChangeAspect="1"/>
          </p:cNvPicPr>
          <p:nvPr/>
        </p:nvPicPr>
        <p:blipFill>
          <a:blip r:embed="rId6"/>
          <a:stretch>
            <a:fillRect/>
          </a:stretch>
        </p:blipFill>
        <p:spPr>
          <a:xfrm>
            <a:off x="8432800" y="1809750"/>
            <a:ext cx="3098800" cy="2381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8" presetID="2" presetClass="entr" presetSubtype="4" fill="hold" decel="100000"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6" dur="900" fill="hold"/>
                                        <p:tgtEl>
                                          <p:spTgt spid="4"/>
                                        </p:tgtEl>
                                        <p:attrNameLst>
                                          <p:attrName>ppt_y</p:attrName>
                                        </p:attrNameLst>
                                      </p:cBhvr>
                                      <p:tavLst>
                                        <p:tav tm="0">
                                          <p:val>
                                            <p:strVal val="#ppt_y+0.03"/>
                                          </p:val>
                                        </p:tav>
                                        <p:tav tm="100000">
                                          <p:val>
                                            <p:strVal val="#ppt_y"/>
                                          </p:val>
                                        </p:tav>
                                      </p:tavLst>
                                    </p:anim>
                                    <p:animEffect transition="in" filter="fade">
                                      <p:cBhvr>
                                        <p:cTn id="7" dur="900"/>
                                        <p:tgtEl>
                                          <p:spTgt spid="4"/>
                                        </p:tgtEl>
                                      </p:cBhvr>
                                    </p:animEffect>
                                  </p:childTnLst>
                                </p:cTn>
                              </p:par>
                              <p:par>
                                <p:cTn id="12" presetID="2" presetClass="entr" presetSubtype="4" fill="hold" decel="100000"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0" dur="900" fill="hold"/>
                                        <p:tgtEl>
                                          <p:spTgt spid="5"/>
                                        </p:tgtEl>
                                        <p:attrNameLst>
                                          <p:attrName>ppt_y</p:attrName>
                                        </p:attrNameLst>
                                      </p:cBhvr>
                                      <p:tavLst>
                                        <p:tav tm="0">
                                          <p:val>
                                            <p:strVal val="#ppt_y+0.03"/>
                                          </p:val>
                                        </p:tav>
                                        <p:tav tm="100000">
                                          <p:val>
                                            <p:strVal val="#ppt_y"/>
                                          </p:val>
                                        </p:tav>
                                      </p:tavLst>
                                    </p:anim>
                                    <p:animEffect transition="in" filter="fade">
                                      <p:cBhvr>
                                        <p:cTn id="11" dur="900"/>
                                        <p:tgtEl>
                                          <p:spTgt spid="5"/>
                                        </p:tgtEl>
                                      </p:cBhvr>
                                    </p:animEffect>
                                  </p:childTnLst>
                                </p:cTn>
                              </p:par>
                              <p:par>
                                <p:cTn id="16" presetID="2" presetClass="entr" presetSubtype="2" fill="hold" decel="100000" nodeType="withEffect">
                                  <p:stCondLst>
                                    <p:cond delay="60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4" dur="900" fill="hold"/>
                                        <p:tgtEl>
                                          <p:spTgt spid="6"/>
                                        </p:tgtEl>
                                        <p:attrNameLst>
                                          <p:attrName>ppt_x</p:attrName>
                                        </p:attrNameLst>
                                      </p:cBhvr>
                                      <p:tavLst>
                                        <p:tav tm="0">
                                          <p:val>
                                            <p:strVal val="#ppt_x+0.025"/>
                                          </p:val>
                                        </p:tav>
                                        <p:tav tm="100000">
                                          <p:val>
                                            <p:strVal val="#ppt_x"/>
                                          </p:val>
                                        </p:tav>
                                      </p:tavLst>
                                    </p:anim>
                                    <p:animEffect transition="in" filter="fade">
                                      <p:cBhvr>
                                        <p:cTn id="15" dur="9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eyond food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Vision · not built" descr="Vision · not built"/>
          <p:cNvPicPr>
            <a:picLocks noChangeAspect="1"/>
          </p:cNvPicPr>
          <p:nvPr/>
        </p:nvPicPr>
        <p:blipFill>
          <a:blip r:embed="rId3"/>
          <a:stretch>
            <a:fillRect/>
          </a:stretch>
        </p:blipFill>
        <p:spPr>
          <a:xfrm>
            <a:off x="9461500" y="558800"/>
            <a:ext cx="2070100" cy="546100"/>
          </a:xfrm>
          <a:prstGeom prst="rect">
            <a:avLst/>
          </a:prstGeom>
        </p:spPr>
      </p:pic>
      <p:pic>
        <p:nvPicPr>
          <p:cNvPr id="4" name="01 fade · 21Beyond food" descr="21Beyond food"/>
          <p:cNvPicPr>
            <a:picLocks noChangeAspect="1"/>
          </p:cNvPicPr>
          <p:nvPr/>
        </p:nvPicPr>
        <p:blipFill>
          <a:blip r:embed="rId4"/>
          <a:stretch>
            <a:fillRect/>
          </a:stretch>
        </p:blipFill>
        <p:spPr>
          <a:xfrm>
            <a:off x="660400" y="609600"/>
            <a:ext cx="10871200" cy="444500"/>
          </a:xfrm>
          <a:prstGeom prst="rect">
            <a:avLst/>
          </a:prstGeom>
        </p:spPr>
      </p:pic>
      <p:pic>
        <p:nvPicPr>
          <p:cNvPr id="5" name="02 up · One primitive, many industries" descr="One primitive, many industries."/>
          <p:cNvPicPr>
            <a:picLocks noChangeAspect="1"/>
          </p:cNvPicPr>
          <p:nvPr/>
        </p:nvPicPr>
        <p:blipFill>
          <a:blip r:embed="rId5"/>
          <a:stretch>
            <a:fillRect/>
          </a:stretch>
        </p:blipFill>
        <p:spPr>
          <a:xfrm>
            <a:off x="660400" y="977900"/>
            <a:ext cx="9829800" cy="781050"/>
          </a:xfrm>
          <a:prstGeom prst="rect">
            <a:avLst/>
          </a:prstGeom>
        </p:spPr>
      </p:pic>
      <p:pic>
        <p:nvPicPr>
          <p:cNvPr id="6" name="03 up · Any asset that deteriorates, c" descr="Any asset that deteriorates, cures or loses viability under the stress of time needs this architecture."/>
          <p:cNvPicPr>
            <a:picLocks noChangeAspect="1"/>
          </p:cNvPicPr>
          <p:nvPr/>
        </p:nvPicPr>
        <p:blipFill>
          <a:blip r:embed="rId6"/>
          <a:stretch>
            <a:fillRect/>
          </a:stretch>
        </p:blipFill>
        <p:spPr>
          <a:xfrm>
            <a:off x="660400" y="1574800"/>
            <a:ext cx="8686800" cy="565150"/>
          </a:xfrm>
          <a:prstGeom prst="rect">
            <a:avLst/>
          </a:prstGeom>
        </p:spPr>
      </p:pic>
      <p:pic>
        <p:nvPicPr>
          <p:cNvPr id="7" name="04 fade · graphic" descr=""/>
          <p:cNvPicPr>
            <a:picLocks noChangeAspect="1"/>
          </p:cNvPicPr>
          <p:nvPr/>
        </p:nvPicPr>
        <p:blipFill>
          <a:blip r:embed="rId7"/>
          <a:stretch>
            <a:fillRect/>
          </a:stretch>
        </p:blipFill>
        <p:spPr>
          <a:xfrm>
            <a:off x="4216400" y="3225800"/>
            <a:ext cx="3759200" cy="1327150"/>
          </a:xfrm>
          <a:prstGeom prst="rect">
            <a:avLst/>
          </a:prstGeom>
        </p:spPr>
      </p:pic>
      <p:pic>
        <p:nvPicPr>
          <p:cNvPr id="8" name="05 up · Biopharma zero-trust complianc" descr="Biopharma zero-trust compliance Physics stability budgets Calculates active-cooling intercepts on the tarmac"/>
          <p:cNvPicPr>
            <a:picLocks noChangeAspect="1"/>
          </p:cNvPicPr>
          <p:nvPr/>
        </p:nvPicPr>
        <p:blipFill>
          <a:blip r:embed="rId8"/>
          <a:stretch>
            <a:fillRect/>
          </a:stretch>
        </p:blipFill>
        <p:spPr>
          <a:xfrm>
            <a:off x="660400" y="2019300"/>
            <a:ext cx="3860800" cy="1581150"/>
          </a:xfrm>
          <a:prstGeom prst="rect">
            <a:avLst/>
          </a:prstGeom>
        </p:spPr>
      </p:pic>
      <p:pic>
        <p:nvPicPr>
          <p:cNvPr id="9" name="06 up · Energy the grid trace Physics " descr="Energy the grid trace Physics grid signals, inverter telemetry Calculates grid flexibility reserve"/>
          <p:cNvPicPr>
            <a:picLocks noChangeAspect="1"/>
          </p:cNvPicPr>
          <p:nvPr/>
        </p:nvPicPr>
        <p:blipFill>
          <a:blip r:embed="rId9"/>
          <a:stretch>
            <a:fillRect/>
          </a:stretch>
        </p:blipFill>
        <p:spPr>
          <a:xfrm>
            <a:off x="7670800" y="2019300"/>
            <a:ext cx="3860800" cy="1384300"/>
          </a:xfrm>
          <a:prstGeom prst="rect">
            <a:avLst/>
          </a:prstGeom>
        </p:spPr>
      </p:pic>
      <p:pic>
        <p:nvPicPr>
          <p:cNvPr id="10" name="07 up · Space cargo the orbital trace " descr="Space cargo the orbital trace Physics propellant bleed, thermal cycling Calculates mission reserve for manoeuvres"/>
          <p:cNvPicPr>
            <a:picLocks noChangeAspect="1"/>
          </p:cNvPicPr>
          <p:nvPr/>
        </p:nvPicPr>
        <p:blipFill>
          <a:blip r:embed="rId10"/>
          <a:stretch>
            <a:fillRect/>
          </a:stretch>
        </p:blipFill>
        <p:spPr>
          <a:xfrm>
            <a:off x="660400" y="4375150"/>
            <a:ext cx="3860800" cy="1384300"/>
          </a:xfrm>
          <a:prstGeom prst="rect">
            <a:avLst/>
          </a:prstGeom>
        </p:spPr>
      </p:pic>
      <p:pic>
        <p:nvPicPr>
          <p:cNvPr id="11" name="08 up · Defence the kinetic trace Phys" descr="Defence the kinetic trace Physics munition shock and degradation Calculates operational readiness reserve"/>
          <p:cNvPicPr>
            <a:picLocks noChangeAspect="1"/>
          </p:cNvPicPr>
          <p:nvPr/>
        </p:nvPicPr>
        <p:blipFill>
          <a:blip r:embed="rId11"/>
          <a:stretch>
            <a:fillRect/>
          </a:stretch>
        </p:blipFill>
        <p:spPr>
          <a:xfrm>
            <a:off x="7670800" y="4375150"/>
            <a:ext cx="3860800" cy="1384300"/>
          </a:xfrm>
          <a:prstGeom prst="rect">
            <a:avLst/>
          </a:prstGeom>
        </p:spPr>
      </p:pic>
      <p:pic>
        <p:nvPicPr>
          <p:cNvPr id="12" name="09 zoom · Trace → State → Reserve → Deci" descr="Trace → State → Reserve → Decision Built first for the food cold chain"/>
          <p:cNvPicPr>
            <a:picLocks noChangeAspect="1"/>
          </p:cNvPicPr>
          <p:nvPr/>
        </p:nvPicPr>
        <p:blipFill>
          <a:blip r:embed="rId12"/>
          <a:stretch>
            <a:fillRect/>
          </a:stretch>
        </p:blipFill>
        <p:spPr>
          <a:xfrm>
            <a:off x="2743200" y="3333750"/>
            <a:ext cx="6705600" cy="11176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20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7" presetID="10" presetClass="entr" presetSubtype="0" fill="hold" decel="10000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6" dur="900"/>
                                        <p:tgtEl>
                                          <p:spTgt spid="4"/>
                                        </p:tgtEl>
                                      </p:cBhvr>
                                    </p:animEffect>
                                  </p:childTnLst>
                                </p:cTn>
                              </p:par>
                              <p:par>
                                <p:cTn id="11" presetID="2" presetClass="entr" presetSubtype="4" fill="hold" decel="100000" nodeType="withEffect">
                                  <p:stCondLst>
                                    <p:cond delay="12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9" dur="900" fill="hold"/>
                                        <p:tgtEl>
                                          <p:spTgt spid="5"/>
                                        </p:tgtEl>
                                        <p:attrNameLst>
                                          <p:attrName>ppt_y</p:attrName>
                                        </p:attrNameLst>
                                      </p:cBhvr>
                                      <p:tavLst>
                                        <p:tav tm="0">
                                          <p:val>
                                            <p:strVal val="#ppt_y+0.03"/>
                                          </p:val>
                                        </p:tav>
                                        <p:tav tm="100000">
                                          <p:val>
                                            <p:strVal val="#ppt_y"/>
                                          </p:val>
                                        </p:tav>
                                      </p:tavLst>
                                    </p:anim>
                                    <p:animEffect transition="in" filter="fade">
                                      <p:cBhvr>
                                        <p:cTn id="10" dur="900"/>
                                        <p:tgtEl>
                                          <p:spTgt spid="5"/>
                                        </p:tgtEl>
                                      </p:cBhvr>
                                    </p:animEffect>
                                  </p:childTnLst>
                                </p:cTn>
                              </p:par>
                              <p:par>
                                <p:cTn id="15" presetID="2" presetClass="entr" presetSubtype="4" fill="hold" decel="100000" nodeType="withEffect">
                                  <p:stCondLst>
                                    <p:cond delay="25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3" dur="900" fill="hold"/>
                                        <p:tgtEl>
                                          <p:spTgt spid="6"/>
                                        </p:tgtEl>
                                        <p:attrNameLst>
                                          <p:attrName>ppt_y</p:attrName>
                                        </p:attrNameLst>
                                      </p:cBhvr>
                                      <p:tavLst>
                                        <p:tav tm="0">
                                          <p:val>
                                            <p:strVal val="#ppt_y+0.03"/>
                                          </p:val>
                                        </p:tav>
                                        <p:tav tm="100000">
                                          <p:val>
                                            <p:strVal val="#ppt_y"/>
                                          </p:val>
                                        </p:tav>
                                      </p:tavLst>
                                    </p:anim>
                                    <p:animEffect transition="in" filter="fade">
                                      <p:cBhvr>
                                        <p:cTn id="14" dur="900"/>
                                        <p:tgtEl>
                                          <p:spTgt spid="6"/>
                                        </p:tgtEl>
                                      </p:cBhvr>
                                    </p:animEffect>
                                  </p:childTnLst>
                                </p:cTn>
                              </p:par>
                              <p:par>
                                <p:cTn id="18" presetID="10" presetClass="entr" presetSubtype="0" fill="hold" decel="100000" nodeType="withEffect">
                                  <p:stCondLst>
                                    <p:cond delay="900"/>
                                  </p:stCondLst>
                                  <p:childTnLst>
                                    <p:set>
                                      <p:cBhvr>
                                        <p:cTn id="19" dur="1" fill="hold">
                                          <p:stCondLst>
                                            <p:cond delay="0"/>
                                          </p:stCondLst>
                                        </p:cTn>
                                        <p:tgtEl>
                                          <p:spTgt spid="7"/>
                                        </p:tgtEl>
                                        <p:attrNameLst>
                                          <p:attrName>style.visibility</p:attrName>
                                        </p:attrNameLst>
                                      </p:cBhvr>
                                      <p:to>
                                        <p:strVal val="visible"/>
                                      </p:to>
                                    </p:set>
                                    <p:animEffect transition="in" filter="fade">
                                      <p:cBhvr>
                                        <p:cTn id="17" dur="900"/>
                                        <p:tgtEl>
                                          <p:spTgt spid="7"/>
                                        </p:tgtEl>
                                      </p:cBhvr>
                                    </p:animEffect>
                                  </p:childTnLst>
                                </p:cTn>
                              </p:par>
                              <p:par>
                                <p:cTn id="22" presetID="2" presetClass="entr" presetSubtype="4" fill="hold" decel="100000" nodeType="withEffect">
                                  <p:stCondLst>
                                    <p:cond delay="50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0" dur="900" fill="hold"/>
                                        <p:tgtEl>
                                          <p:spTgt spid="8"/>
                                        </p:tgtEl>
                                        <p:attrNameLst>
                                          <p:attrName>ppt_y</p:attrName>
                                        </p:attrNameLst>
                                      </p:cBhvr>
                                      <p:tavLst>
                                        <p:tav tm="0">
                                          <p:val>
                                            <p:strVal val="#ppt_y+0.03"/>
                                          </p:val>
                                        </p:tav>
                                        <p:tav tm="100000">
                                          <p:val>
                                            <p:strVal val="#ppt_y"/>
                                          </p:val>
                                        </p:tav>
                                      </p:tavLst>
                                    </p:anim>
                                    <p:animEffect transition="in" filter="fade">
                                      <p:cBhvr>
                                        <p:cTn id="21" dur="900"/>
                                        <p:tgtEl>
                                          <p:spTgt spid="8"/>
                                        </p:tgtEl>
                                      </p:cBhvr>
                                    </p:animEffect>
                                  </p:childTnLst>
                                </p:cTn>
                              </p:par>
                              <p:par>
                                <p:cTn id="26" presetID="2" presetClass="entr" presetSubtype="4" fill="hold" decel="100000" nodeType="withEffect">
                                  <p:stCondLst>
                                    <p:cond delay="60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4" dur="900" fill="hold"/>
                                        <p:tgtEl>
                                          <p:spTgt spid="9"/>
                                        </p:tgtEl>
                                        <p:attrNameLst>
                                          <p:attrName>ppt_y</p:attrName>
                                        </p:attrNameLst>
                                      </p:cBhvr>
                                      <p:tavLst>
                                        <p:tav tm="0">
                                          <p:val>
                                            <p:strVal val="#ppt_y+0.03"/>
                                          </p:val>
                                        </p:tav>
                                        <p:tav tm="100000">
                                          <p:val>
                                            <p:strVal val="#ppt_y"/>
                                          </p:val>
                                        </p:tav>
                                      </p:tavLst>
                                    </p:anim>
                                    <p:animEffect transition="in" filter="fade">
                                      <p:cBhvr>
                                        <p:cTn id="25" dur="900"/>
                                        <p:tgtEl>
                                          <p:spTgt spid="9"/>
                                        </p:tgtEl>
                                      </p:cBhvr>
                                    </p:animEffect>
                                  </p:childTnLst>
                                </p:cTn>
                              </p:par>
                              <p:par>
                                <p:cTn id="30" presetID="2" presetClass="entr" presetSubtype="4" fill="hold" decel="100000" nodeType="withEffect">
                                  <p:stCondLst>
                                    <p:cond delay="70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28" dur="900" fill="hold"/>
                                        <p:tgtEl>
                                          <p:spTgt spid="10"/>
                                        </p:tgtEl>
                                        <p:attrNameLst>
                                          <p:attrName>ppt_y</p:attrName>
                                        </p:attrNameLst>
                                      </p:cBhvr>
                                      <p:tavLst>
                                        <p:tav tm="0">
                                          <p:val>
                                            <p:strVal val="#ppt_y+0.03"/>
                                          </p:val>
                                        </p:tav>
                                        <p:tav tm="100000">
                                          <p:val>
                                            <p:strVal val="#ppt_y"/>
                                          </p:val>
                                        </p:tav>
                                      </p:tavLst>
                                    </p:anim>
                                    <p:animEffect transition="in" filter="fade">
                                      <p:cBhvr>
                                        <p:cTn id="29" dur="900"/>
                                        <p:tgtEl>
                                          <p:spTgt spid="10"/>
                                        </p:tgtEl>
                                      </p:cBhvr>
                                    </p:animEffect>
                                  </p:childTnLst>
                                </p:cTn>
                              </p:par>
                              <p:par>
                                <p:cTn id="34" presetID="2" presetClass="entr" presetSubtype="4" fill="hold" decel="100000" nodeType="withEffect">
                                  <p:stCondLst>
                                    <p:cond delay="80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2" dur="900" fill="hold"/>
                                        <p:tgtEl>
                                          <p:spTgt spid="11"/>
                                        </p:tgtEl>
                                        <p:attrNameLst>
                                          <p:attrName>ppt_y</p:attrName>
                                        </p:attrNameLst>
                                      </p:cBhvr>
                                      <p:tavLst>
                                        <p:tav tm="0">
                                          <p:val>
                                            <p:strVal val="#ppt_y+0.03"/>
                                          </p:val>
                                        </p:tav>
                                        <p:tav tm="100000">
                                          <p:val>
                                            <p:strVal val="#ppt_y"/>
                                          </p:val>
                                        </p:tav>
                                      </p:tavLst>
                                    </p:anim>
                                    <p:animEffect transition="in" filter="fade">
                                      <p:cBhvr>
                                        <p:cTn id="33" dur="900"/>
                                        <p:tgtEl>
                                          <p:spTgt spid="11"/>
                                        </p:tgtEl>
                                      </p:cBhvr>
                                    </p:animEffect>
                                  </p:childTnLst>
                                </p:cTn>
                              </p:par>
                              <p:par>
                                <p:cTn id="39" presetID="53" presetClass="entr" presetSubtype="16" fill="hold" decel="100000" nodeType="withEffect">
                                  <p:stCondLst>
                                    <p:cond delay="30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36" dur="900" fill="hold"/>
                                        <p:tgtEl>
                                          <p:spTgt spid="12"/>
                                        </p:tgtEl>
                                        <p:attrNameLst>
                                          <p:attrName>ppt_w</p:attrName>
                                        </p:attrNameLst>
                                      </p:cBhvr>
                                      <p:tavLst>
                                        <p:tav tm="0">
                                          <p:val>
                                            <p:strVal val="#ppt_w*0.94"/>
                                          </p:val>
                                        </p:tav>
                                        <p:tav tm="100000">
                                          <p:val>
                                            <p:strVal val="#ppt_w"/>
                                          </p:val>
                                        </p:tav>
                                      </p:tavLst>
                                    </p:anim>
                                    <p:anim calcmode="lin" valueType="num">
                                      <p:cBhvr additive="base">
                                        <p:cTn id="37" dur="900" fill="hold"/>
                                        <p:tgtEl>
                                          <p:spTgt spid="12"/>
                                        </p:tgtEl>
                                        <p:attrNameLst>
                                          <p:attrName>ppt_h</p:attrName>
                                        </p:attrNameLst>
                                      </p:cBhvr>
                                      <p:tavLst>
                                        <p:tav tm="0">
                                          <p:val>
                                            <p:strVal val="#ppt_h*0.94"/>
                                          </p:val>
                                        </p:tav>
                                        <p:tav tm="100000">
                                          <p:val>
                                            <p:strVal val="#ppt_h"/>
                                          </p:val>
                                        </p:tav>
                                      </p:tavLst>
                                    </p:anim>
                                    <p:animEffect transition="in" filter="fade">
                                      <p:cBhvr>
                                        <p:cTn id="38" dur="9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Thank you slide background"/>
          <p:cNvPicPr>
            <a:picLocks noChangeAspect="1"/>
          </p:cNvPicPr>
          <p:nvPr/>
        </p:nvPicPr>
        <p:blipFill>
          <a:blip r:embed="rId2"/>
          <a:stretch>
            <a:fillRect/>
          </a:stretch>
        </p:blipFill>
        <p:spPr>
          <a:xfrm>
            <a:off x="0" y="0"/>
            <a:ext cx="12192000" cy="6858000"/>
          </a:xfrm>
          <a:prstGeom prst="rect">
            <a:avLst/>
          </a:prstGeom>
        </p:spPr>
      </p:pic>
      <p:pic>
        <p:nvPicPr>
          <p:cNvPr id="3" name="00 fade · graphic" descr=""/>
          <p:cNvPicPr>
            <a:picLocks noChangeAspect="1"/>
          </p:cNvPicPr>
          <p:nvPr/>
        </p:nvPicPr>
        <p:blipFill>
          <a:blip r:embed="rId3"/>
          <a:stretch>
            <a:fillRect/>
          </a:stretch>
        </p:blipFill>
        <p:spPr>
          <a:xfrm>
            <a:off x="8686800" y="508000"/>
            <a:ext cx="2844800" cy="1739900"/>
          </a:xfrm>
          <a:prstGeom prst="rect">
            <a:avLst/>
          </a:prstGeom>
        </p:spPr>
      </p:pic>
      <p:pic>
        <p:nvPicPr>
          <p:cNvPr id="4" name="01 fade · —Thermal Trace · by Generative" descr="—Thermal Trace · by Generative Gains"/>
          <p:cNvPicPr>
            <a:picLocks noChangeAspect="1"/>
          </p:cNvPicPr>
          <p:nvPr/>
        </p:nvPicPr>
        <p:blipFill>
          <a:blip r:embed="rId4"/>
          <a:stretch>
            <a:fillRect/>
          </a:stretch>
        </p:blipFill>
        <p:spPr>
          <a:xfrm>
            <a:off x="660400" y="869950"/>
            <a:ext cx="10871200" cy="450850"/>
          </a:xfrm>
          <a:prstGeom prst="rect">
            <a:avLst/>
          </a:prstGeom>
        </p:spPr>
      </p:pic>
      <p:pic>
        <p:nvPicPr>
          <p:cNvPr id="5" name="02 up · Thank you." descr="Thank you."/>
          <p:cNvPicPr>
            <a:picLocks noChangeAspect="1"/>
          </p:cNvPicPr>
          <p:nvPr/>
        </p:nvPicPr>
        <p:blipFill>
          <a:blip r:embed="rId5"/>
          <a:stretch>
            <a:fillRect/>
          </a:stretch>
        </p:blipFill>
        <p:spPr>
          <a:xfrm>
            <a:off x="660400" y="1238250"/>
            <a:ext cx="9829800" cy="1104900"/>
          </a:xfrm>
          <a:prstGeom prst="rect">
            <a:avLst/>
          </a:prstGeom>
        </p:spPr>
      </p:pic>
      <p:pic>
        <p:nvPicPr>
          <p:cNvPr id="6" name="03 up · Generative Gains is raising QA" descr="Generative Gains is raising QAR 1.85M to prove Thermal Trace in the field: that what a failing fridge costs can be measured, and recovered."/>
          <p:cNvPicPr>
            <a:picLocks noChangeAspect="1"/>
          </p:cNvPicPr>
          <p:nvPr/>
        </p:nvPicPr>
        <p:blipFill>
          <a:blip r:embed="rId6"/>
          <a:stretch>
            <a:fillRect/>
          </a:stretch>
        </p:blipFill>
        <p:spPr>
          <a:xfrm>
            <a:off x="660400" y="2260600"/>
            <a:ext cx="8686800" cy="927100"/>
          </a:xfrm>
          <a:prstGeom prst="rect">
            <a:avLst/>
          </a:prstGeom>
        </p:spPr>
      </p:pic>
      <p:pic>
        <p:nvPicPr>
          <p:cNvPr id="7" name="04 up · Najeeb AbdiMath · Frontend" descr="Najeeb AbdiMath · Frontend"/>
          <p:cNvPicPr>
            <a:picLocks noChangeAspect="1"/>
          </p:cNvPicPr>
          <p:nvPr/>
        </p:nvPicPr>
        <p:blipFill>
          <a:blip r:embed="rId7"/>
          <a:stretch>
            <a:fillRect/>
          </a:stretch>
        </p:blipFill>
        <p:spPr>
          <a:xfrm>
            <a:off x="660400" y="3333750"/>
            <a:ext cx="2317750" cy="1682750"/>
          </a:xfrm>
          <a:prstGeom prst="rect">
            <a:avLst/>
          </a:prstGeom>
        </p:spPr>
      </p:pic>
      <p:pic>
        <p:nvPicPr>
          <p:cNvPr id="8" name="05 up · IslambekHardware engineer" descr="IslambekHardware engineer"/>
          <p:cNvPicPr>
            <a:picLocks noChangeAspect="1"/>
          </p:cNvPicPr>
          <p:nvPr/>
        </p:nvPicPr>
        <p:blipFill>
          <a:blip r:embed="rId8"/>
          <a:stretch>
            <a:fillRect/>
          </a:stretch>
        </p:blipFill>
        <p:spPr>
          <a:xfrm>
            <a:off x="2794000" y="3333750"/>
            <a:ext cx="2324100" cy="1682750"/>
          </a:xfrm>
          <a:prstGeom prst="rect">
            <a:avLst/>
          </a:prstGeom>
        </p:spPr>
      </p:pic>
      <p:pic>
        <p:nvPicPr>
          <p:cNvPr id="9" name="06 up · Param Anand TrimbakeFrontend" descr="Param Anand TrimbakeFrontend"/>
          <p:cNvPicPr>
            <a:picLocks noChangeAspect="1"/>
          </p:cNvPicPr>
          <p:nvPr/>
        </p:nvPicPr>
        <p:blipFill>
          <a:blip r:embed="rId9"/>
          <a:stretch>
            <a:fillRect/>
          </a:stretch>
        </p:blipFill>
        <p:spPr>
          <a:xfrm>
            <a:off x="4933950" y="3333750"/>
            <a:ext cx="2324100" cy="1682750"/>
          </a:xfrm>
          <a:prstGeom prst="rect">
            <a:avLst/>
          </a:prstGeom>
        </p:spPr>
      </p:pic>
      <p:pic>
        <p:nvPicPr>
          <p:cNvPr id="10" name="07 up · Ahad HussainAI engineer" descr="Ahad HussainAI engineer"/>
          <p:cNvPicPr>
            <a:picLocks noChangeAspect="1"/>
          </p:cNvPicPr>
          <p:nvPr/>
        </p:nvPicPr>
        <p:blipFill>
          <a:blip r:embed="rId10"/>
          <a:stretch>
            <a:fillRect/>
          </a:stretch>
        </p:blipFill>
        <p:spPr>
          <a:xfrm>
            <a:off x="7073900" y="3333750"/>
            <a:ext cx="2324100" cy="1682750"/>
          </a:xfrm>
          <a:prstGeom prst="rect">
            <a:avLst/>
          </a:prstGeom>
        </p:spPr>
      </p:pic>
      <p:pic>
        <p:nvPicPr>
          <p:cNvPr id="11" name="08 up · Robin ThomasBusiness · Product" descr="Robin ThomasBusiness · Product"/>
          <p:cNvPicPr>
            <a:picLocks noChangeAspect="1"/>
          </p:cNvPicPr>
          <p:nvPr/>
        </p:nvPicPr>
        <p:blipFill>
          <a:blip r:embed="rId11"/>
          <a:stretch>
            <a:fillRect/>
          </a:stretch>
        </p:blipFill>
        <p:spPr>
          <a:xfrm>
            <a:off x="9213850" y="3333750"/>
            <a:ext cx="2317750" cy="1682750"/>
          </a:xfrm>
          <a:prstGeom prst="rect">
            <a:avLst/>
          </a:prstGeom>
        </p:spPr>
      </p:pic>
      <p:pic>
        <p:nvPicPr>
          <p:cNvPr id="12" name="09 fade · Generative Gains · Pre-seed · " descr="Generative Gains · Pre-seed · QAR 1.85M · Qatar first, GCC next github.com/Isl-d/Reboot-The-Earth-Cold-Chain-Logistics"/>
          <p:cNvPicPr>
            <a:picLocks noChangeAspect="1"/>
          </p:cNvPicPr>
          <p:nvPr/>
        </p:nvPicPr>
        <p:blipFill>
          <a:blip r:embed="rId12"/>
          <a:stretch>
            <a:fillRect/>
          </a:stretch>
        </p:blipFill>
        <p:spPr>
          <a:xfrm>
            <a:off x="660400" y="5111750"/>
            <a:ext cx="10871200" cy="7493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4" presetID="10" presetClass="entr" presetSubtype="0" fill="hold" decel="100000" nodeType="withEffect">
                                  <p:stCondLst>
                                    <p:cond delay="40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900"/>
                                        <p:tgtEl>
                                          <p:spTgt spid="3"/>
                                        </p:tgtEl>
                                      </p:cBhvr>
                                    </p:animEffect>
                                  </p:childTnLst>
                                </p:cTn>
                              </p:par>
                              <p:par>
                                <p:cTn id="7" presetID="10" presetClass="entr" presetSubtype="0" fill="hold" decel="10000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6" dur="900"/>
                                        <p:tgtEl>
                                          <p:spTgt spid="4"/>
                                        </p:tgtEl>
                                      </p:cBhvr>
                                    </p:animEffect>
                                  </p:childTnLst>
                                </p:cTn>
                              </p:par>
                              <p:par>
                                <p:cTn id="11" presetID="2" presetClass="entr" presetSubtype="4" fill="hold" decel="100000" nodeType="withEffect">
                                  <p:stCondLst>
                                    <p:cond delay="12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9" dur="900" fill="hold"/>
                                        <p:tgtEl>
                                          <p:spTgt spid="5"/>
                                        </p:tgtEl>
                                        <p:attrNameLst>
                                          <p:attrName>ppt_y</p:attrName>
                                        </p:attrNameLst>
                                      </p:cBhvr>
                                      <p:tavLst>
                                        <p:tav tm="0">
                                          <p:val>
                                            <p:strVal val="#ppt_y+0.03"/>
                                          </p:val>
                                        </p:tav>
                                        <p:tav tm="100000">
                                          <p:val>
                                            <p:strVal val="#ppt_y"/>
                                          </p:val>
                                        </p:tav>
                                      </p:tavLst>
                                    </p:anim>
                                    <p:animEffect transition="in" filter="fade">
                                      <p:cBhvr>
                                        <p:cTn id="10" dur="900"/>
                                        <p:tgtEl>
                                          <p:spTgt spid="5"/>
                                        </p:tgtEl>
                                      </p:cBhvr>
                                    </p:animEffect>
                                  </p:childTnLst>
                                </p:cTn>
                              </p:par>
                              <p:par>
                                <p:cTn id="15" presetID="2" presetClass="entr" presetSubtype="4" fill="hold" decel="100000" nodeType="withEffect">
                                  <p:stCondLst>
                                    <p:cond delay="3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3" dur="900" fill="hold"/>
                                        <p:tgtEl>
                                          <p:spTgt spid="6"/>
                                        </p:tgtEl>
                                        <p:attrNameLst>
                                          <p:attrName>ppt_y</p:attrName>
                                        </p:attrNameLst>
                                      </p:cBhvr>
                                      <p:tavLst>
                                        <p:tav tm="0">
                                          <p:val>
                                            <p:strVal val="#ppt_y+0.03"/>
                                          </p:val>
                                        </p:tav>
                                        <p:tav tm="100000">
                                          <p:val>
                                            <p:strVal val="#ppt_y"/>
                                          </p:val>
                                        </p:tav>
                                      </p:tavLst>
                                    </p:anim>
                                    <p:animEffect transition="in" filter="fade">
                                      <p:cBhvr>
                                        <p:cTn id="14" dur="900"/>
                                        <p:tgtEl>
                                          <p:spTgt spid="6"/>
                                        </p:tgtEl>
                                      </p:cBhvr>
                                    </p:animEffect>
                                  </p:childTnLst>
                                </p:cTn>
                              </p:par>
                              <p:par>
                                <p:cTn id="19" presetID="2" presetClass="entr" presetSubtype="4" fill="hold" decel="100000" nodeType="withEffect">
                                  <p:stCondLst>
                                    <p:cond delay="5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17" dur="900" fill="hold"/>
                                        <p:tgtEl>
                                          <p:spTgt spid="7"/>
                                        </p:tgtEl>
                                        <p:attrNameLst>
                                          <p:attrName>ppt_y</p:attrName>
                                        </p:attrNameLst>
                                      </p:cBhvr>
                                      <p:tavLst>
                                        <p:tav tm="0">
                                          <p:val>
                                            <p:strVal val="#ppt_y+0.03"/>
                                          </p:val>
                                        </p:tav>
                                        <p:tav tm="100000">
                                          <p:val>
                                            <p:strVal val="#ppt_y"/>
                                          </p:val>
                                        </p:tav>
                                      </p:tavLst>
                                    </p:anim>
                                    <p:animEffect transition="in" filter="fade">
                                      <p:cBhvr>
                                        <p:cTn id="18" dur="900"/>
                                        <p:tgtEl>
                                          <p:spTgt spid="7"/>
                                        </p:tgtEl>
                                      </p:cBhvr>
                                    </p:animEffect>
                                  </p:childTnLst>
                                </p:cTn>
                              </p:par>
                              <p:par>
                                <p:cTn id="23" presetID="2" presetClass="entr" presetSubtype="4" fill="hold" decel="100000" nodeType="withEffect">
                                  <p:stCondLst>
                                    <p:cond delay="60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1" dur="900" fill="hold"/>
                                        <p:tgtEl>
                                          <p:spTgt spid="8"/>
                                        </p:tgtEl>
                                        <p:attrNameLst>
                                          <p:attrName>ppt_y</p:attrName>
                                        </p:attrNameLst>
                                      </p:cBhvr>
                                      <p:tavLst>
                                        <p:tav tm="0">
                                          <p:val>
                                            <p:strVal val="#ppt_y+0.03"/>
                                          </p:val>
                                        </p:tav>
                                        <p:tav tm="100000">
                                          <p:val>
                                            <p:strVal val="#ppt_y"/>
                                          </p:val>
                                        </p:tav>
                                      </p:tavLst>
                                    </p:anim>
                                    <p:animEffect transition="in" filter="fade">
                                      <p:cBhvr>
                                        <p:cTn id="22" dur="900"/>
                                        <p:tgtEl>
                                          <p:spTgt spid="8"/>
                                        </p:tgtEl>
                                      </p:cBhvr>
                                    </p:animEffect>
                                  </p:childTnLst>
                                </p:cTn>
                              </p:par>
                              <p:par>
                                <p:cTn id="27" presetID="2" presetClass="entr" presetSubtype="4" fill="hold" decel="100000" nodeType="withEffect">
                                  <p:stCondLst>
                                    <p:cond delay="70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5" dur="900" fill="hold"/>
                                        <p:tgtEl>
                                          <p:spTgt spid="9"/>
                                        </p:tgtEl>
                                        <p:attrNameLst>
                                          <p:attrName>ppt_y</p:attrName>
                                        </p:attrNameLst>
                                      </p:cBhvr>
                                      <p:tavLst>
                                        <p:tav tm="0">
                                          <p:val>
                                            <p:strVal val="#ppt_y+0.03"/>
                                          </p:val>
                                        </p:tav>
                                        <p:tav tm="100000">
                                          <p:val>
                                            <p:strVal val="#ppt_y"/>
                                          </p:val>
                                        </p:tav>
                                      </p:tavLst>
                                    </p:anim>
                                    <p:animEffect transition="in" filter="fade">
                                      <p:cBhvr>
                                        <p:cTn id="26" dur="900"/>
                                        <p:tgtEl>
                                          <p:spTgt spid="9"/>
                                        </p:tgtEl>
                                      </p:cBhvr>
                                    </p:animEffect>
                                  </p:childTnLst>
                                </p:cTn>
                              </p:par>
                              <p:par>
                                <p:cTn id="31" presetID="2" presetClass="entr" presetSubtype="4" fill="hold" decel="100000" nodeType="withEffect">
                                  <p:stCondLst>
                                    <p:cond delay="80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29" dur="900" fill="hold"/>
                                        <p:tgtEl>
                                          <p:spTgt spid="10"/>
                                        </p:tgtEl>
                                        <p:attrNameLst>
                                          <p:attrName>ppt_y</p:attrName>
                                        </p:attrNameLst>
                                      </p:cBhvr>
                                      <p:tavLst>
                                        <p:tav tm="0">
                                          <p:val>
                                            <p:strVal val="#ppt_y+0.03"/>
                                          </p:val>
                                        </p:tav>
                                        <p:tav tm="100000">
                                          <p:val>
                                            <p:strVal val="#ppt_y"/>
                                          </p:val>
                                        </p:tav>
                                      </p:tavLst>
                                    </p:anim>
                                    <p:animEffect transition="in" filter="fade">
                                      <p:cBhvr>
                                        <p:cTn id="30" dur="900"/>
                                        <p:tgtEl>
                                          <p:spTgt spid="10"/>
                                        </p:tgtEl>
                                      </p:cBhvr>
                                    </p:animEffect>
                                  </p:childTnLst>
                                </p:cTn>
                              </p:par>
                              <p:par>
                                <p:cTn id="35" presetID="2" presetClass="entr" presetSubtype="4" fill="hold" decel="100000" nodeType="withEffect">
                                  <p:stCondLst>
                                    <p:cond delay="90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3" dur="900" fill="hold"/>
                                        <p:tgtEl>
                                          <p:spTgt spid="11"/>
                                        </p:tgtEl>
                                        <p:attrNameLst>
                                          <p:attrName>ppt_y</p:attrName>
                                        </p:attrNameLst>
                                      </p:cBhvr>
                                      <p:tavLst>
                                        <p:tav tm="0">
                                          <p:val>
                                            <p:strVal val="#ppt_y+0.03"/>
                                          </p:val>
                                        </p:tav>
                                        <p:tav tm="100000">
                                          <p:val>
                                            <p:strVal val="#ppt_y"/>
                                          </p:val>
                                        </p:tav>
                                      </p:tavLst>
                                    </p:anim>
                                    <p:animEffect transition="in" filter="fade">
                                      <p:cBhvr>
                                        <p:cTn id="34" dur="900"/>
                                        <p:tgtEl>
                                          <p:spTgt spid="11"/>
                                        </p:tgtEl>
                                      </p:cBhvr>
                                    </p:animEffect>
                                  </p:childTnLst>
                                </p:cTn>
                              </p:par>
                              <p:par>
                                <p:cTn id="38" presetID="10" presetClass="entr" presetSubtype="0" fill="hold" decel="100000" nodeType="withEffect">
                                  <p:stCondLst>
                                    <p:cond delay="1200"/>
                                  </p:stCondLst>
                                  <p:childTnLst>
                                    <p:set>
                                      <p:cBhvr>
                                        <p:cTn id="39" dur="1" fill="hold">
                                          <p:stCondLst>
                                            <p:cond delay="0"/>
                                          </p:stCondLst>
                                        </p:cTn>
                                        <p:tgtEl>
                                          <p:spTgt spid="12"/>
                                        </p:tgtEl>
                                        <p:attrNameLst>
                                          <p:attrName>style.visibility</p:attrName>
                                        </p:attrNameLst>
                                      </p:cBhvr>
                                      <p:to>
                                        <p:strVal val="visible"/>
                                      </p:to>
                                    </p:set>
                                    <p:animEffect transition="in" filter="fade">
                                      <p:cBhvr>
                                        <p:cTn id="37" dur="9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Thermal Trace — Pitch</dc:title>
  <dc:subject/>
  <dc:creator>Generative Gains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