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(FAO / UNEP 2024). This is UN SDG target 12.3, and it serves SDG 2 and SDG 13.</a:t>
            </a:r>
          </a:p>
          <a:p/>
          <a:p>
            <a:r>
              <a:t>Make it local in one breath: Qatar imports most of its fresh food across summers above 45 °C, and the National Food Security Strategy 2030 targets −30% food loss.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42 °C afternoons. Every one of those stops adds thermal debt: shelf life spent before the food reaches a shelf.</a:t>
            </a:r>
          </a:p>
          <a:p/>
          <a:p>
            <a:r>
              <a:t>And the policy is already pointing the same way: TASMU's National Food Security Analytics and Qatar's National Food Security Strategy target efficient supply chains and less food waste. They work at national level. Thermal Trace is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a:t>
            </a:r>
          </a:p>
          <a:p/>
          <a:p>
            <a:r>
              <a:t>The commercial clock is the Commercial Reserve, for hypermarkets and hotels, restaurants and caterers. It joins that physical state with point-of-sale, ERP and warehouse data to route stock to where it sells, and price it to clear.</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AI layers, both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a:p/>
          <a:p>
            <a:r>
              <a:t>The chips at the bottom are deterministic code, not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makes money: we price against value we can prove. A paid pilot of 12 to 16 weeks, QAR 100 to 175 thousand depending on sites and integrations. Then an enterprise subscription, QAR 120 to 240 thousand a year, plus implementation fees for heavy installs.</a:t>
            </a:r>
          </a:p>
          <a:p/>
          <a:p>
            <a:r>
              <a:t>The test we hold ourselves to: measured avoided loss of at least three times the fee. On a QAR 180,000 fee that is QAR 540,000 of benefit, measured against a baseline we agree with the customer up front.</a:t>
            </a:r>
          </a:p>
          <a:p/>
          <a:p>
            <a:r>
              <a:t>The target for the end of the first year is QAR 300 to 500 thousand of contracted ARR. Prices are hypotheses to validate with customers; the ARR is a target, not a forecast.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Months one and two: secure the pilot, survey the sites, agree with the customer how value will be measured, and build the baseline. Three and four: install devices, build ingestion and the asset history, test outages and alerts. Five and six: run the excursion logic, risk estimates and the approved intervention workflow. Seven to nine: compare against the baseline, quantify the value, and start controlled Commercial Reserve tests. Ten to twelve: convert to an annual contract and pursue a second customer.</a:t>
            </a:r>
          </a:p>
          <a:p/>
          <a:p>
            <a:r>
              <a:t>The team costs about QAR 85,000 a month the whole way through (1.02 million over twelve months). The other lines follow the work; the phasing shown is indicative. The bar the pilot has to clear: measured avoided loss of at least three times the platform fee, linked from the equipment anomaly to the economic exposure.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png"/><Relationship Id="rId11" Type="http://schemas.openxmlformats.org/officeDocument/2006/relationships/image" Target="../media/image46.png"/><Relationship Id="rId12" Type="http://schemas.openxmlformats.org/officeDocument/2006/relationships/image" Target="../media/image47.png"/><Relationship Id="rId13" Type="http://schemas.openxmlformats.org/officeDocument/2006/relationships/image" Target="../media/image48.png"/><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 Id="rId11" Type="http://schemas.openxmlformats.org/officeDocument/2006/relationships/image" Target="../media/image78.png"/><Relationship Id="rId12" Type="http://schemas.openxmlformats.org/officeDocument/2006/relationships/image" Target="../media/image79.png"/><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image" Target="../media/image102.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image" Target="../media/image106.png"/><Relationship Id="rId12" Type="http://schemas.openxmlformats.org/officeDocument/2006/relationships/image" Target="../media/image107.png"/><Relationship Id="rId13" Type="http://schemas.openxmlformats.org/officeDocument/2006/relationships/image" Target="../media/image108.png"/><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115.png"/><Relationship Id="rId9" Type="http://schemas.openxmlformats.org/officeDocument/2006/relationships/image" Target="../media/image116.png"/><Relationship Id="rId10" Type="http://schemas.openxmlformats.org/officeDocument/2006/relationships/image" Target="../media/image117.png"/><Relationship Id="rId11" Type="http://schemas.openxmlformats.org/officeDocument/2006/relationships/image" Target="../media/image118.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81.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image" Target="../media/image124.png"/><Relationship Id="rId9" Type="http://schemas.openxmlformats.org/officeDocument/2006/relationships/image" Target="../media/image125.png"/><Relationship Id="rId10" Type="http://schemas.openxmlformats.org/officeDocument/2006/relationships/image" Target="../media/image126.png"/><Relationship Id="rId11" Type="http://schemas.openxmlformats.org/officeDocument/2006/relationships/image" Target="../media/image127.png"/><Relationship Id="rId12" Type="http://schemas.openxmlformats.org/officeDocument/2006/relationships/image" Target="../media/image128.png"/><Relationship Id="rId13" Type="http://schemas.openxmlformats.org/officeDocument/2006/relationships/image" Target="../media/image129.png"/><Relationship Id="rId14" Type="http://schemas.openxmlformats.org/officeDocument/2006/relationships/image" Target="../media/image130.png"/><Relationship Id="rId15" Type="http://schemas.openxmlformats.org/officeDocument/2006/relationships/image" Target="../media/image131.png"/><Relationship Id="rId16" Type="http://schemas.openxmlformats.org/officeDocument/2006/relationships/image" Target="../media/image132.png"/><Relationship Id="rId17" Type="http://schemas.openxmlformats.org/officeDocument/2006/relationships/image" Target="../media/image133.png"/><Relationship Id="rId1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147.png"/><Relationship Id="rId6" Type="http://schemas.openxmlformats.org/officeDocument/2006/relationships/image" Target="../media/image148.png"/><Relationship Id="rId7" Type="http://schemas.openxmlformats.org/officeDocument/2006/relationships/image" Target="../media/image149.png"/><Relationship Id="rId8" Type="http://schemas.openxmlformats.org/officeDocument/2006/relationships/image" Target="../media/image150.png"/><Relationship Id="rId9" Type="http://schemas.openxmlformats.org/officeDocument/2006/relationships/image" Target="../media/image151.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60.png"/><Relationship Id="rId11" Type="http://schemas.openxmlformats.org/officeDocument/2006/relationships/image" Target="../media/image161.png"/><Relationship Id="rId12" Type="http://schemas.openxmlformats.org/officeDocument/2006/relationships/image" Target="../media/image162.pn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pn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167.png"/><Relationship Id="rId7" Type="http://schemas.openxmlformats.org/officeDocument/2006/relationships/image" Target="../media/image168.png"/><Relationship Id="rId8" Type="http://schemas.openxmlformats.org/officeDocument/2006/relationships/image" Target="../media/image169.png"/><Relationship Id="rId9" Type="http://schemas.openxmlformats.org/officeDocument/2006/relationships/image" Target="../media/image170.png"/><Relationship Id="rId10" Type="http://schemas.openxmlformats.org/officeDocument/2006/relationships/image" Target="../media/image171.png"/><Relationship Id="rId11" Type="http://schemas.openxmlformats.org/officeDocument/2006/relationships/image" Target="../media/image172.png"/><Relationship Id="rId12" Type="http://schemas.openxmlformats.org/officeDocument/2006/relationships/image" Target="../media/image173.png"/><Relationship Id="rId13" Type="http://schemas.openxmlformats.org/officeDocument/2006/relationships/image" Target="../media/image174.png"/><Relationship Id="rId14" Type="http://schemas.openxmlformats.org/officeDocument/2006/relationships/image" Target="../media/image175.png"/><Relationship Id="rId15" Type="http://schemas.openxmlformats.org/officeDocument/2006/relationships/image" Target="../media/image176.png"/><Relationship Id="rId16" Type="http://schemas.openxmlformats.org/officeDocument/2006/relationships/image" Target="../media/image177.png"/><Relationship Id="rId17" Type="http://schemas.openxmlformats.org/officeDocument/2006/relationships/image" Target="../media/image178.png"/><Relationship Id="rId18" Type="http://schemas.openxmlformats.org/officeDocument/2006/relationships/image" Target="../media/image179.png"/><Relationship Id="rId19" Type="http://schemas.openxmlformats.org/officeDocument/2006/relationships/image" Target="../media/image180.png"/><Relationship Id="rId20" Type="http://schemas.openxmlformats.org/officeDocument/2006/relationships/image" Target="../media/image181.png"/><Relationship Id="rId21" Type="http://schemas.openxmlformats.org/officeDocument/2006/relationships/image" Target="../media/image182.png"/><Relationship Id="rId22" Type="http://schemas.openxmlformats.org/officeDocument/2006/relationships/image" Target="../media/image183.png"/><Relationship Id="rId23" Type="http://schemas.openxmlformats.org/officeDocument/2006/relationships/image" Target="../media/image184.png"/><Relationship Id="rId24" Type="http://schemas.openxmlformats.org/officeDocument/2006/relationships/image" Target="../media/image185.png"/><Relationship Id="rId25" Type="http://schemas.openxmlformats.org/officeDocument/2006/relationships/image" Target="../media/image186.png"/><Relationship Id="rId26" Type="http://schemas.openxmlformats.org/officeDocument/2006/relationships/image" Target="../media/image187.png"/><Relationship Id="rId27" Type="http://schemas.openxmlformats.org/officeDocument/2006/relationships/image" Target="../media/image188.png"/><Relationship Id="rId28" Type="http://schemas.openxmlformats.org/officeDocument/2006/relationships/image" Target="../media/image189.png"/><Relationship Id="rId29" Type="http://schemas.openxmlformats.org/officeDocument/2006/relationships/image" Target="../media/image190.png"/><Relationship Id="rId30" Type="http://schemas.openxmlformats.org/officeDocument/2006/relationships/image" Target="../media/image191.png"/><Relationship Id="rId31" Type="http://schemas.openxmlformats.org/officeDocument/2006/relationships/image" Target="../media/image192.png"/><Relationship Id="rId32" Type="http://schemas.openxmlformats.org/officeDocument/2006/relationships/image" Target="../media/image193.png"/><Relationship Id="rId33" Type="http://schemas.openxmlformats.org/officeDocument/2006/relationships/image" Target="../media/image194.png"/><Relationship Id="rId34" Type="http://schemas.openxmlformats.org/officeDocument/2006/relationships/image" Target="../media/image195.png"/><Relationship Id="rId35" Type="http://schemas.openxmlformats.org/officeDocument/2006/relationships/image" Target="../media/image196.png"/><Relationship Id="rId36" Type="http://schemas.openxmlformats.org/officeDocument/2006/relationships/image" Target="../media/image197.png"/><Relationship Id="rId37" Type="http://schemas.openxmlformats.org/officeDocument/2006/relationships/image" Target="../media/image198.png"/><Relationship Id="rId38" Type="http://schemas.openxmlformats.org/officeDocument/2006/relationships/image" Target="../media/image199.png"/><Relationship Id="rId39" Type="http://schemas.openxmlformats.org/officeDocument/2006/relationships/image" Target="../media/image200.png"/><Relationship Id="rId40" Type="http://schemas.openxmlformats.org/officeDocument/2006/relationships/image" Target="../media/image201.png"/><Relationship Id="rId41" Type="http://schemas.openxmlformats.org/officeDocument/2006/relationships/image" Target="../media/image202.png"/><Relationship Id="rId4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204.png"/><Relationship Id="rId4" Type="http://schemas.openxmlformats.org/officeDocument/2006/relationships/image" Target="../media/image205.png"/><Relationship Id="rId5" Type="http://schemas.openxmlformats.org/officeDocument/2006/relationships/image" Target="../media/image206.png"/><Relationship Id="rId6" Type="http://schemas.openxmlformats.org/officeDocument/2006/relationships/image" Target="../media/image207.png"/><Relationship Id="rId7" Type="http://schemas.openxmlformats.org/officeDocument/2006/relationships/image" Target="../media/image208.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210.png"/><Relationship Id="rId4" Type="http://schemas.openxmlformats.org/officeDocument/2006/relationships/image" Target="../media/image211.png"/><Relationship Id="rId5" Type="http://schemas.openxmlformats.org/officeDocument/2006/relationships/image" Target="../media/image21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214.png"/><Relationship Id="rId4" Type="http://schemas.openxmlformats.org/officeDocument/2006/relationships/image" Target="../media/image215.png"/><Relationship Id="rId5" Type="http://schemas.openxmlformats.org/officeDocument/2006/relationships/image" Target="../media/image216.png"/><Relationship Id="rId6" Type="http://schemas.openxmlformats.org/officeDocument/2006/relationships/image" Target="../media/image217.png"/><Relationship Id="rId7" Type="http://schemas.openxmlformats.org/officeDocument/2006/relationships/image" Target="../media/image218.png"/><Relationship Id="rId8" Type="http://schemas.openxmlformats.org/officeDocument/2006/relationships/image" Target="../media/image219.png"/><Relationship Id="rId9" Type="http://schemas.openxmlformats.org/officeDocument/2006/relationships/image" Target="../media/image220.png"/><Relationship Id="rId10" Type="http://schemas.openxmlformats.org/officeDocument/2006/relationships/image" Target="../media/image221.png"/><Relationship Id="rId11" Type="http://schemas.openxmlformats.org/officeDocument/2006/relationships/image" Target="../media/image222.png"/><Relationship Id="rId12" Type="http://schemas.openxmlformats.org/officeDocument/2006/relationships/image" Target="../media/image223.png"/><Relationship Id="rId13" Type="http://schemas.openxmlformats.org/officeDocument/2006/relationships/image" Target="../media/image224.png"/><Relationship Id="rId14" Type="http://schemas.openxmlformats.org/officeDocument/2006/relationships/image" Target="../media/image225.png"/><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6.png"/><Relationship Id="rId3" Type="http://schemas.openxmlformats.org/officeDocument/2006/relationships/image" Target="../media/image227.png"/><Relationship Id="rId4" Type="http://schemas.openxmlformats.org/officeDocument/2006/relationships/image" Target="../media/image228.png"/><Relationship Id="rId5" Type="http://schemas.openxmlformats.org/officeDocument/2006/relationships/image" Target="../media/image229.png"/><Relationship Id="rId6" Type="http://schemas.openxmlformats.org/officeDocument/2006/relationships/image" Target="../media/image230.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1.png"/><Relationship Id="rId3" Type="http://schemas.openxmlformats.org/officeDocument/2006/relationships/image" Target="../media/image232.png"/><Relationship Id="rId4" Type="http://schemas.openxmlformats.org/officeDocument/2006/relationships/image" Target="../media/image233.png"/><Relationship Id="rId5" Type="http://schemas.openxmlformats.org/officeDocument/2006/relationships/image" Target="../media/image234.png"/><Relationship Id="rId6" Type="http://schemas.openxmlformats.org/officeDocument/2006/relationships/image" Target="../media/image235.png"/><Relationship Id="rId7" Type="http://schemas.openxmlformats.org/officeDocument/2006/relationships/image" Target="../media/image236.png"/><Relationship Id="rId8" Type="http://schemas.openxmlformats.org/officeDocument/2006/relationships/image" Target="../media/image237.png"/><Relationship Id="rId9" Type="http://schemas.openxmlformats.org/officeDocument/2006/relationships/image" Target="../media/image238.png"/><Relationship Id="rId10" Type="http://schemas.openxmlformats.org/officeDocument/2006/relationships/image" Target="../media/image239.png"/><Relationship Id="rId11" Type="http://schemas.openxmlformats.org/officeDocument/2006/relationships/image" Target="../media/image240.png"/><Relationship Id="rId12" Type="http://schemas.openxmlformats.org/officeDocument/2006/relationships/image" Target="../media/image241.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50.png"/><Relationship Id="rId11" Type="http://schemas.openxmlformats.org/officeDocument/2006/relationships/image" Target="../media/image251.png"/><Relationship Id="rId12" Type="http://schemas.openxmlformats.org/officeDocument/2006/relationships/image" Target="../media/image252.png"/><Relationship Id="rId1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wipe 001" descr=""/>
          <p:cNvPicPr>
            <a:picLocks noChangeAspect="1"/>
          </p:cNvPicPr>
          <p:nvPr/>
        </p:nvPicPr>
        <p:blipFill>
          <a:blip r:embed="rId4"/>
          <a:stretch>
            <a:fillRect/>
          </a:stretch>
        </p:blipFill>
        <p:spPr>
          <a:xfrm>
            <a:off x="8166100" y="4292600"/>
            <a:ext cx="4025900" cy="1384300"/>
          </a:xfrm>
          <a:prstGeom prst="rect">
            <a:avLst/>
          </a:prstGeom>
        </p:spPr>
      </p:pic>
      <p:pic>
        <p:nvPicPr>
          <p:cNvPr id="5" name="draw 002" descr=""/>
          <p:cNvPicPr>
            <a:picLocks noChangeAspect="1"/>
          </p:cNvPicPr>
          <p:nvPr/>
        </p:nvPicPr>
        <p:blipFill>
          <a:blip r:embed="rId5"/>
          <a:stretch>
            <a:fillRect/>
          </a:stretch>
        </p:blipFill>
        <p:spPr>
          <a:xfrm>
            <a:off x="0" y="4292600"/>
            <a:ext cx="12192000" cy="1968500"/>
          </a:xfrm>
          <a:prstGeom prst="rect">
            <a:avLst/>
          </a:prstGeom>
        </p:spPr>
      </p:pic>
      <p:pic>
        <p:nvPicPr>
          <p:cNvPr id="6" name="zoom 003" descr=""/>
          <p:cNvPicPr>
            <a:picLocks noChangeAspect="1"/>
          </p:cNvPicPr>
          <p:nvPr/>
        </p:nvPicPr>
        <p:blipFill>
          <a:blip r:embed="rId6"/>
          <a:stretch>
            <a:fillRect/>
          </a:stretch>
        </p:blipFill>
        <p:spPr>
          <a:xfrm>
            <a:off x="673100" y="1638300"/>
            <a:ext cx="1231900" cy="1238250"/>
          </a:xfrm>
          <a:prstGeom prst="rect">
            <a:avLst/>
          </a:prstGeom>
        </p:spPr>
      </p:pic>
      <p:pic>
        <p:nvPicPr>
          <p:cNvPr id="7" name="draw 004" descr=""/>
          <p:cNvPicPr>
            <a:picLocks noChangeAspect="1"/>
          </p:cNvPicPr>
          <p:nvPr/>
        </p:nvPicPr>
        <p:blipFill>
          <a:blip r:embed="rId7"/>
          <a:stretch>
            <a:fillRect/>
          </a:stretch>
        </p:blipFill>
        <p:spPr>
          <a:xfrm>
            <a:off x="1136650" y="1778000"/>
            <a:ext cx="304800" cy="965200"/>
          </a:xfrm>
          <a:prstGeom prst="rect">
            <a:avLst/>
          </a:prstGeom>
        </p:spPr>
      </p:pic>
      <p:pic>
        <p:nvPicPr>
          <p:cNvPr id="8" name="draw 005" descr=""/>
          <p:cNvPicPr>
            <a:picLocks noChangeAspect="1"/>
          </p:cNvPicPr>
          <p:nvPr/>
        </p:nvPicPr>
        <p:blipFill>
          <a:blip r:embed="rId8"/>
          <a:stretch>
            <a:fillRect/>
          </a:stretch>
        </p:blipFill>
        <p:spPr>
          <a:xfrm>
            <a:off x="850900" y="1936750"/>
            <a:ext cx="876300" cy="641350"/>
          </a:xfrm>
          <a:prstGeom prst="rect">
            <a:avLst/>
          </a:prstGeom>
        </p:spPr>
      </p:pic>
      <p:pic>
        <p:nvPicPr>
          <p:cNvPr id="9" name="draw 006" descr=""/>
          <p:cNvPicPr>
            <a:picLocks noChangeAspect="1"/>
          </p:cNvPicPr>
          <p:nvPr/>
        </p:nvPicPr>
        <p:blipFill>
          <a:blip r:embed="rId9"/>
          <a:stretch>
            <a:fillRect/>
          </a:stretch>
        </p:blipFill>
        <p:spPr>
          <a:xfrm>
            <a:off x="850900" y="1936750"/>
            <a:ext cx="876300" cy="641350"/>
          </a:xfrm>
          <a:prstGeom prst="rect">
            <a:avLst/>
          </a:prstGeom>
        </p:spPr>
      </p:pic>
      <p:pic>
        <p:nvPicPr>
          <p:cNvPr id="10" name="draw 007" descr=""/>
          <p:cNvPicPr>
            <a:picLocks noChangeAspect="1"/>
          </p:cNvPicPr>
          <p:nvPr/>
        </p:nvPicPr>
        <p:blipFill>
          <a:blip r:embed="rId10"/>
          <a:stretch>
            <a:fillRect/>
          </a:stretch>
        </p:blipFill>
        <p:spPr>
          <a:xfrm>
            <a:off x="1041400" y="1835150"/>
            <a:ext cx="495300" cy="400050"/>
          </a:xfrm>
          <a:prstGeom prst="rect">
            <a:avLst/>
          </a:prstGeom>
        </p:spPr>
      </p:pic>
      <p:pic>
        <p:nvPicPr>
          <p:cNvPr id="11" name="draw 008" descr=""/>
          <p:cNvPicPr>
            <a:picLocks noChangeAspect="1"/>
          </p:cNvPicPr>
          <p:nvPr/>
        </p:nvPicPr>
        <p:blipFill>
          <a:blip r:embed="rId11"/>
          <a:stretch>
            <a:fillRect/>
          </a:stretch>
        </p:blipFill>
        <p:spPr>
          <a:xfrm>
            <a:off x="1041400" y="2279650"/>
            <a:ext cx="495300" cy="400050"/>
          </a:xfrm>
          <a:prstGeom prst="rect">
            <a:avLst/>
          </a:prstGeom>
        </p:spPr>
      </p:pic>
      <p:pic>
        <p:nvPicPr>
          <p:cNvPr id="12" name="left 009"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fade 010"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up 011"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up 012"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400"/>
                                        <p:tgtEl>
                                          <p:spTgt spid="4"/>
                                        </p:tgtEl>
                                      </p:cBhvr>
                                    </p:animEffect>
                                  </p:childTnLst>
                                </p:cTn>
                              </p:par>
                              <p:par>
                                <p:cTn id="10" presetID="22" presetClass="entr" presetSubtype="8" fill="hold"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Cited · FAO / UNEP 2024 · Qatar NFSS 2030"/>
          <p:cNvPicPr>
            <a:picLocks noChangeAspect="1"/>
          </p:cNvPicPr>
          <p:nvPr/>
        </p:nvPicPr>
        <p:blipFill>
          <a:blip r:embed="rId3"/>
          <a:stretch>
            <a:fillRect/>
          </a:stretch>
        </p:blipFill>
        <p:spPr>
          <a:xfrm>
            <a:off x="7689850" y="558800"/>
            <a:ext cx="3841750" cy="546100"/>
          </a:xfrm>
          <a:prstGeom prst="rect">
            <a:avLst/>
          </a:prstGeom>
        </p:spPr>
      </p:pic>
      <p:pic>
        <p:nvPicPr>
          <p:cNvPr id="4" name="fade 001"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up 002"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up 003"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up 004" descr="Today's systems raise an alarm. None of them says how much value is left."/>
          <p:cNvPicPr>
            <a:picLocks noChangeAspect="1"/>
          </p:cNvPicPr>
          <p:nvPr/>
        </p:nvPicPr>
        <p:blipFill>
          <a:blip r:embed="rId7"/>
          <a:stretch>
            <a:fillRect/>
          </a:stretch>
        </p:blipFill>
        <p:spPr>
          <a:xfrm>
            <a:off x="660400" y="2393950"/>
            <a:ext cx="8686800" cy="615950"/>
          </a:xfrm>
          <a:prstGeom prst="rect">
            <a:avLst/>
          </a:prstGeom>
        </p:spPr>
      </p:pic>
      <p:pic>
        <p:nvPicPr>
          <p:cNvPr id="8" name="up 005" descr="13% of food is lost between harvest and retail."/>
          <p:cNvPicPr>
            <a:picLocks noChangeAspect="1"/>
          </p:cNvPicPr>
          <p:nvPr/>
        </p:nvPicPr>
        <p:blipFill>
          <a:blip r:embed="rId8"/>
          <a:stretch>
            <a:fillRect/>
          </a:stretch>
        </p:blipFill>
        <p:spPr>
          <a:xfrm>
            <a:off x="660400" y="4222750"/>
            <a:ext cx="2755900" cy="1898650"/>
          </a:xfrm>
          <a:prstGeom prst="rect">
            <a:avLst/>
          </a:prstGeom>
        </p:spPr>
      </p:pic>
      <p:pic>
        <p:nvPicPr>
          <p:cNvPr id="9" name="grow 006" descr=""/>
          <p:cNvPicPr>
            <a:picLocks noChangeAspect="1"/>
          </p:cNvPicPr>
          <p:nvPr/>
        </p:nvPicPr>
        <p:blipFill>
          <a:blip r:embed="rId9"/>
          <a:stretch>
            <a:fillRect/>
          </a:stretch>
        </p:blipFill>
        <p:spPr>
          <a:xfrm>
            <a:off x="660400" y="5137150"/>
            <a:ext cx="628650" cy="374650"/>
          </a:xfrm>
          <a:prstGeom prst="rect">
            <a:avLst/>
          </a:prstGeom>
        </p:spPr>
      </p:pic>
      <p:pic>
        <p:nvPicPr>
          <p:cNvPr id="10" name="up 007" descr="19% more is wasted after it reaches retail and homes."/>
          <p:cNvPicPr>
            <a:picLocks noChangeAspect="1"/>
          </p:cNvPicPr>
          <p:nvPr/>
        </p:nvPicPr>
        <p:blipFill>
          <a:blip r:embed="rId10"/>
          <a:stretch>
            <a:fillRect/>
          </a:stretch>
        </p:blipFill>
        <p:spPr>
          <a:xfrm>
            <a:off x="3365500" y="4222750"/>
            <a:ext cx="2755900" cy="1898650"/>
          </a:xfrm>
          <a:prstGeom prst="rect">
            <a:avLst/>
          </a:prstGeom>
        </p:spPr>
      </p:pic>
      <p:pic>
        <p:nvPicPr>
          <p:cNvPr id="11" name="grow 008" descr=""/>
          <p:cNvPicPr>
            <a:picLocks noChangeAspect="1"/>
          </p:cNvPicPr>
          <p:nvPr/>
        </p:nvPicPr>
        <p:blipFill>
          <a:blip r:embed="rId11"/>
          <a:stretch>
            <a:fillRect/>
          </a:stretch>
        </p:blipFill>
        <p:spPr>
          <a:xfrm>
            <a:off x="3365500" y="5137150"/>
            <a:ext cx="774700" cy="374650"/>
          </a:xfrm>
          <a:prstGeom prst="rect">
            <a:avLst/>
          </a:prstGeom>
        </p:spPr>
      </p:pic>
      <p:pic>
        <p:nvPicPr>
          <p:cNvPr id="12" name="up 009" descr="45 °C Qatar summers. A failing fridge spoils a load in hours."/>
          <p:cNvPicPr>
            <a:picLocks noChangeAspect="1"/>
          </p:cNvPicPr>
          <p:nvPr/>
        </p:nvPicPr>
        <p:blipFill>
          <a:blip r:embed="rId12"/>
          <a:stretch>
            <a:fillRect/>
          </a:stretch>
        </p:blipFill>
        <p:spPr>
          <a:xfrm>
            <a:off x="6070600" y="4222750"/>
            <a:ext cx="2755900" cy="1898650"/>
          </a:xfrm>
          <a:prstGeom prst="rect">
            <a:avLst/>
          </a:prstGeom>
        </p:spPr>
      </p:pic>
      <p:pic>
        <p:nvPicPr>
          <p:cNvPr id="13" name="grow 010" descr=""/>
          <p:cNvPicPr>
            <a:picLocks noChangeAspect="1"/>
          </p:cNvPicPr>
          <p:nvPr/>
        </p:nvPicPr>
        <p:blipFill>
          <a:blip r:embed="rId13"/>
          <a:stretch>
            <a:fillRect/>
          </a:stretch>
        </p:blipFill>
        <p:spPr>
          <a:xfrm>
            <a:off x="6070600" y="5137150"/>
            <a:ext cx="2514600" cy="374650"/>
          </a:xfrm>
          <a:prstGeom prst="rect">
            <a:avLst/>
          </a:prstGeom>
        </p:spPr>
      </p:pic>
      <p:pic>
        <p:nvPicPr>
          <p:cNvPr id="14" name="up 011" descr="−30% food-loss target in Qatar's food security strategy 2030."/>
          <p:cNvPicPr>
            <a:picLocks noChangeAspect="1"/>
          </p:cNvPicPr>
          <p:nvPr/>
        </p:nvPicPr>
        <p:blipFill>
          <a:blip r:embed="rId14"/>
          <a:stretch>
            <a:fillRect/>
          </a:stretch>
        </p:blipFill>
        <p:spPr>
          <a:xfrm>
            <a:off x="8775700" y="4222750"/>
            <a:ext cx="2755900" cy="1898650"/>
          </a:xfrm>
          <a:prstGeom prst="rect">
            <a:avLst/>
          </a:prstGeom>
        </p:spPr>
      </p:pic>
      <p:pic>
        <p:nvPicPr>
          <p:cNvPr id="15" name="grow 012" descr=""/>
          <p:cNvPicPr>
            <a:picLocks noChangeAspect="1"/>
          </p:cNvPicPr>
          <p:nvPr/>
        </p:nvPicPr>
        <p:blipFill>
          <a:blip r:embed="rId15"/>
          <a:stretch>
            <a:fillRect/>
          </a:stretch>
        </p:blipFill>
        <p:spPr>
          <a:xfrm>
            <a:off x="8775700" y="5137150"/>
            <a:ext cx="10414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36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4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6" presetID="22" presetClass="entr" presetSubtype="8" fill="hold" nodeType="withEffect">
                                  <p:stCondLst>
                                    <p:cond delay="55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5" dur="1400"/>
                                        <p:tgtEl>
                                          <p:spTgt spid="9"/>
                                        </p:tgtEl>
                                      </p:cBhvr>
                                    </p:animEffect>
                                  </p:childTnLst>
                                </p:cTn>
                              </p:par>
                              <p:par>
                                <p:cTn id="30" presetID="2" presetClass="entr" presetSubtype="4" fill="hold" nodeType="withEffect">
                                  <p:stCondLst>
                                    <p:cond delay="6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3" presetID="22" presetClass="entr" presetSubtype="8" fill="hold"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2" dur="1400"/>
                                        <p:tgtEl>
                                          <p:spTgt spid="11"/>
                                        </p:tgtEl>
                                      </p:cBhvr>
                                    </p:animEffect>
                                  </p:childTnLst>
                                </p:cTn>
                              </p:par>
                              <p:par>
                                <p:cTn id="37" presetID="2" presetClass="entr" presetSubtype="4" fill="hold" nodeType="withEffect">
                                  <p:stCondLst>
                                    <p:cond delay="7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ppt_y</p:attrName>
                                        </p:attrNameLst>
                                      </p:cBhvr>
                                      <p:tavLst>
                                        <p:tav tm="0">
                                          <p:val>
                                            <p:strVal val="#ppt_y+0.03"/>
                                          </p:val>
                                        </p:tav>
                                        <p:tav tm="100000">
                                          <p:val>
                                            <p:strVal val="#ppt_y"/>
                                          </p:val>
                                        </p:tav>
                                      </p:tavLst>
                                    </p:anim>
                                    <p:animEffect transition="in" filter="fade">
                                      <p:cBhvr>
                                        <p:cTn id="36" dur="900"/>
                                        <p:tgtEl>
                                          <p:spTgt spid="12"/>
                                        </p:tgtEl>
                                      </p:cBhvr>
                                    </p:animEffect>
                                  </p:childTnLst>
                                </p:cTn>
                              </p:par>
                              <p:par>
                                <p:cTn id="40" presetID="22" presetClass="entr" presetSubtype="8" fill="hold" nodeType="withEffect">
                                  <p:stCondLst>
                                    <p:cond delay="850"/>
                                  </p:stCondLst>
                                  <p:childTnLst>
                                    <p:set>
                                      <p:cBhvr>
                                        <p:cTn id="41" dur="1" fill="hold">
                                          <p:stCondLst>
                                            <p:cond delay="0"/>
                                          </p:stCondLst>
                                        </p:cTn>
                                        <p:tgtEl>
                                          <p:spTgt spid="13"/>
                                        </p:tgtEl>
                                        <p:attrNameLst>
                                          <p:attrName>style.visibility</p:attrName>
                                        </p:attrNameLst>
                                      </p:cBhvr>
                                      <p:to>
                                        <p:strVal val="visible"/>
                                      </p:to>
                                    </p:set>
                                    <p:animEffect transition="in" filter="wipe(left)">
                                      <p:cBhvr>
                                        <p:cTn id="39" dur="1400"/>
                                        <p:tgtEl>
                                          <p:spTgt spid="13"/>
                                        </p:tgtEl>
                                      </p:cBhvr>
                                    </p:animEffect>
                                  </p:childTnLst>
                                </p:cTn>
                              </p:par>
                              <p:par>
                                <p:cTn id="44" presetID="2" presetClass="entr" presetSubtype="4" fill="hold" nodeType="withEffect">
                                  <p:stCondLst>
                                    <p:cond delay="90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2" dur="900" fill="hold"/>
                                        <p:tgtEl>
                                          <p:spTgt spid="14"/>
                                        </p:tgtEl>
                                        <p:attrNameLst>
                                          <p:attrName>ppt_y</p:attrName>
                                        </p:attrNameLst>
                                      </p:cBhvr>
                                      <p:tavLst>
                                        <p:tav tm="0">
                                          <p:val>
                                            <p:strVal val="#ppt_y+0.03"/>
                                          </p:val>
                                        </p:tav>
                                        <p:tav tm="100000">
                                          <p:val>
                                            <p:strVal val="#ppt_y"/>
                                          </p:val>
                                        </p:tav>
                                      </p:tavLst>
                                    </p:anim>
                                    <p:animEffect transition="in" filter="fade">
                                      <p:cBhvr>
                                        <p:cTn id="43" dur="900"/>
                                        <p:tgtEl>
                                          <p:spTgt spid="14"/>
                                        </p:tgtEl>
                                      </p:cBhvr>
                                    </p:animEffect>
                                  </p:childTnLst>
                                </p:cTn>
                              </p:par>
                              <p:par>
                                <p:cTn id="47" presetID="22" presetClass="entr" presetSubtype="8" fill="hold" nodeType="withEffect">
                                  <p:stCondLst>
                                    <p:cond delay="100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6" dur="1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Cited · TASMU · Qatar National Food Security Strategy"/>
          <p:cNvPicPr>
            <a:picLocks noChangeAspect="1"/>
          </p:cNvPicPr>
          <p:nvPr/>
        </p:nvPicPr>
        <p:blipFill>
          <a:blip r:embed="rId3"/>
          <a:stretch>
            <a:fillRect/>
          </a:stretch>
        </p:blipFill>
        <p:spPr>
          <a:xfrm>
            <a:off x="6756400" y="558800"/>
            <a:ext cx="4775200" cy="546100"/>
          </a:xfrm>
          <a:prstGeom prst="rect">
            <a:avLst/>
          </a:prstGeom>
        </p:spPr>
      </p:pic>
      <p:pic>
        <p:nvPicPr>
          <p:cNvPr id="4" name="fade 001"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up 002"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up 003" descr="Climate and imports Maritime and overland imports, customs holds, border queues and 42 °C afternoons all add thermal debt."/>
          <p:cNvPicPr>
            <a:picLocks noChangeAspect="1"/>
          </p:cNvPicPr>
          <p:nvPr/>
        </p:nvPicPr>
        <p:blipFill>
          <a:blip r:embed="rId6"/>
          <a:stretch>
            <a:fillRect/>
          </a:stretch>
        </p:blipFill>
        <p:spPr>
          <a:xfrm>
            <a:off x="660400" y="1689100"/>
            <a:ext cx="5499100" cy="1835150"/>
          </a:xfrm>
          <a:prstGeom prst="rect">
            <a:avLst/>
          </a:prstGeom>
        </p:spPr>
      </p:pic>
      <p:pic>
        <p:nvPicPr>
          <p:cNvPr id="7" name="up 004" descr="Policy tailwind TASMU National Food Security Analytics and Qatar's Food Security Strategy target efficient supply chains and less food waste."/>
          <p:cNvPicPr>
            <a:picLocks noChangeAspect="1"/>
          </p:cNvPicPr>
          <p:nvPr/>
        </p:nvPicPr>
        <p:blipFill>
          <a:blip r:embed="rId7"/>
          <a:stretch>
            <a:fillRect/>
          </a:stretch>
        </p:blipFill>
        <p:spPr>
          <a:xfrm>
            <a:off x="6032500" y="1689100"/>
            <a:ext cx="5499100" cy="1835150"/>
          </a:xfrm>
          <a:prstGeom prst="rect">
            <a:avLst/>
          </a:prstGeom>
        </p:spPr>
      </p:pic>
      <p:pic>
        <p:nvPicPr>
          <p:cNvPr id="8" name="up 005" descr="Thermal debt Maritime import+Customs hold+Border queue+42 °C afternoon=Lost shelf life"/>
          <p:cNvPicPr>
            <a:picLocks noChangeAspect="1"/>
          </p:cNvPicPr>
          <p:nvPr/>
        </p:nvPicPr>
        <p:blipFill>
          <a:blip r:embed="rId8"/>
          <a:stretch>
            <a:fillRect/>
          </a:stretch>
        </p:blipFill>
        <p:spPr>
          <a:xfrm>
            <a:off x="660400" y="3467100"/>
            <a:ext cx="10871200" cy="679450"/>
          </a:xfrm>
          <a:prstGeom prst="rect">
            <a:avLst/>
          </a:prstGeom>
        </p:spPr>
      </p:pic>
      <p:pic>
        <p:nvPicPr>
          <p:cNvPr id="9" name="up 006" descr="Thermal Trace is the operator-level layer that complements national systems."/>
          <p:cNvPicPr>
            <a:picLocks noChangeAspect="1"/>
          </p:cNvPicPr>
          <p:nvPr/>
        </p:nvPicPr>
        <p:blipFill>
          <a:blip r:embed="rId9"/>
          <a:stretch>
            <a:fillRect/>
          </a:stretch>
        </p:blipFill>
        <p:spPr>
          <a:xfrm>
            <a:off x="660400" y="408940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6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nodeType="withEffect">
                                  <p:stCondLst>
                                    <p:cond delay="8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04The shift"/>
          <p:cNvPicPr>
            <a:picLocks noChangeAspect="1"/>
          </p:cNvPicPr>
          <p:nvPr/>
        </p:nvPicPr>
        <p:blipFill>
          <a:blip r:embed="rId3"/>
          <a:stretch>
            <a:fillRect/>
          </a:stretch>
        </p:blipFill>
        <p:spPr>
          <a:xfrm>
            <a:off x="660400" y="609600"/>
            <a:ext cx="10871200" cy="444500"/>
          </a:xfrm>
          <a:prstGeom prst="rect">
            <a:avLst/>
          </a:prstGeom>
        </p:spPr>
      </p:pic>
      <p:pic>
        <p:nvPicPr>
          <p:cNvPr id="4" name="up 001"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up 002"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grow 003" descr=""/>
          <p:cNvPicPr>
            <a:picLocks noChangeAspect="1"/>
          </p:cNvPicPr>
          <p:nvPr/>
        </p:nvPicPr>
        <p:blipFill>
          <a:blip r:embed="rId6"/>
          <a:stretch>
            <a:fillRect/>
          </a:stretch>
        </p:blipFill>
        <p:spPr>
          <a:xfrm>
            <a:off x="2311400" y="4025900"/>
            <a:ext cx="558800" cy="374650"/>
          </a:xfrm>
          <a:prstGeom prst="rect">
            <a:avLst/>
          </a:prstGeom>
        </p:spPr>
      </p:pic>
      <p:pic>
        <p:nvPicPr>
          <p:cNvPr id="7" name="fade 004"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fade 005" descr=""/>
          <p:cNvPicPr>
            <a:picLocks noChangeAspect="1"/>
          </p:cNvPicPr>
          <p:nvPr/>
        </p:nvPicPr>
        <p:blipFill>
          <a:blip r:embed="rId8"/>
          <a:stretch>
            <a:fillRect/>
          </a:stretch>
        </p:blipFill>
        <p:spPr>
          <a:xfrm>
            <a:off x="4279900" y="3930650"/>
            <a:ext cx="539750" cy="533400"/>
          </a:xfrm>
          <a:prstGeom prst="rect">
            <a:avLst/>
          </a:prstGeom>
        </p:spPr>
      </p:pic>
      <p:pic>
        <p:nvPicPr>
          <p:cNvPr id="9" name="up 006"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wipe 007" descr=""/>
          <p:cNvPicPr>
            <a:picLocks noChangeAspect="1"/>
          </p:cNvPicPr>
          <p:nvPr/>
        </p:nvPicPr>
        <p:blipFill>
          <a:blip r:embed="rId10"/>
          <a:stretch>
            <a:fillRect/>
          </a:stretch>
        </p:blipFill>
        <p:spPr>
          <a:xfrm>
            <a:off x="7378700" y="2895600"/>
            <a:ext cx="2698750" cy="1555750"/>
          </a:xfrm>
          <a:prstGeom prst="rect">
            <a:avLst/>
          </a:prstGeom>
        </p:spPr>
      </p:pic>
      <p:pic>
        <p:nvPicPr>
          <p:cNvPr id="11" name="draw 008" descr=""/>
          <p:cNvPicPr>
            <a:picLocks noChangeAspect="1"/>
          </p:cNvPicPr>
          <p:nvPr/>
        </p:nvPicPr>
        <p:blipFill>
          <a:blip r:embed="rId11"/>
          <a:stretch>
            <a:fillRect/>
          </a:stretch>
        </p:blipFill>
        <p:spPr>
          <a:xfrm>
            <a:off x="7378700" y="2895600"/>
            <a:ext cx="2698750" cy="1555750"/>
          </a:xfrm>
          <a:prstGeom prst="rect">
            <a:avLst/>
          </a:prstGeom>
        </p:spPr>
      </p:pic>
      <p:pic>
        <p:nvPicPr>
          <p:cNvPr id="12" name="fade 009" descr=""/>
          <p:cNvPicPr>
            <a:picLocks noChangeAspect="1"/>
          </p:cNvPicPr>
          <p:nvPr/>
        </p:nvPicPr>
        <p:blipFill>
          <a:blip r:embed="rId12"/>
          <a:stretch>
            <a:fillRect/>
          </a:stretch>
        </p:blipFill>
        <p:spPr>
          <a:xfrm>
            <a:off x="9626600" y="2857500"/>
            <a:ext cx="488950" cy="488950"/>
          </a:xfrm>
          <a:prstGeom prst="rect">
            <a:avLst/>
          </a:prstGeom>
        </p:spPr>
      </p:pic>
      <p:pic>
        <p:nvPicPr>
          <p:cNvPr id="13" name="fade 010"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400"/>
                                        <p:tgtEl>
                                          <p:spTgt spid="10"/>
                                        </p:tgtEl>
                                      </p:cBhvr>
                                    </p:animEffect>
                                  </p:childTnLst>
                                </p:cTn>
                              </p:par>
                              <p:par>
                                <p:cTn id="31" presetID="22" presetClass="entr" presetSubtype="8" fill="hold"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05The product"/>
          <p:cNvPicPr>
            <a:picLocks noChangeAspect="1"/>
          </p:cNvPicPr>
          <p:nvPr/>
        </p:nvPicPr>
        <p:blipFill>
          <a:blip r:embed="rId3"/>
          <a:stretch>
            <a:fillRect/>
          </a:stretch>
        </p:blipFill>
        <p:spPr>
          <a:xfrm>
            <a:off x="660400" y="609600"/>
            <a:ext cx="10871200" cy="444500"/>
          </a:xfrm>
          <a:prstGeom prst="rect">
            <a:avLst/>
          </a:prstGeom>
        </p:spPr>
      </p:pic>
      <p:pic>
        <p:nvPicPr>
          <p:cNvPr id="4" name="up 001" descr="The anatomy of value: four reserves, one stack."/>
          <p:cNvPicPr>
            <a:picLocks noChangeAspect="1"/>
          </p:cNvPicPr>
          <p:nvPr/>
        </p:nvPicPr>
        <p:blipFill>
          <a:blip r:embed="rId4"/>
          <a:stretch>
            <a:fillRect/>
          </a:stretch>
        </p:blipFill>
        <p:spPr>
          <a:xfrm>
            <a:off x="660400" y="977900"/>
            <a:ext cx="9829800" cy="755650"/>
          </a:xfrm>
          <a:prstGeom prst="rect">
            <a:avLst/>
          </a:prstGeom>
        </p:spPr>
      </p:pic>
      <p:pic>
        <p:nvPicPr>
          <p:cNvPr id="5" name="up 002" descr="Thermal Trace GROUND TRUTH"/>
          <p:cNvPicPr>
            <a:picLocks noChangeAspect="1"/>
          </p:cNvPicPr>
          <p:nvPr/>
        </p:nvPicPr>
        <p:blipFill>
          <a:blip r:embed="rId5"/>
          <a:stretch>
            <a:fillRect/>
          </a:stretch>
        </p:blipFill>
        <p:spPr>
          <a:xfrm>
            <a:off x="660400" y="4622800"/>
            <a:ext cx="5511800" cy="1263650"/>
          </a:xfrm>
          <a:prstGeom prst="rect">
            <a:avLst/>
          </a:prstGeom>
        </p:spPr>
      </p:pic>
      <p:pic>
        <p:nvPicPr>
          <p:cNvPr id="6" name="up 003" descr="Thermal Reserve THE ENVELOPE"/>
          <p:cNvPicPr>
            <a:picLocks noChangeAspect="1"/>
          </p:cNvPicPr>
          <p:nvPr/>
        </p:nvPicPr>
        <p:blipFill>
          <a:blip r:embed="rId6"/>
          <a:stretch>
            <a:fillRect/>
          </a:stretch>
        </p:blipFill>
        <p:spPr>
          <a:xfrm>
            <a:off x="1136650" y="3632200"/>
            <a:ext cx="4559300" cy="1263650"/>
          </a:xfrm>
          <a:prstGeom prst="rect">
            <a:avLst/>
          </a:prstGeom>
        </p:spPr>
      </p:pic>
      <p:pic>
        <p:nvPicPr>
          <p:cNvPr id="7" name="up 004" descr="Commercial Reserve THE VELOCITY"/>
          <p:cNvPicPr>
            <a:picLocks noChangeAspect="1"/>
          </p:cNvPicPr>
          <p:nvPr/>
        </p:nvPicPr>
        <p:blipFill>
          <a:blip r:embed="rId7"/>
          <a:stretch>
            <a:fillRect/>
          </a:stretch>
        </p:blipFill>
        <p:spPr>
          <a:xfrm>
            <a:off x="1619250" y="2641600"/>
            <a:ext cx="3594100" cy="1263650"/>
          </a:xfrm>
          <a:prstGeom prst="rect">
            <a:avLst/>
          </a:prstGeom>
        </p:spPr>
      </p:pic>
      <p:pic>
        <p:nvPicPr>
          <p:cNvPr id="8" name="up 005" descr="Decision Reserve THE ACTION WINDOW"/>
          <p:cNvPicPr>
            <a:picLocks noChangeAspect="1"/>
          </p:cNvPicPr>
          <p:nvPr/>
        </p:nvPicPr>
        <p:blipFill>
          <a:blip r:embed="rId8"/>
          <a:stretch>
            <a:fillRect/>
          </a:stretch>
        </p:blipFill>
        <p:spPr>
          <a:xfrm>
            <a:off x="2101850" y="1651000"/>
            <a:ext cx="2628900" cy="1263650"/>
          </a:xfrm>
          <a:prstGeom prst="rect">
            <a:avLst/>
          </a:prstGeom>
        </p:spPr>
      </p:pic>
      <p:pic>
        <p:nvPicPr>
          <p:cNvPr id="9" name="fade 006" descr=""/>
          <p:cNvPicPr>
            <a:picLocks noChangeAspect="1"/>
          </p:cNvPicPr>
          <p:nvPr/>
        </p:nvPicPr>
        <p:blipFill>
          <a:blip r:embed="rId9"/>
          <a:stretch>
            <a:fillRect/>
          </a:stretch>
        </p:blipFill>
        <p:spPr>
          <a:xfrm>
            <a:off x="4279900" y="2127250"/>
            <a:ext cx="2298700" cy="3282950"/>
          </a:xfrm>
          <a:prstGeom prst="rect">
            <a:avLst/>
          </a:prstGeom>
        </p:spPr>
      </p:pic>
      <p:pic>
        <p:nvPicPr>
          <p:cNvPr id="10" name="fade 007" descr=""/>
          <p:cNvPicPr>
            <a:picLocks noChangeAspect="1"/>
          </p:cNvPicPr>
          <p:nvPr/>
        </p:nvPicPr>
        <p:blipFill>
          <a:blip r:embed="rId10"/>
          <a:stretch>
            <a:fillRect/>
          </a:stretch>
        </p:blipFill>
        <p:spPr>
          <a:xfrm>
            <a:off x="6267450" y="2095500"/>
            <a:ext cx="368300" cy="3346450"/>
          </a:xfrm>
          <a:prstGeom prst="rect">
            <a:avLst/>
          </a:prstGeom>
        </p:spPr>
      </p:pic>
      <p:pic>
        <p:nvPicPr>
          <p:cNvPr id="11" name="right 008" descr="Layer 4 · Decision Reserve Optimized The time left to act before the good options disappear."/>
          <p:cNvPicPr>
            <a:picLocks noChangeAspect="1"/>
          </p:cNvPicPr>
          <p:nvPr/>
        </p:nvPicPr>
        <p:blipFill>
          <a:blip r:embed="rId11"/>
          <a:stretch>
            <a:fillRect/>
          </a:stretch>
        </p:blipFill>
        <p:spPr>
          <a:xfrm>
            <a:off x="6451600" y="1651000"/>
            <a:ext cx="5080000" cy="1263650"/>
          </a:xfrm>
          <a:prstGeom prst="rect">
            <a:avLst/>
          </a:prstGeom>
        </p:spPr>
      </p:pic>
      <p:pic>
        <p:nvPicPr>
          <p:cNvPr id="12" name="right 009" descr="Layer 3 · Commercial Reserve Predicted The economic runway: value that can still be realised. CR = Qr × Pr × Vr"/>
          <p:cNvPicPr>
            <a:picLocks noChangeAspect="1"/>
          </p:cNvPicPr>
          <p:nvPr/>
        </p:nvPicPr>
        <p:blipFill>
          <a:blip r:embed="rId12"/>
          <a:stretch>
            <a:fillRect/>
          </a:stretch>
        </p:blipFill>
        <p:spPr>
          <a:xfrm>
            <a:off x="6451600" y="2641600"/>
            <a:ext cx="5080000" cy="1263650"/>
          </a:xfrm>
          <a:prstGeom prst="rect">
            <a:avLst/>
          </a:prstGeom>
        </p:spPr>
      </p:pic>
      <p:pic>
        <p:nvPicPr>
          <p:cNvPr id="13" name="right 010" descr="Layer 2 · Thermal Reserve Calculated The physical budget left before quality is compromised."/>
          <p:cNvPicPr>
            <a:picLocks noChangeAspect="1"/>
          </p:cNvPicPr>
          <p:nvPr/>
        </p:nvPicPr>
        <p:blipFill>
          <a:blip r:embed="rId13"/>
          <a:stretch>
            <a:fillRect/>
          </a:stretch>
        </p:blipFill>
        <p:spPr>
          <a:xfrm>
            <a:off x="6451600" y="3632200"/>
            <a:ext cx="5080000" cy="1263650"/>
          </a:xfrm>
          <a:prstGeom prst="rect">
            <a:avLst/>
          </a:prstGeom>
        </p:spPr>
      </p:pic>
      <p:pic>
        <p:nvPicPr>
          <p:cNvPr id="14" name="right 011" descr="Layer 1 · Thermal Trace Measured A continuous, timestamped memory of temperature exposure and stress."/>
          <p:cNvPicPr>
            <a:picLocks noChangeAspect="1"/>
          </p:cNvPicPr>
          <p:nvPr/>
        </p:nvPicPr>
        <p:blipFill>
          <a:blip r:embed="rId14"/>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nodeType="withEffect">
                                  <p:stCondLst>
                                    <p:cond delay="45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nodeType="withEffect">
                                  <p:stCondLst>
                                    <p:cond delay="6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nodeType="withEffect">
                                  <p:stCondLst>
                                    <p:cond delay="75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7" presetID="10" presetClass="entr" presetSubtype="0" fill="hold" nodeType="withEffect">
                                  <p:stCondLst>
                                    <p:cond delay="1000"/>
                                  </p:stCondLst>
                                  <p:childTnLst>
                                    <p:set>
                                      <p:cBhvr>
                                        <p:cTn id="28" dur="1" fill="hold">
                                          <p:stCondLst>
                                            <p:cond delay="0"/>
                                          </p:stCondLst>
                                        </p:cTn>
                                        <p:tgtEl>
                                          <p:spTgt spid="9"/>
                                        </p:tgtEl>
                                        <p:attrNameLst>
                                          <p:attrName>style.visibility</p:attrName>
                                        </p:attrNameLst>
                                      </p:cBhvr>
                                      <p:to>
                                        <p:strVal val="visible"/>
                                      </p:to>
                                    </p:set>
                                    <p:animEffect transition="in" filter="fade">
                                      <p:cBhvr>
                                        <p:cTn id="26" dur="900"/>
                                        <p:tgtEl>
                                          <p:spTgt spid="9"/>
                                        </p:tgtEl>
                                      </p:cBhvr>
                                    </p:animEffect>
                                  </p:childTnLst>
                                </p:cTn>
                              </p:par>
                              <p:par>
                                <p:cTn id="30" presetID="10" presetClass="entr" presetSubtype="0" fill="hold"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4" presetID="2" presetClass="entr" presetSubtype="2" fill="hold" nodeType="withEffect">
                                  <p:stCondLst>
                                    <p:cond delay="10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ppt_x</p:attrName>
                                        </p:attrNameLst>
                                      </p:cBhvr>
                                      <p:tavLst>
                                        <p:tav tm="0">
                                          <p:val>
                                            <p:strVal val="#ppt_x+0.025"/>
                                          </p:val>
                                        </p:tav>
                                        <p:tav tm="100000">
                                          <p:val>
                                            <p:strVal val="#ppt_x"/>
                                          </p:val>
                                        </p:tav>
                                      </p:tavLst>
                                    </p:anim>
                                    <p:animEffect transition="in" filter="fade">
                                      <p:cBhvr>
                                        <p:cTn id="33" dur="900"/>
                                        <p:tgtEl>
                                          <p:spTgt spid="11"/>
                                        </p:tgtEl>
                                      </p:cBhvr>
                                    </p:animEffect>
                                  </p:childTnLst>
                                </p:cTn>
                              </p:par>
                              <p:par>
                                <p:cTn id="38" presetID="2" presetClass="entr" presetSubtype="2" fill="hold" nodeType="withEffect">
                                  <p:stCondLst>
                                    <p:cond delay="95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ppt_x</p:attrName>
                                        </p:attrNameLst>
                                      </p:cBhvr>
                                      <p:tavLst>
                                        <p:tav tm="0">
                                          <p:val>
                                            <p:strVal val="#ppt_x+0.025"/>
                                          </p:val>
                                        </p:tav>
                                        <p:tav tm="100000">
                                          <p:val>
                                            <p:strVal val="#ppt_x"/>
                                          </p:val>
                                        </p:tav>
                                      </p:tavLst>
                                    </p:anim>
                                    <p:animEffect transition="in" filter="fade">
                                      <p:cBhvr>
                                        <p:cTn id="37" dur="900"/>
                                        <p:tgtEl>
                                          <p:spTgt spid="12"/>
                                        </p:tgtEl>
                                      </p:cBhvr>
                                    </p:animEffect>
                                  </p:childTnLst>
                                </p:cTn>
                              </p:par>
                              <p:par>
                                <p:cTn id="42" presetID="2" presetClass="entr" presetSubtype="2" fill="hold" nodeType="withEffect">
                                  <p:stCondLst>
                                    <p:cond delay="85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0" dur="900" fill="hold"/>
                                        <p:tgtEl>
                                          <p:spTgt spid="13"/>
                                        </p:tgtEl>
                                        <p:attrNameLst>
                                          <p:attrName>ppt_x</p:attrName>
                                        </p:attrNameLst>
                                      </p:cBhvr>
                                      <p:tavLst>
                                        <p:tav tm="0">
                                          <p:val>
                                            <p:strVal val="#ppt_x+0.025"/>
                                          </p:val>
                                        </p:tav>
                                        <p:tav tm="100000">
                                          <p:val>
                                            <p:strVal val="#ppt_x"/>
                                          </p:val>
                                        </p:tav>
                                      </p:tavLst>
                                    </p:anim>
                                    <p:animEffect transition="in" filter="fade">
                                      <p:cBhvr>
                                        <p:cTn id="41" dur="900"/>
                                        <p:tgtEl>
                                          <p:spTgt spid="13"/>
                                        </p:tgtEl>
                                      </p:cBhvr>
                                    </p:animEffect>
                                  </p:childTnLst>
                                </p:cTn>
                              </p:par>
                              <p:par>
                                <p:cTn id="46" presetID="2" presetClass="entr" presetSubtype="2" fill="hold" nodeType="withEffect">
                                  <p:stCondLst>
                                    <p:cond delay="75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4" dur="900" fill="hold"/>
                                        <p:tgtEl>
                                          <p:spTgt spid="14"/>
                                        </p:tgtEl>
                                        <p:attrNameLst>
                                          <p:attrName>ppt_x</p:attrName>
                                        </p:attrNameLst>
                                      </p:cBhvr>
                                      <p:tavLst>
                                        <p:tav tm="0">
                                          <p:val>
                                            <p:strVal val="#ppt_x+0.025"/>
                                          </p:val>
                                        </p:tav>
                                        <p:tav tm="100000">
                                          <p:val>
                                            <p:strVal val="#ppt_x"/>
                                          </p:val>
                                        </p:tav>
                                      </p:tavLst>
                                    </p:anim>
                                    <p:animEffect transition="in" filter="fade">
                                      <p:cBhvr>
                                        <p:cTn id="45"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Countdown · example"/>
          <p:cNvPicPr>
            <a:picLocks noChangeAspect="1"/>
          </p:cNvPicPr>
          <p:nvPr/>
        </p:nvPicPr>
        <p:blipFill>
          <a:blip r:embed="rId3"/>
          <a:stretch>
            <a:fillRect/>
          </a:stretch>
        </p:blipFill>
        <p:spPr>
          <a:xfrm>
            <a:off x="9385300" y="558800"/>
            <a:ext cx="2146300" cy="546100"/>
          </a:xfrm>
          <a:prstGeom prst="rect">
            <a:avLst/>
          </a:prstGeom>
        </p:spPr>
      </p:pic>
      <p:pic>
        <p:nvPicPr>
          <p:cNvPr id="4" name="fade 001" descr="06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up 002"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up 003" descr="Physical clockCalculated Thermal Reserve 45 min left For 3PLs, fleets and warehouses. Sensors and edge gateways record the Thermal Trace and give a live countdown. 3PLsFleetsWarehouses"/>
          <p:cNvPicPr>
            <a:picLocks noChangeAspect="1"/>
          </p:cNvPicPr>
          <p:nvPr/>
        </p:nvPicPr>
        <p:blipFill>
          <a:blip r:embed="rId6"/>
          <a:stretch>
            <a:fillRect/>
          </a:stretch>
        </p:blipFill>
        <p:spPr>
          <a:xfrm>
            <a:off x="660400" y="1784350"/>
            <a:ext cx="5499100" cy="2978150"/>
          </a:xfrm>
          <a:prstGeom prst="rect">
            <a:avLst/>
          </a:prstGeom>
        </p:spPr>
      </p:pic>
      <p:pic>
        <p:nvPicPr>
          <p:cNvPr id="7" name="up 004" descr="Commercial clockPredicted Commercial Reserve POS · ERP · WMS → route → price to clear For hypermarkets and HORECA. Joins the physical state with POS, ERP and WMS to route stock, and price it to clear."/>
          <p:cNvPicPr>
            <a:picLocks noChangeAspect="1"/>
          </p:cNvPicPr>
          <p:nvPr/>
        </p:nvPicPr>
        <p:blipFill>
          <a:blip r:embed="rId7"/>
          <a:stretch>
            <a:fillRect/>
          </a:stretch>
        </p:blipFill>
        <p:spPr>
          <a:xfrm>
            <a:off x="6032500" y="1784350"/>
            <a:ext cx="5499100" cy="2978150"/>
          </a:xfrm>
          <a:prstGeom prst="rect">
            <a:avLst/>
          </a:prstGeom>
        </p:spPr>
      </p:pic>
      <p:pic>
        <p:nvPicPr>
          <p:cNvPr id="8" name="up 005" descr="Entry point · Thermal ReserveControlled extension · Commercial Reserve"/>
          <p:cNvPicPr>
            <a:picLocks noChangeAspect="1"/>
          </p:cNvPicPr>
          <p:nvPr/>
        </p:nvPicPr>
        <p:blipFill>
          <a:blip r:embed="rId8"/>
          <a:stretch>
            <a:fillRect/>
          </a:stretch>
        </p:blipFill>
        <p:spPr>
          <a:xfrm>
            <a:off x="660400" y="473075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7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07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up 001"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up 002" descr="Temperature DS18B20 · ±0.5 °C Ceiling and floor, so a warm layer shows up instead of hiding in an average."/>
          <p:cNvPicPr>
            <a:picLocks noChangeAspect="1"/>
          </p:cNvPicPr>
          <p:nvPr/>
        </p:nvPicPr>
        <p:blipFill>
          <a:blip r:embed="rId5"/>
          <a:stretch>
            <a:fillRect/>
          </a:stretch>
        </p:blipFill>
        <p:spPr>
          <a:xfrm>
            <a:off x="660400" y="1695450"/>
            <a:ext cx="3752850" cy="1562100"/>
          </a:xfrm>
          <a:prstGeom prst="rect">
            <a:avLst/>
          </a:prstGeom>
        </p:spPr>
      </p:pic>
      <p:pic>
        <p:nvPicPr>
          <p:cNvPr id="6" name="up 003" descr="Humidity Sensirion SHT3x · ±2 % RH With temperature it gives the dew point: whether an open door wets the cartons."/>
          <p:cNvPicPr>
            <a:picLocks noChangeAspect="1"/>
          </p:cNvPicPr>
          <p:nvPr/>
        </p:nvPicPr>
        <p:blipFill>
          <a:blip r:embed="rId6"/>
          <a:stretch>
            <a:fillRect/>
          </a:stretch>
        </p:blipFill>
        <p:spPr>
          <a:xfrm>
            <a:off x="4216400" y="1695450"/>
            <a:ext cx="3759200" cy="1562100"/>
          </a:xfrm>
          <a:prstGeom prst="rect">
            <a:avLst/>
          </a:prstGeom>
        </p:spPr>
      </p:pic>
      <p:pic>
        <p:nvPicPr>
          <p:cNvPr id="7" name="up 004" descr="Shock &amp; tilt 3-axis MEMS accelerometer Bruising from a dropped pallet is damage a thermometer never sees."/>
          <p:cNvPicPr>
            <a:picLocks noChangeAspect="1"/>
          </p:cNvPicPr>
          <p:nvPr/>
        </p:nvPicPr>
        <p:blipFill>
          <a:blip r:embed="rId7"/>
          <a:stretch>
            <a:fillRect/>
          </a:stretch>
        </p:blipFill>
        <p:spPr>
          <a:xfrm>
            <a:off x="7778750" y="1695450"/>
            <a:ext cx="3752850" cy="1562100"/>
          </a:xfrm>
          <a:prstGeom prst="rect">
            <a:avLst/>
          </a:prstGeom>
        </p:spPr>
      </p:pic>
      <p:pic>
        <p:nvPicPr>
          <p:cNvPr id="8" name="up 005" descr="Gases · designed Metal-oxide · VOC, C2H4 Ethylene is the fruit itself reporting that it has started to ripen."/>
          <p:cNvPicPr>
            <a:picLocks noChangeAspect="1"/>
          </p:cNvPicPr>
          <p:nvPr/>
        </p:nvPicPr>
        <p:blipFill>
          <a:blip r:embed="rId8"/>
          <a:stretch>
            <a:fillRect/>
          </a:stretch>
        </p:blipFill>
        <p:spPr>
          <a:xfrm>
            <a:off x="660400" y="3060700"/>
            <a:ext cx="3752850" cy="1587500"/>
          </a:xfrm>
          <a:prstGeom prst="rect">
            <a:avLst/>
          </a:prstGeom>
        </p:spPr>
      </p:pic>
      <p:pic>
        <p:nvPicPr>
          <p:cNvPr id="9" name="up 006" descr="Sub-surface · designed NIR · 700–2500 nm Finds internal bruising before anything is visible from outside."/>
          <p:cNvPicPr>
            <a:picLocks noChangeAspect="1"/>
          </p:cNvPicPr>
          <p:nvPr/>
        </p:nvPicPr>
        <p:blipFill>
          <a:blip r:embed="rId9"/>
          <a:stretch>
            <a:fillRect/>
          </a:stretch>
        </p:blipFill>
        <p:spPr>
          <a:xfrm>
            <a:off x="4216400" y="3060700"/>
            <a:ext cx="3759200" cy="1587500"/>
          </a:xfrm>
          <a:prstGeom prst="rect">
            <a:avLst/>
          </a:prstGeom>
        </p:spPr>
      </p:pic>
      <p:pic>
        <p:nvPicPr>
          <p:cNvPr id="10" name="up 007" descr="Surface · designed RGB camera · edge vision Colour shift, mould, and a count of what is actually on the shelf."/>
          <p:cNvPicPr>
            <a:picLocks noChangeAspect="1"/>
          </p:cNvPicPr>
          <p:nvPr/>
        </p:nvPicPr>
        <p:blipFill>
          <a:blip r:embed="rId10"/>
          <a:stretch>
            <a:fillRect/>
          </a:stretch>
        </p:blipFill>
        <p:spPr>
          <a:xfrm>
            <a:off x="7778750" y="3060700"/>
            <a:ext cx="3752850" cy="1587500"/>
          </a:xfrm>
          <a:prstGeom prst="rect">
            <a:avLst/>
          </a:prstGeom>
        </p:spPr>
      </p:pic>
      <p:pic>
        <p:nvPicPr>
          <p:cNvPr id="11" name="up 008" descr="They feed Deterioration detection Remaining Useful Time Thermal exposure ET Calculated"/>
          <p:cNvPicPr>
            <a:picLocks noChangeAspect="1"/>
          </p:cNvPicPr>
          <p:nvPr/>
        </p:nvPicPr>
        <p:blipFill>
          <a:blip r:embed="rId11"/>
          <a:stretch>
            <a:fillRect/>
          </a:stretch>
        </p:blipFill>
        <p:spPr>
          <a:xfrm>
            <a:off x="660400" y="4502150"/>
            <a:ext cx="10871200" cy="711200"/>
          </a:xfrm>
          <a:prstGeom prst="rect">
            <a:avLst/>
          </a:prstGeom>
        </p:spPr>
      </p:pic>
      <p:pic>
        <p:nvPicPr>
          <p:cNvPr id="12" name="up 009" descr="The first three flow through the pipeline today; the rest are the designed next layer. All publish the same message, so adding one changes nothing downstream."/>
          <p:cNvPicPr>
            <a:picLocks noChangeAspect="1"/>
          </p:cNvPicPr>
          <p:nvPr/>
        </p:nvPicPr>
        <p:blipFill>
          <a:blip r:embed="rId12"/>
          <a:stretch>
            <a:fillRect/>
          </a:stretch>
        </p:blipFill>
        <p:spPr>
          <a:xfrm>
            <a:off x="660400" y="4991100"/>
            <a:ext cx="10871200" cy="755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s 1–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fade 001" descr="08Layers 1–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up 002"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up 003" descr="Layer 1 · Thermal Trace · cargo temperatureMeasured 8° 6° 4° 2° SAFE MAX 4 °C refrigeration fails 3.8° 7.4° E T = exposure"/>
          <p:cNvPicPr>
            <a:picLocks noChangeAspect="1"/>
          </p:cNvPicPr>
          <p:nvPr/>
        </p:nvPicPr>
        <p:blipFill>
          <a:blip r:embed="rId6"/>
          <a:stretch>
            <a:fillRect/>
          </a:stretch>
        </p:blipFill>
        <p:spPr>
          <a:xfrm>
            <a:off x="660400" y="1701800"/>
            <a:ext cx="5791200" cy="3695700"/>
          </a:xfrm>
          <a:prstGeom prst="rect">
            <a:avLst/>
          </a:prstGeom>
        </p:spPr>
      </p:pic>
      <p:pic>
        <p:nvPicPr>
          <p:cNvPr id="7" name="wipe 004" descr=""/>
          <p:cNvPicPr>
            <a:picLocks noChangeAspect="1"/>
          </p:cNvPicPr>
          <p:nvPr/>
        </p:nvPicPr>
        <p:blipFill>
          <a:blip r:embed="rId7"/>
          <a:stretch>
            <a:fillRect/>
          </a:stretch>
        </p:blipFill>
        <p:spPr>
          <a:xfrm>
            <a:off x="1181100" y="2819400"/>
            <a:ext cx="4978400" cy="1473200"/>
          </a:xfrm>
          <a:prstGeom prst="rect">
            <a:avLst/>
          </a:prstGeom>
        </p:spPr>
      </p:pic>
      <p:pic>
        <p:nvPicPr>
          <p:cNvPr id="8" name="draw 005" descr=""/>
          <p:cNvPicPr>
            <a:picLocks noChangeAspect="1"/>
          </p:cNvPicPr>
          <p:nvPr/>
        </p:nvPicPr>
        <p:blipFill>
          <a:blip r:embed="rId8"/>
          <a:stretch>
            <a:fillRect/>
          </a:stretch>
        </p:blipFill>
        <p:spPr>
          <a:xfrm>
            <a:off x="1181100" y="2819400"/>
            <a:ext cx="4978400" cy="1473200"/>
          </a:xfrm>
          <a:prstGeom prst="rect">
            <a:avLst/>
          </a:prstGeom>
        </p:spPr>
      </p:pic>
      <p:pic>
        <p:nvPicPr>
          <p:cNvPr id="9" name="fade 006" descr="refrigeration fails"/>
          <p:cNvPicPr>
            <a:picLocks noChangeAspect="1"/>
          </p:cNvPicPr>
          <p:nvPr/>
        </p:nvPicPr>
        <p:blipFill>
          <a:blip r:embed="rId9"/>
          <a:stretch>
            <a:fillRect/>
          </a:stretch>
        </p:blipFill>
        <p:spPr>
          <a:xfrm>
            <a:off x="2120900" y="3981450"/>
            <a:ext cx="1466850" cy="1193800"/>
          </a:xfrm>
          <a:prstGeom prst="rect">
            <a:avLst/>
          </a:prstGeom>
        </p:spPr>
      </p:pic>
      <p:pic>
        <p:nvPicPr>
          <p:cNvPr id="10" name="fade 007" descr="3.8°"/>
          <p:cNvPicPr>
            <a:picLocks noChangeAspect="1"/>
          </p:cNvPicPr>
          <p:nvPr/>
        </p:nvPicPr>
        <p:blipFill>
          <a:blip r:embed="rId10"/>
          <a:stretch>
            <a:fillRect/>
          </a:stretch>
        </p:blipFill>
        <p:spPr>
          <a:xfrm>
            <a:off x="1181100" y="4044950"/>
            <a:ext cx="584200" cy="457200"/>
          </a:xfrm>
          <a:prstGeom prst="rect">
            <a:avLst/>
          </a:prstGeom>
        </p:spPr>
      </p:pic>
      <p:pic>
        <p:nvPicPr>
          <p:cNvPr id="11" name="fade 008" descr="7.4°"/>
          <p:cNvPicPr>
            <a:picLocks noChangeAspect="1"/>
          </p:cNvPicPr>
          <p:nvPr/>
        </p:nvPicPr>
        <p:blipFill>
          <a:blip r:embed="rId11"/>
          <a:stretch>
            <a:fillRect/>
          </a:stretch>
        </p:blipFill>
        <p:spPr>
          <a:xfrm>
            <a:off x="5524500" y="2622550"/>
            <a:ext cx="584200" cy="457200"/>
          </a:xfrm>
          <a:prstGeom prst="rect">
            <a:avLst/>
          </a:prstGeom>
        </p:spPr>
      </p:pic>
      <p:pic>
        <p:nvPicPr>
          <p:cNvPr id="12" name="fade 009" descr="E T = exposure"/>
          <p:cNvPicPr>
            <a:picLocks noChangeAspect="1"/>
          </p:cNvPicPr>
          <p:nvPr/>
        </p:nvPicPr>
        <p:blipFill>
          <a:blip r:embed="rId12"/>
          <a:stretch>
            <a:fillRect/>
          </a:stretch>
        </p:blipFill>
        <p:spPr>
          <a:xfrm>
            <a:off x="4483100" y="3581400"/>
            <a:ext cx="1289050" cy="495300"/>
          </a:xfrm>
          <a:prstGeom prst="rect">
            <a:avLst/>
          </a:prstGeom>
        </p:spPr>
      </p:pic>
      <p:pic>
        <p:nvPicPr>
          <p:cNvPr id="13" name="right 010" descr="Thermal exposure · °C·min ET = Σ max(0, Ti − Tsafe) · Δt"/>
          <p:cNvPicPr>
            <a:picLocks noChangeAspect="1"/>
          </p:cNvPicPr>
          <p:nvPr/>
        </p:nvPicPr>
        <p:blipFill>
          <a:blip r:embed="rId13"/>
          <a:stretch>
            <a:fillRect/>
          </a:stretch>
        </p:blipFill>
        <p:spPr>
          <a:xfrm>
            <a:off x="6654800" y="1701800"/>
            <a:ext cx="4876800" cy="1066800"/>
          </a:xfrm>
          <a:prstGeom prst="rect">
            <a:avLst/>
          </a:prstGeom>
        </p:spPr>
      </p:pic>
      <p:pic>
        <p:nvPicPr>
          <p:cNvPr id="14" name="right 011" descr="Deterioration rate · Arrhenius k(T) = kref · e(Ea/R)(1/Tideal − 1/T)"/>
          <p:cNvPicPr>
            <a:picLocks noChangeAspect="1"/>
          </p:cNvPicPr>
          <p:nvPr/>
        </p:nvPicPr>
        <p:blipFill>
          <a:blip r:embed="rId14"/>
          <a:stretch>
            <a:fillRect/>
          </a:stretch>
        </p:blipFill>
        <p:spPr>
          <a:xfrm>
            <a:off x="6654800" y="2559050"/>
            <a:ext cx="4876800" cy="1060450"/>
          </a:xfrm>
          <a:prstGeom prst="rect">
            <a:avLst/>
          </a:prstGeom>
        </p:spPr>
      </p:pic>
      <p:pic>
        <p:nvPicPr>
          <p:cNvPr id="15" name="right 012" descr="Layer 2 · Thermal Reserve · safe life left D = Σ k(Ti)·Δti → reserve = L·(1 − D)"/>
          <p:cNvPicPr>
            <a:picLocks noChangeAspect="1"/>
          </p:cNvPicPr>
          <p:nvPr/>
        </p:nvPicPr>
        <p:blipFill>
          <a:blip r:embed="rId15"/>
          <a:stretch>
            <a:fillRect/>
          </a:stretch>
        </p:blipFill>
        <p:spPr>
          <a:xfrm>
            <a:off x="6654800" y="3409950"/>
            <a:ext cx="4876800" cy="1060450"/>
          </a:xfrm>
          <a:prstGeom prst="rect">
            <a:avLst/>
          </a:prstGeom>
        </p:spPr>
      </p:pic>
      <p:pic>
        <p:nvPicPr>
          <p:cNvPr id="16" name="up 013" descr="Label date 7.0 d Thermal reserve 4.5 d CalculatedDeterministic Python. No AI model touches these numbers."/>
          <p:cNvPicPr>
            <a:picLocks noChangeAspect="1"/>
          </p:cNvPicPr>
          <p:nvPr/>
        </p:nvPicPr>
        <p:blipFill>
          <a:blip r:embed="rId16"/>
          <a:stretch>
            <a:fillRect/>
          </a:stretch>
        </p:blipFill>
        <p:spPr>
          <a:xfrm>
            <a:off x="6654800" y="4349750"/>
            <a:ext cx="4876800" cy="1397000"/>
          </a:xfrm>
          <a:prstGeom prst="rect">
            <a:avLst/>
          </a:prstGeom>
        </p:spPr>
      </p:pic>
      <p:pic>
        <p:nvPicPr>
          <p:cNvPr id="17" name="grow 014" descr=""/>
          <p:cNvPicPr>
            <a:picLocks noChangeAspect="1"/>
          </p:cNvPicPr>
          <p:nvPr/>
        </p:nvPicPr>
        <p:blipFill>
          <a:blip r:embed="rId17"/>
          <a:stretch>
            <a:fillRect/>
          </a:stretch>
        </p:blipFill>
        <p:spPr>
          <a:xfrm>
            <a:off x="8255000" y="4349750"/>
            <a:ext cx="2184400" cy="501650"/>
          </a:xfrm>
          <a:prstGeom prst="rect">
            <a:avLst/>
          </a:prstGeom>
        </p:spPr>
      </p:pic>
      <p:pic>
        <p:nvPicPr>
          <p:cNvPr id="18" name="grow 015" descr=""/>
          <p:cNvPicPr>
            <a:picLocks noChangeAspect="1"/>
          </p:cNvPicPr>
          <p:nvPr/>
        </p:nvPicPr>
        <p:blipFill>
          <a:blip r:embed="rId18"/>
          <a:stretch>
            <a:fillRect/>
          </a:stretch>
        </p:blipFill>
        <p:spPr>
          <a:xfrm>
            <a:off x="8255000" y="4667250"/>
            <a:ext cx="1511300" cy="501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400"/>
                                        <p:tgtEl>
                                          <p:spTgt spid="7"/>
                                        </p:tgtEl>
                                      </p:cBhvr>
                                    </p:animEffect>
                                  </p:childTnLst>
                                </p:cTn>
                              </p:par>
                              <p:par>
                                <p:cTn id="21" presetID="22" presetClass="entr" presetSubtype="8" fill="hold"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09Layer 3 · Two clocks"/>
          <p:cNvPicPr>
            <a:picLocks noChangeAspect="1"/>
          </p:cNvPicPr>
          <p:nvPr/>
        </p:nvPicPr>
        <p:blipFill>
          <a:blip r:embed="rId3"/>
          <a:stretch>
            <a:fillRect/>
          </a:stretch>
        </p:blipFill>
        <p:spPr>
          <a:xfrm>
            <a:off x="660400" y="609600"/>
            <a:ext cx="10871200" cy="444500"/>
          </a:xfrm>
          <a:prstGeom prst="rect">
            <a:avLst/>
          </a:prstGeom>
        </p:spPr>
      </p:pic>
      <p:pic>
        <p:nvPicPr>
          <p:cNvPr id="4" name="up 001" descr="Safe is not the same as sellable."/>
          <p:cNvPicPr>
            <a:picLocks noChangeAspect="1"/>
          </p:cNvPicPr>
          <p:nvPr/>
        </p:nvPicPr>
        <p:blipFill>
          <a:blip r:embed="rId4"/>
          <a:stretch>
            <a:fillRect/>
          </a:stretch>
        </p:blipFill>
        <p:spPr>
          <a:xfrm>
            <a:off x="660400" y="977900"/>
            <a:ext cx="9829800" cy="838200"/>
          </a:xfrm>
          <a:prstGeom prst="rect">
            <a:avLst/>
          </a:prstGeom>
        </p:spPr>
      </p:pic>
      <p:pic>
        <p:nvPicPr>
          <p:cNvPr id="5" name="up 002" descr="Thermal ReserveThe physical clock"/>
          <p:cNvPicPr>
            <a:picLocks noChangeAspect="1"/>
          </p:cNvPicPr>
          <p:nvPr/>
        </p:nvPicPr>
        <p:blipFill>
          <a:blip r:embed="rId5"/>
          <a:stretch>
            <a:fillRect/>
          </a:stretch>
        </p:blipFill>
        <p:spPr>
          <a:xfrm>
            <a:off x="666750" y="1739900"/>
            <a:ext cx="5581650" cy="971550"/>
          </a:xfrm>
          <a:prstGeom prst="rect">
            <a:avLst/>
          </a:prstGeom>
        </p:spPr>
      </p:pic>
      <p:pic>
        <p:nvPicPr>
          <p:cNvPr id="6" name="up 003" descr="Commercial ReserveThe commercial clock"/>
          <p:cNvPicPr>
            <a:picLocks noChangeAspect="1"/>
          </p:cNvPicPr>
          <p:nvPr/>
        </p:nvPicPr>
        <p:blipFill>
          <a:blip r:embed="rId6"/>
          <a:stretch>
            <a:fillRect/>
          </a:stretch>
        </p:blipFill>
        <p:spPr>
          <a:xfrm>
            <a:off x="5943600" y="1739900"/>
            <a:ext cx="5581650" cy="971550"/>
          </a:xfrm>
          <a:prstGeom prst="rect">
            <a:avLst/>
          </a:prstGeom>
        </p:spPr>
      </p:pic>
      <p:pic>
        <p:nvPicPr>
          <p:cNvPr id="7" name="up 004" descr="FocusProduct health: “Can it still be consumed?”"/>
          <p:cNvPicPr>
            <a:picLocks noChangeAspect="1"/>
          </p:cNvPicPr>
          <p:nvPr/>
        </p:nvPicPr>
        <p:blipFill>
          <a:blip r:embed="rId7"/>
          <a:stretch>
            <a:fillRect/>
          </a:stretch>
        </p:blipFill>
        <p:spPr>
          <a:xfrm>
            <a:off x="666750" y="2400300"/>
            <a:ext cx="5581650" cy="838200"/>
          </a:xfrm>
          <a:prstGeom prst="rect">
            <a:avLst/>
          </a:prstGeom>
        </p:spPr>
      </p:pic>
      <p:pic>
        <p:nvPicPr>
          <p:cNvPr id="8" name="up 005" descr="FocusEconomic life: “Can it still earn its value?”"/>
          <p:cNvPicPr>
            <a:picLocks noChangeAspect="1"/>
          </p:cNvPicPr>
          <p:nvPr/>
        </p:nvPicPr>
        <p:blipFill>
          <a:blip r:embed="rId8"/>
          <a:stretch>
            <a:fillRect/>
          </a:stretch>
        </p:blipFill>
        <p:spPr>
          <a:xfrm>
            <a:off x="5943600" y="2400300"/>
            <a:ext cx="5581650" cy="838200"/>
          </a:xfrm>
          <a:prstGeom prst="rect">
            <a:avLst/>
          </a:prstGeom>
        </p:spPr>
      </p:pic>
      <p:pic>
        <p:nvPicPr>
          <p:cNvPr id="9" name="up 006" descr="ClockProduction → Transport → Deterioration → Shelf-life boundary"/>
          <p:cNvPicPr>
            <a:picLocks noChangeAspect="1"/>
          </p:cNvPicPr>
          <p:nvPr/>
        </p:nvPicPr>
        <p:blipFill>
          <a:blip r:embed="rId9"/>
          <a:stretch>
            <a:fillRect/>
          </a:stretch>
        </p:blipFill>
        <p:spPr>
          <a:xfrm>
            <a:off x="666750" y="2927350"/>
            <a:ext cx="5581650" cy="838200"/>
          </a:xfrm>
          <a:prstGeom prst="rect">
            <a:avLst/>
          </a:prstGeom>
        </p:spPr>
      </p:pic>
      <p:pic>
        <p:nvPicPr>
          <p:cNvPr id="10" name="up 007" descr="ClockArrival → Customer exposure → Sell-through → Replenishment"/>
          <p:cNvPicPr>
            <a:picLocks noChangeAspect="1"/>
          </p:cNvPicPr>
          <p:nvPr/>
        </p:nvPicPr>
        <p:blipFill>
          <a:blip r:embed="rId10"/>
          <a:stretch>
            <a:fillRect/>
          </a:stretch>
        </p:blipFill>
        <p:spPr>
          <a:xfrm>
            <a:off x="5943600" y="2927350"/>
            <a:ext cx="5581650" cy="838200"/>
          </a:xfrm>
          <a:prstGeom prst="rect">
            <a:avLst/>
          </a:prstGeom>
        </p:spPr>
      </p:pic>
      <p:pic>
        <p:nvPicPr>
          <p:cNvPr id="11" name="up 008" descr="GoalProtect physical life. Calculated"/>
          <p:cNvPicPr>
            <a:picLocks noChangeAspect="1"/>
          </p:cNvPicPr>
          <p:nvPr/>
        </p:nvPicPr>
        <p:blipFill>
          <a:blip r:embed="rId11"/>
          <a:stretch>
            <a:fillRect/>
          </a:stretch>
        </p:blipFill>
        <p:spPr>
          <a:xfrm>
            <a:off x="666750" y="3454400"/>
            <a:ext cx="5581650" cy="844550"/>
          </a:xfrm>
          <a:prstGeom prst="rect">
            <a:avLst/>
          </a:prstGeom>
        </p:spPr>
      </p:pic>
      <p:pic>
        <p:nvPicPr>
          <p:cNvPr id="12" name="up 009" descr="GoalProtect economic life. Predicted"/>
          <p:cNvPicPr>
            <a:picLocks noChangeAspect="1"/>
          </p:cNvPicPr>
          <p:nvPr/>
        </p:nvPicPr>
        <p:blipFill>
          <a:blip r:embed="rId12"/>
          <a:stretch>
            <a:fillRect/>
          </a:stretch>
        </p:blipFill>
        <p:spPr>
          <a:xfrm>
            <a:off x="5943600" y="3454400"/>
            <a:ext cx="5581650" cy="844550"/>
          </a:xfrm>
          <a:prstGeom prst="rect">
            <a:avLst/>
          </a:prstGeom>
        </p:spPr>
      </p:pic>
      <p:pic>
        <p:nvPicPr>
          <p:cNvPr id="13" name="up 010"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3"/>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nodeType="withEffect">
                                  <p:stCondLst>
                                    <p:cond delay="38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nodeType="withEffect">
                                  <p:stCondLst>
                                    <p:cond delay="5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nodeType="withEffect">
                                  <p:stCondLst>
                                    <p:cond delay="56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nodeType="withEffect">
                                  <p:stCondLst>
                                    <p:cond delay="64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nodeType="withEffect">
                                  <p:stCondLst>
                                    <p:cond delay="70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nodeType="withEffect">
                                  <p:stCondLst>
                                    <p:cond delay="78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nodeType="withEffect">
                                  <p:stCondLst>
                                    <p:cond delay="84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par>
                                <p:cTn id="44" presetID="2" presetClass="entr" presetSubtype="4" fill="hold" nodeType="withEffect">
                                  <p:stCondLst>
                                    <p:cond delay="1000"/>
                                  </p:stCondLst>
                                  <p:childTnLst>
                                    <p:set>
                                      <p:cBhvr>
                                        <p:cTn id="45" dur="1" fill="hold">
                                          <p:stCondLst>
                                            <p:cond delay="0"/>
                                          </p:stCondLst>
                                        </p:cTn>
                                        <p:tgtEl>
                                          <p:spTgt spid="13"/>
                                        </p:tgtEl>
                                        <p:attrNameLst>
                                          <p:attrName>style.visibility</p:attrName>
                                        </p:attrNameLst>
                                      </p:cBhvr>
                                      <p:to>
                                        <p:strVal val="visible"/>
                                      </p:to>
                                    </p:set>
                                    <p:anim calcmode="lin" valueType="num">
                                      <p:cBhvr additive="base">
                                        <p:cTn id="42" dur="900" fill="hold"/>
                                        <p:tgtEl>
                                          <p:spTgt spid="13"/>
                                        </p:tgtEl>
                                        <p:attrNameLst>
                                          <p:attrName>ppt_y</p:attrName>
                                        </p:attrNameLst>
                                      </p:cBhvr>
                                      <p:tavLst>
                                        <p:tav tm="0">
                                          <p:val>
                                            <p:strVal val="#ppt_y+0.03"/>
                                          </p:val>
                                        </p:tav>
                                        <p:tav tm="100000">
                                          <p:val>
                                            <p:strVal val="#ppt_y"/>
                                          </p:val>
                                        </p:tav>
                                      </p:tavLst>
                                    </p:anim>
                                    <p:animEffect transition="in" filter="fade">
                                      <p:cBhvr>
                                        <p:cTn id="43"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Illustrative value curve"/>
          <p:cNvPicPr>
            <a:picLocks noChangeAspect="1"/>
          </p:cNvPicPr>
          <p:nvPr/>
        </p:nvPicPr>
        <p:blipFill>
          <a:blip r:embed="rId3"/>
          <a:stretch>
            <a:fillRect/>
          </a:stretch>
        </p:blipFill>
        <p:spPr>
          <a:xfrm>
            <a:off x="8997950" y="558800"/>
            <a:ext cx="2533650" cy="546100"/>
          </a:xfrm>
          <a:prstGeom prst="rect">
            <a:avLst/>
          </a:prstGeom>
        </p:spPr>
      </p:pic>
      <p:pic>
        <p:nvPicPr>
          <p:cNvPr id="4" name="fade 001" descr="10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up 002"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up 003"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draw 004" descr=""/>
          <p:cNvPicPr>
            <a:picLocks noChangeAspect="1"/>
          </p:cNvPicPr>
          <p:nvPr/>
        </p:nvPicPr>
        <p:blipFill>
          <a:blip r:embed="rId7"/>
          <a:stretch>
            <a:fillRect/>
          </a:stretch>
        </p:blipFill>
        <p:spPr>
          <a:xfrm>
            <a:off x="666750" y="2387600"/>
            <a:ext cx="10858500" cy="3517900"/>
          </a:xfrm>
          <a:prstGeom prst="rect">
            <a:avLst/>
          </a:prstGeom>
        </p:spPr>
      </p:pic>
      <p:pic>
        <p:nvPicPr>
          <p:cNvPr id="8" name="up 005"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up 006"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up 007"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up 008"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fade 001" descr="11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up 002"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up 003"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fade 004"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left 005"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left 006"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left 007"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up 008"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up 009"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fade 010"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right 011"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fade 012"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fade 013"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up 014"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AI where it earns its place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12AI where it earns its place"/>
          <p:cNvPicPr>
            <a:picLocks noChangeAspect="1"/>
          </p:cNvPicPr>
          <p:nvPr/>
        </p:nvPicPr>
        <p:blipFill>
          <a:blip r:embed="rId3"/>
          <a:stretch>
            <a:fillRect/>
          </a:stretch>
        </p:blipFill>
        <p:spPr>
          <a:xfrm>
            <a:off x="660400" y="609600"/>
            <a:ext cx="10871200" cy="444500"/>
          </a:xfrm>
          <a:prstGeom prst="rect">
            <a:avLst/>
          </a:prstGeom>
        </p:spPr>
      </p:pic>
      <p:pic>
        <p:nvPicPr>
          <p:cNvPr id="4" name="up 001" descr="Two AI layers. Neither may invent a number."/>
          <p:cNvPicPr>
            <a:picLocks noChangeAspect="1"/>
          </p:cNvPicPr>
          <p:nvPr/>
        </p:nvPicPr>
        <p:blipFill>
          <a:blip r:embed="rId4"/>
          <a:stretch>
            <a:fillRect/>
          </a:stretch>
        </p:blipFill>
        <p:spPr>
          <a:xfrm>
            <a:off x="660400" y="977900"/>
            <a:ext cx="9829800" cy="730250"/>
          </a:xfrm>
          <a:prstGeom prst="rect">
            <a:avLst/>
          </a:prstGeom>
        </p:spPr>
      </p:pic>
      <p:pic>
        <p:nvPicPr>
          <p:cNvPr id="5" name="up 002" descr="System 1 · local · offlinePredicted Laya Answers typed questions in a single pass: condition, recommended action, urgency, needs human review. Open source (Apache-2.0), runs on the laptop. Never gener"/>
          <p:cNvPicPr>
            <a:picLocks noChangeAspect="1"/>
          </p:cNvPicPr>
          <p:nvPr/>
        </p:nvPicPr>
        <p:blipFill>
          <a:blip r:embed="rId5"/>
          <a:stretch>
            <a:fillRect/>
          </a:stretch>
        </p:blipFill>
        <p:spPr>
          <a:xfrm>
            <a:off x="660400" y="1752600"/>
            <a:ext cx="5473700" cy="3270250"/>
          </a:xfrm>
          <a:prstGeom prst="rect">
            <a:avLst/>
          </a:prstGeom>
        </p:spPr>
      </p:pic>
      <p:pic>
        <p:nvPicPr>
          <p:cNvPr id="6" name="up 003" descr="System 2 · cloud · OpenRouterAI-explained DeepSeek V4.1 Flash Turns the calculated facts into plain language for the operator. May rank only feasible options, and move the spoilage estimate only withi"/>
          <p:cNvPicPr>
            <a:picLocks noChangeAspect="1"/>
          </p:cNvPicPr>
          <p:nvPr/>
        </p:nvPicPr>
        <p:blipFill>
          <a:blip r:embed="rId6"/>
          <a:stretch>
            <a:fillRect/>
          </a:stretch>
        </p:blipFill>
        <p:spPr>
          <a:xfrm>
            <a:off x="6057900" y="1752600"/>
            <a:ext cx="5473700" cy="3270250"/>
          </a:xfrm>
          <a:prstGeom prst="rect">
            <a:avLst/>
          </a:prstGeom>
        </p:spPr>
      </p:pic>
      <p:pic>
        <p:nvPicPr>
          <p:cNvPr id="7" name="up 004" descr="Plain code, not AI Spoilage probabilityAnomaly detectionDemand forecasting"/>
          <p:cNvPicPr>
            <a:picLocks noChangeAspect="1"/>
          </p:cNvPicPr>
          <p:nvPr/>
        </p:nvPicPr>
        <p:blipFill>
          <a:blip r:embed="rId7"/>
          <a:stretch>
            <a:fillRect/>
          </a:stretch>
        </p:blipFill>
        <p:spPr>
          <a:xfrm>
            <a:off x="660400" y="4940300"/>
            <a:ext cx="108712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2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nodeType="withEffect">
                                  <p:stCondLst>
                                    <p:cond delay="48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nodeType="withEffect">
                                  <p:stCondLst>
                                    <p:cond delay="75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13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up 001"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up 002"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098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fade 001" descr="14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up 002" descr="Priced against verified value."/>
          <p:cNvPicPr>
            <a:picLocks noChangeAspect="1"/>
          </p:cNvPicPr>
          <p:nvPr/>
        </p:nvPicPr>
        <p:blipFill>
          <a:blip r:embed="rId5"/>
          <a:stretch>
            <a:fillRect/>
          </a:stretch>
        </p:blipFill>
        <p:spPr>
          <a:xfrm>
            <a:off x="660400" y="977900"/>
            <a:ext cx="9829800" cy="838200"/>
          </a:xfrm>
          <a:prstGeom prst="rect">
            <a:avLst/>
          </a:prstGeom>
        </p:spPr>
      </p:pic>
      <p:pic>
        <p:nvPicPr>
          <p:cNvPr id="6" name="up 003" descr="QAR 100–175K Pilot · 12–16 weeks 3–5 facilities, one anchor customer: a cold-chain operator or hypermarket."/>
          <p:cNvPicPr>
            <a:picLocks noChangeAspect="1"/>
          </p:cNvPicPr>
          <p:nvPr/>
        </p:nvPicPr>
        <p:blipFill>
          <a:blip r:embed="rId6"/>
          <a:stretch>
            <a:fillRect/>
          </a:stretch>
        </p:blipFill>
        <p:spPr>
          <a:xfrm>
            <a:off x="660400" y="1809750"/>
            <a:ext cx="3708400" cy="2305050"/>
          </a:xfrm>
          <a:prstGeom prst="rect">
            <a:avLst/>
          </a:prstGeom>
        </p:spPr>
      </p:pic>
      <p:pic>
        <p:nvPicPr>
          <p:cNvPr id="7" name="up 004" descr="QAR 120–240K / yr Enterprise subscription Plus implementation fees for heavy installs."/>
          <p:cNvPicPr>
            <a:picLocks noChangeAspect="1"/>
          </p:cNvPicPr>
          <p:nvPr/>
        </p:nvPicPr>
        <p:blipFill>
          <a:blip r:embed="rId7"/>
          <a:stretch>
            <a:fillRect/>
          </a:stretch>
        </p:blipFill>
        <p:spPr>
          <a:xfrm>
            <a:off x="4241800" y="1809750"/>
            <a:ext cx="3708400" cy="2305050"/>
          </a:xfrm>
          <a:prstGeom prst="rect">
            <a:avLst/>
          </a:prstGeom>
        </p:spPr>
      </p:pic>
      <p:pic>
        <p:nvPicPr>
          <p:cNvPr id="8" name="up 005" descr="≥ 3× The value test Avoided loss must be at least 3× the fee: QAR 540K of benefit to justify a QAR 180K fee."/>
          <p:cNvPicPr>
            <a:picLocks noChangeAspect="1"/>
          </p:cNvPicPr>
          <p:nvPr/>
        </p:nvPicPr>
        <p:blipFill>
          <a:blip r:embed="rId8"/>
          <a:stretch>
            <a:fillRect/>
          </a:stretch>
        </p:blipFill>
        <p:spPr>
          <a:xfrm>
            <a:off x="7823200" y="1809750"/>
            <a:ext cx="3708400" cy="2305050"/>
          </a:xfrm>
          <a:prstGeom prst="rect">
            <a:avLst/>
          </a:prstGeom>
        </p:spPr>
      </p:pic>
      <p:pic>
        <p:nvPicPr>
          <p:cNvPr id="9" name="up 006" descr="Month-12 target: QAR 300–500K contracted ARR. A target, not a forecast."/>
          <p:cNvPicPr>
            <a:picLocks noChangeAspect="1"/>
          </p:cNvPicPr>
          <p:nvPr/>
        </p:nvPicPr>
        <p:blipFill>
          <a:blip r:embed="rId9"/>
          <a:stretch>
            <a:fillRect/>
          </a:stretch>
        </p:blipFill>
        <p:spPr>
          <a:xfrm>
            <a:off x="660400" y="40576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nodeType="withEffect">
                                  <p:stCondLst>
                                    <p:cond delay="8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15The ask"/>
          <p:cNvPicPr>
            <a:picLocks noChangeAspect="1"/>
          </p:cNvPicPr>
          <p:nvPr/>
        </p:nvPicPr>
        <p:blipFill>
          <a:blip r:embed="rId3"/>
          <a:stretch>
            <a:fillRect/>
          </a:stretch>
        </p:blipFill>
        <p:spPr>
          <a:xfrm>
            <a:off x="660400" y="609600"/>
            <a:ext cx="10871200" cy="444500"/>
          </a:xfrm>
          <a:prstGeom prst="rect">
            <a:avLst/>
          </a:prstGeom>
        </p:spPr>
      </p:pic>
      <p:pic>
        <p:nvPicPr>
          <p:cNvPr id="4" name="up 001"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up 002"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fade 003"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up 004" descr=""/>
          <p:cNvPicPr>
            <a:picLocks noChangeAspect="1"/>
          </p:cNvPicPr>
          <p:nvPr/>
        </p:nvPicPr>
        <p:blipFill>
          <a:blip r:embed="rId7"/>
          <a:stretch>
            <a:fillRect/>
          </a:stretch>
        </p:blipFill>
        <p:spPr>
          <a:xfrm>
            <a:off x="660400" y="2990850"/>
            <a:ext cx="6350000" cy="527050"/>
          </a:xfrm>
          <a:prstGeom prst="rect">
            <a:avLst/>
          </a:prstGeom>
        </p:spPr>
      </p:pic>
      <p:pic>
        <p:nvPicPr>
          <p:cNvPr id="8" name="up 005"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up 006"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up 007"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up 008"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right 009"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fade 001" descr="16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up 002"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fade 003" descr=""/>
          <p:cNvPicPr>
            <a:picLocks noChangeAspect="1"/>
          </p:cNvPicPr>
          <p:nvPr/>
        </p:nvPicPr>
        <p:blipFill>
          <a:blip r:embed="rId6"/>
          <a:stretch>
            <a:fillRect/>
          </a:stretch>
        </p:blipFill>
        <p:spPr>
          <a:xfrm>
            <a:off x="2419350" y="1600200"/>
            <a:ext cx="2159000" cy="2463800"/>
          </a:xfrm>
          <a:prstGeom prst="rect">
            <a:avLst/>
          </a:prstGeom>
        </p:spPr>
      </p:pic>
      <p:pic>
        <p:nvPicPr>
          <p:cNvPr id="7" name="fade 004" descr=""/>
          <p:cNvPicPr>
            <a:picLocks noChangeAspect="1"/>
          </p:cNvPicPr>
          <p:nvPr/>
        </p:nvPicPr>
        <p:blipFill>
          <a:blip r:embed="rId7"/>
          <a:stretch>
            <a:fillRect/>
          </a:stretch>
        </p:blipFill>
        <p:spPr>
          <a:xfrm>
            <a:off x="6115050" y="1600200"/>
            <a:ext cx="1562100" cy="2266950"/>
          </a:xfrm>
          <a:prstGeom prst="rect">
            <a:avLst/>
          </a:prstGeom>
        </p:spPr>
      </p:pic>
      <p:pic>
        <p:nvPicPr>
          <p:cNvPr id="8" name="fade 005" descr=""/>
          <p:cNvPicPr>
            <a:picLocks noChangeAspect="1"/>
          </p:cNvPicPr>
          <p:nvPr/>
        </p:nvPicPr>
        <p:blipFill>
          <a:blip r:embed="rId8"/>
          <a:stretch>
            <a:fillRect/>
          </a:stretch>
        </p:blipFill>
        <p:spPr>
          <a:xfrm>
            <a:off x="2419350" y="3689350"/>
            <a:ext cx="2159000" cy="1206500"/>
          </a:xfrm>
          <a:prstGeom prst="rect">
            <a:avLst/>
          </a:prstGeom>
        </p:spPr>
      </p:pic>
      <p:pic>
        <p:nvPicPr>
          <p:cNvPr id="9" name="fade 006" descr=""/>
          <p:cNvPicPr>
            <a:picLocks noChangeAspect="1"/>
          </p:cNvPicPr>
          <p:nvPr/>
        </p:nvPicPr>
        <p:blipFill>
          <a:blip r:embed="rId9"/>
          <a:stretch>
            <a:fillRect/>
          </a:stretch>
        </p:blipFill>
        <p:spPr>
          <a:xfrm>
            <a:off x="6115050" y="3606800"/>
            <a:ext cx="1562100" cy="685800"/>
          </a:xfrm>
          <a:prstGeom prst="rect">
            <a:avLst/>
          </a:prstGeom>
        </p:spPr>
      </p:pic>
      <p:pic>
        <p:nvPicPr>
          <p:cNvPr id="10" name="fade 007" descr=""/>
          <p:cNvPicPr>
            <a:picLocks noChangeAspect="1"/>
          </p:cNvPicPr>
          <p:nvPr/>
        </p:nvPicPr>
        <p:blipFill>
          <a:blip r:embed="rId10"/>
          <a:stretch>
            <a:fillRect/>
          </a:stretch>
        </p:blipFill>
        <p:spPr>
          <a:xfrm>
            <a:off x="6115050" y="3949700"/>
            <a:ext cx="1562100" cy="527050"/>
          </a:xfrm>
          <a:prstGeom prst="rect">
            <a:avLst/>
          </a:prstGeom>
        </p:spPr>
      </p:pic>
      <p:pic>
        <p:nvPicPr>
          <p:cNvPr id="11" name="fade 008" descr=""/>
          <p:cNvPicPr>
            <a:picLocks noChangeAspect="1"/>
          </p:cNvPicPr>
          <p:nvPr/>
        </p:nvPicPr>
        <p:blipFill>
          <a:blip r:embed="rId11"/>
          <a:stretch>
            <a:fillRect/>
          </a:stretch>
        </p:blipFill>
        <p:spPr>
          <a:xfrm>
            <a:off x="6115050" y="4165600"/>
            <a:ext cx="1562100" cy="520700"/>
          </a:xfrm>
          <a:prstGeom prst="rect">
            <a:avLst/>
          </a:prstGeom>
        </p:spPr>
      </p:pic>
      <p:pic>
        <p:nvPicPr>
          <p:cNvPr id="12" name="fade 009" descr=""/>
          <p:cNvPicPr>
            <a:picLocks noChangeAspect="1"/>
          </p:cNvPicPr>
          <p:nvPr/>
        </p:nvPicPr>
        <p:blipFill>
          <a:blip r:embed="rId12"/>
          <a:stretch>
            <a:fillRect/>
          </a:stretch>
        </p:blipFill>
        <p:spPr>
          <a:xfrm>
            <a:off x="6115050" y="4356100"/>
            <a:ext cx="1562100" cy="539750"/>
          </a:xfrm>
          <a:prstGeom prst="rect">
            <a:avLst/>
          </a:prstGeom>
        </p:spPr>
      </p:pic>
      <p:pic>
        <p:nvPicPr>
          <p:cNvPr id="13" name="fade 010" descr=""/>
          <p:cNvPicPr>
            <a:picLocks noChangeAspect="1"/>
          </p:cNvPicPr>
          <p:nvPr/>
        </p:nvPicPr>
        <p:blipFill>
          <a:blip r:embed="rId13"/>
          <a:stretch>
            <a:fillRect/>
          </a:stretch>
        </p:blipFill>
        <p:spPr>
          <a:xfrm>
            <a:off x="2419350" y="4584700"/>
            <a:ext cx="2159000" cy="762000"/>
          </a:xfrm>
          <a:prstGeom prst="rect">
            <a:avLst/>
          </a:prstGeom>
        </p:spPr>
      </p:pic>
      <p:pic>
        <p:nvPicPr>
          <p:cNvPr id="14" name="fade 011" descr=""/>
          <p:cNvPicPr>
            <a:picLocks noChangeAspect="1"/>
          </p:cNvPicPr>
          <p:nvPr/>
        </p:nvPicPr>
        <p:blipFill>
          <a:blip r:embed="rId14"/>
          <a:stretch>
            <a:fillRect/>
          </a:stretch>
        </p:blipFill>
        <p:spPr>
          <a:xfrm>
            <a:off x="6115050" y="4635500"/>
            <a:ext cx="1562100" cy="450850"/>
          </a:xfrm>
          <a:prstGeom prst="rect">
            <a:avLst/>
          </a:prstGeom>
        </p:spPr>
      </p:pic>
      <p:pic>
        <p:nvPicPr>
          <p:cNvPr id="15" name="fade 012" descr=""/>
          <p:cNvPicPr>
            <a:picLocks noChangeAspect="1"/>
          </p:cNvPicPr>
          <p:nvPr/>
        </p:nvPicPr>
        <p:blipFill>
          <a:blip r:embed="rId15"/>
          <a:stretch>
            <a:fillRect/>
          </a:stretch>
        </p:blipFill>
        <p:spPr>
          <a:xfrm>
            <a:off x="6115050" y="4775200"/>
            <a:ext cx="1562100" cy="476250"/>
          </a:xfrm>
          <a:prstGeom prst="rect">
            <a:avLst/>
          </a:prstGeom>
        </p:spPr>
      </p:pic>
      <p:pic>
        <p:nvPicPr>
          <p:cNvPr id="16" name="fade 013" descr=""/>
          <p:cNvPicPr>
            <a:picLocks noChangeAspect="1"/>
          </p:cNvPicPr>
          <p:nvPr/>
        </p:nvPicPr>
        <p:blipFill>
          <a:blip r:embed="rId16"/>
          <a:stretch>
            <a:fillRect/>
          </a:stretch>
        </p:blipFill>
        <p:spPr>
          <a:xfrm>
            <a:off x="6115050" y="4908550"/>
            <a:ext cx="1562100" cy="520700"/>
          </a:xfrm>
          <a:prstGeom prst="rect">
            <a:avLst/>
          </a:prstGeom>
        </p:spPr>
      </p:pic>
      <p:pic>
        <p:nvPicPr>
          <p:cNvPr id="17" name="fade 014" descr=""/>
          <p:cNvPicPr>
            <a:picLocks noChangeAspect="1"/>
          </p:cNvPicPr>
          <p:nvPr/>
        </p:nvPicPr>
        <p:blipFill>
          <a:blip r:embed="rId17"/>
          <a:stretch>
            <a:fillRect/>
          </a:stretch>
        </p:blipFill>
        <p:spPr>
          <a:xfrm>
            <a:off x="2419350" y="4965700"/>
            <a:ext cx="2159000" cy="882650"/>
          </a:xfrm>
          <a:prstGeom prst="rect">
            <a:avLst/>
          </a:prstGeom>
        </p:spPr>
      </p:pic>
      <p:pic>
        <p:nvPicPr>
          <p:cNvPr id="18" name="fade 015" descr=""/>
          <p:cNvPicPr>
            <a:picLocks noChangeAspect="1"/>
          </p:cNvPicPr>
          <p:nvPr/>
        </p:nvPicPr>
        <p:blipFill>
          <a:blip r:embed="rId18"/>
          <a:stretch>
            <a:fillRect/>
          </a:stretch>
        </p:blipFill>
        <p:spPr>
          <a:xfrm>
            <a:off x="6115050" y="5162550"/>
            <a:ext cx="1562100" cy="685800"/>
          </a:xfrm>
          <a:prstGeom prst="rect">
            <a:avLst/>
          </a:prstGeom>
        </p:spPr>
      </p:pic>
      <p:pic>
        <p:nvPicPr>
          <p:cNvPr id="19" name="up 016"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fade 017" descr=""/>
          <p:cNvPicPr>
            <a:picLocks noChangeAspect="1"/>
          </p:cNvPicPr>
          <p:nvPr/>
        </p:nvPicPr>
        <p:blipFill>
          <a:blip r:embed="rId20"/>
          <a:stretch>
            <a:fillRect/>
          </a:stretch>
        </p:blipFill>
        <p:spPr>
          <a:xfrm>
            <a:off x="7366000" y="1600200"/>
            <a:ext cx="412750" cy="2266950"/>
          </a:xfrm>
          <a:prstGeom prst="rect">
            <a:avLst/>
          </a:prstGeom>
        </p:spPr>
      </p:pic>
      <p:pic>
        <p:nvPicPr>
          <p:cNvPr id="21" name="up 018"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fade 019" descr=""/>
          <p:cNvPicPr>
            <a:picLocks noChangeAspect="1"/>
          </p:cNvPicPr>
          <p:nvPr/>
        </p:nvPicPr>
        <p:blipFill>
          <a:blip r:embed="rId22"/>
          <a:stretch>
            <a:fillRect/>
          </a:stretch>
        </p:blipFill>
        <p:spPr>
          <a:xfrm>
            <a:off x="7366000" y="3606800"/>
            <a:ext cx="412750" cy="603250"/>
          </a:xfrm>
          <a:prstGeom prst="rect">
            <a:avLst/>
          </a:prstGeom>
        </p:spPr>
      </p:pic>
      <p:pic>
        <p:nvPicPr>
          <p:cNvPr id="23" name="fade 020" descr=""/>
          <p:cNvPicPr>
            <a:picLocks noChangeAspect="1"/>
          </p:cNvPicPr>
          <p:nvPr/>
        </p:nvPicPr>
        <p:blipFill>
          <a:blip r:embed="rId23"/>
          <a:stretch>
            <a:fillRect/>
          </a:stretch>
        </p:blipFill>
        <p:spPr>
          <a:xfrm>
            <a:off x="7366000" y="3949700"/>
            <a:ext cx="412750" cy="495300"/>
          </a:xfrm>
          <a:prstGeom prst="rect">
            <a:avLst/>
          </a:prstGeom>
        </p:spPr>
      </p:pic>
      <p:pic>
        <p:nvPicPr>
          <p:cNvPr id="24" name="fade 021" descr=""/>
          <p:cNvPicPr>
            <a:picLocks noChangeAspect="1"/>
          </p:cNvPicPr>
          <p:nvPr/>
        </p:nvPicPr>
        <p:blipFill>
          <a:blip r:embed="rId24"/>
          <a:stretch>
            <a:fillRect/>
          </a:stretch>
        </p:blipFill>
        <p:spPr>
          <a:xfrm>
            <a:off x="7366000" y="4184650"/>
            <a:ext cx="412750" cy="501650"/>
          </a:xfrm>
          <a:prstGeom prst="rect">
            <a:avLst/>
          </a:prstGeom>
        </p:spPr>
      </p:pic>
      <p:pic>
        <p:nvPicPr>
          <p:cNvPr id="25" name="fade 022" descr=""/>
          <p:cNvPicPr>
            <a:picLocks noChangeAspect="1"/>
          </p:cNvPicPr>
          <p:nvPr/>
        </p:nvPicPr>
        <p:blipFill>
          <a:blip r:embed="rId25"/>
          <a:stretch>
            <a:fillRect/>
          </a:stretch>
        </p:blipFill>
        <p:spPr>
          <a:xfrm>
            <a:off x="7366000" y="4419600"/>
            <a:ext cx="412750" cy="476250"/>
          </a:xfrm>
          <a:prstGeom prst="rect">
            <a:avLst/>
          </a:prstGeom>
        </p:spPr>
      </p:pic>
      <p:pic>
        <p:nvPicPr>
          <p:cNvPr id="26" name="up 023"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fade 024" descr=""/>
          <p:cNvPicPr>
            <a:picLocks noChangeAspect="1"/>
          </p:cNvPicPr>
          <p:nvPr/>
        </p:nvPicPr>
        <p:blipFill>
          <a:blip r:embed="rId27"/>
          <a:stretch>
            <a:fillRect/>
          </a:stretch>
        </p:blipFill>
        <p:spPr>
          <a:xfrm>
            <a:off x="7366000" y="4635500"/>
            <a:ext cx="412750" cy="431800"/>
          </a:xfrm>
          <a:prstGeom prst="rect">
            <a:avLst/>
          </a:prstGeom>
        </p:spPr>
      </p:pic>
      <p:pic>
        <p:nvPicPr>
          <p:cNvPr id="28" name="fade 025" descr=""/>
          <p:cNvPicPr>
            <a:picLocks noChangeAspect="1"/>
          </p:cNvPicPr>
          <p:nvPr/>
        </p:nvPicPr>
        <p:blipFill>
          <a:blip r:embed="rId28"/>
          <a:stretch>
            <a:fillRect/>
          </a:stretch>
        </p:blipFill>
        <p:spPr>
          <a:xfrm>
            <a:off x="7366000" y="4806950"/>
            <a:ext cx="412750" cy="444500"/>
          </a:xfrm>
          <a:prstGeom prst="rect">
            <a:avLst/>
          </a:prstGeom>
        </p:spPr>
      </p:pic>
      <p:pic>
        <p:nvPicPr>
          <p:cNvPr id="29" name="fade 026" descr=""/>
          <p:cNvPicPr>
            <a:picLocks noChangeAspect="1"/>
          </p:cNvPicPr>
          <p:nvPr/>
        </p:nvPicPr>
        <p:blipFill>
          <a:blip r:embed="rId29"/>
          <a:stretch>
            <a:fillRect/>
          </a:stretch>
        </p:blipFill>
        <p:spPr>
          <a:xfrm>
            <a:off x="7366000" y="4991100"/>
            <a:ext cx="412750" cy="438150"/>
          </a:xfrm>
          <a:prstGeom prst="rect">
            <a:avLst/>
          </a:prstGeom>
        </p:spPr>
      </p:pic>
      <p:pic>
        <p:nvPicPr>
          <p:cNvPr id="30" name="up 027"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fade 028" descr=""/>
          <p:cNvPicPr>
            <a:picLocks noChangeAspect="1"/>
          </p:cNvPicPr>
          <p:nvPr/>
        </p:nvPicPr>
        <p:blipFill>
          <a:blip r:embed="rId31"/>
          <a:stretch>
            <a:fillRect/>
          </a:stretch>
        </p:blipFill>
        <p:spPr>
          <a:xfrm>
            <a:off x="7366000" y="5162550"/>
            <a:ext cx="412750" cy="685800"/>
          </a:xfrm>
          <a:prstGeom prst="rect">
            <a:avLst/>
          </a:prstGeom>
        </p:spPr>
      </p:pic>
      <p:pic>
        <p:nvPicPr>
          <p:cNvPr id="32" name="fade 029"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fade 03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fade 031"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fade 032"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fade 033"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fade 034"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fade 035"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fade 036"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fade 037"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fade 038"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fade 001" descr="17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up 002"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up 003"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up 004"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18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up 001"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up 002"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Spend phasing indicative"/>
          <p:cNvPicPr>
            <a:picLocks noChangeAspect="1"/>
          </p:cNvPicPr>
          <p:nvPr/>
        </p:nvPicPr>
        <p:blipFill>
          <a:blip r:embed="rId3"/>
          <a:stretch>
            <a:fillRect/>
          </a:stretch>
        </p:blipFill>
        <p:spPr>
          <a:xfrm>
            <a:off x="8997950" y="558800"/>
            <a:ext cx="2533650" cy="546100"/>
          </a:xfrm>
          <a:prstGeom prst="rect">
            <a:avLst/>
          </a:prstGeom>
        </p:spPr>
      </p:pic>
      <p:pic>
        <p:nvPicPr>
          <p:cNvPr id="4" name="fade 001" descr="19The ask · What the money proves"/>
          <p:cNvPicPr>
            <a:picLocks noChangeAspect="1"/>
          </p:cNvPicPr>
          <p:nvPr/>
        </p:nvPicPr>
        <p:blipFill>
          <a:blip r:embed="rId4"/>
          <a:stretch>
            <a:fillRect/>
          </a:stretch>
        </p:blipFill>
        <p:spPr>
          <a:xfrm>
            <a:off x="660400" y="609600"/>
            <a:ext cx="10871200" cy="444500"/>
          </a:xfrm>
          <a:prstGeom prst="rect">
            <a:avLst/>
          </a:prstGeom>
        </p:spPr>
      </p:pic>
      <p:pic>
        <p:nvPicPr>
          <p:cNvPr id="5" name="up 002" descr="From pilot to recurring revenue."/>
          <p:cNvPicPr>
            <a:picLocks noChangeAspect="1"/>
          </p:cNvPicPr>
          <p:nvPr/>
        </p:nvPicPr>
        <p:blipFill>
          <a:blip r:embed="rId5"/>
          <a:stretch>
            <a:fillRect/>
          </a:stretch>
        </p:blipFill>
        <p:spPr>
          <a:xfrm>
            <a:off x="660400" y="977900"/>
            <a:ext cx="9829800" cy="755650"/>
          </a:xfrm>
          <a:prstGeom prst="rect">
            <a:avLst/>
          </a:prstGeom>
        </p:spPr>
      </p:pic>
      <p:pic>
        <p:nvPicPr>
          <p:cNvPr id="6" name="up 003" descr="M1–2 Secure the pilot, survey sites, agree how value is measured, build the baseline. CustomersLegal"/>
          <p:cNvPicPr>
            <a:picLocks noChangeAspect="1"/>
          </p:cNvPicPr>
          <p:nvPr/>
        </p:nvPicPr>
        <p:blipFill>
          <a:blip r:embed="rId6"/>
          <a:stretch>
            <a:fillRect/>
          </a:stretch>
        </p:blipFill>
        <p:spPr>
          <a:xfrm>
            <a:off x="660400" y="1651000"/>
            <a:ext cx="2387600" cy="2089150"/>
          </a:xfrm>
          <a:prstGeom prst="rect">
            <a:avLst/>
          </a:prstGeom>
        </p:spPr>
      </p:pic>
      <p:pic>
        <p:nvPicPr>
          <p:cNvPr id="7" name="up 004" descr="M3–4 Install devices, build ingestion and asset history, test outages and alerts. SensorsDeploymentIntegration"/>
          <p:cNvPicPr>
            <a:picLocks noChangeAspect="1"/>
          </p:cNvPicPr>
          <p:nvPr/>
        </p:nvPicPr>
        <p:blipFill>
          <a:blip r:embed="rId7"/>
          <a:stretch>
            <a:fillRect/>
          </a:stretch>
        </p:blipFill>
        <p:spPr>
          <a:xfrm>
            <a:off x="2781300" y="1651000"/>
            <a:ext cx="2387600" cy="2089150"/>
          </a:xfrm>
          <a:prstGeom prst="rect">
            <a:avLst/>
          </a:prstGeom>
        </p:spPr>
      </p:pic>
      <p:pic>
        <p:nvPicPr>
          <p:cNvPr id="8" name="up 005" descr="M5–6 Run excursion logic, risk estimates and the approved intervention workflow. ValidationCloud"/>
          <p:cNvPicPr>
            <a:picLocks noChangeAspect="1"/>
          </p:cNvPicPr>
          <p:nvPr/>
        </p:nvPicPr>
        <p:blipFill>
          <a:blip r:embed="rId8"/>
          <a:stretch>
            <a:fillRect/>
          </a:stretch>
        </p:blipFill>
        <p:spPr>
          <a:xfrm>
            <a:off x="4902200" y="1651000"/>
            <a:ext cx="2387600" cy="2089150"/>
          </a:xfrm>
          <a:prstGeom prst="rect">
            <a:avLst/>
          </a:prstGeom>
        </p:spPr>
      </p:pic>
      <p:pic>
        <p:nvPicPr>
          <p:cNvPr id="9" name="up 006" descr="M7–9 Compare to baseline, quantify value, start controlled Commercial Reserve tests. ValidationCustomers"/>
          <p:cNvPicPr>
            <a:picLocks noChangeAspect="1"/>
          </p:cNvPicPr>
          <p:nvPr/>
        </p:nvPicPr>
        <p:blipFill>
          <a:blip r:embed="rId9"/>
          <a:stretch>
            <a:fillRect/>
          </a:stretch>
        </p:blipFill>
        <p:spPr>
          <a:xfrm>
            <a:off x="7023100" y="1651000"/>
            <a:ext cx="2387600" cy="2089150"/>
          </a:xfrm>
          <a:prstGeom prst="rect">
            <a:avLst/>
          </a:prstGeom>
        </p:spPr>
      </p:pic>
      <p:pic>
        <p:nvPicPr>
          <p:cNvPr id="10" name="up 007" descr="M10–12 Convert to an annual contract and pursue a second customer. LegalCustomers"/>
          <p:cNvPicPr>
            <a:picLocks noChangeAspect="1"/>
          </p:cNvPicPr>
          <p:nvPr/>
        </p:nvPicPr>
        <p:blipFill>
          <a:blip r:embed="rId10"/>
          <a:stretch>
            <a:fillRect/>
          </a:stretch>
        </p:blipFill>
        <p:spPr>
          <a:xfrm>
            <a:off x="9144000" y="1651000"/>
            <a:ext cx="2387600" cy="2089150"/>
          </a:xfrm>
          <a:prstGeom prst="rect">
            <a:avLst/>
          </a:prstGeom>
        </p:spPr>
      </p:pic>
      <p:pic>
        <p:nvPicPr>
          <p:cNvPr id="11" name="up 008" descr="Team ≈ QAR 85K / month, all 12 months"/>
          <p:cNvPicPr>
            <a:picLocks noChangeAspect="1"/>
          </p:cNvPicPr>
          <p:nvPr/>
        </p:nvPicPr>
        <p:blipFill>
          <a:blip r:embed="rId11"/>
          <a:stretch>
            <a:fillRect/>
          </a:stretch>
        </p:blipFill>
        <p:spPr>
          <a:xfrm>
            <a:off x="660400" y="3581400"/>
            <a:ext cx="10871200" cy="450850"/>
          </a:xfrm>
          <a:prstGeom prst="rect">
            <a:avLst/>
          </a:prstGeom>
        </p:spPr>
      </p:pic>
      <p:pic>
        <p:nvPicPr>
          <p:cNvPr id="12" name="grow 009" descr=""/>
          <p:cNvPicPr>
            <a:picLocks noChangeAspect="1"/>
          </p:cNvPicPr>
          <p:nvPr/>
        </p:nvPicPr>
        <p:blipFill>
          <a:blip r:embed="rId12"/>
          <a:stretch>
            <a:fillRect/>
          </a:stretch>
        </p:blipFill>
        <p:spPr>
          <a:xfrm>
            <a:off x="1549400" y="3581400"/>
            <a:ext cx="7175500" cy="450850"/>
          </a:xfrm>
          <a:prstGeom prst="rect">
            <a:avLst/>
          </a:prstGeom>
        </p:spPr>
      </p:pic>
      <p:pic>
        <p:nvPicPr>
          <p:cNvPr id="13" name="up 010" descr="The pilot must prove Measured avoided loss ≥ 3× the platform fee, from equipment anomaly to economic exposure."/>
          <p:cNvPicPr>
            <a:picLocks noChangeAspect="1"/>
          </p:cNvPicPr>
          <p:nvPr/>
        </p:nvPicPr>
        <p:blipFill>
          <a:blip r:embed="rId13"/>
          <a:stretch>
            <a:fillRect/>
          </a:stretch>
        </p:blipFill>
        <p:spPr>
          <a:xfrm>
            <a:off x="660400" y="3873500"/>
            <a:ext cx="5511800" cy="1143000"/>
          </a:xfrm>
          <a:prstGeom prst="rect">
            <a:avLst/>
          </a:prstGeom>
        </p:spPr>
      </p:pic>
      <p:pic>
        <p:nvPicPr>
          <p:cNvPr id="14" name="up 011" descr="Month 12 A credible path to repeatable deployments: QAR 300–500K contracted ARR. A target, not a forecast."/>
          <p:cNvPicPr>
            <a:picLocks noChangeAspect="1"/>
          </p:cNvPicPr>
          <p:nvPr/>
        </p:nvPicPr>
        <p:blipFill>
          <a:blip r:embed="rId14"/>
          <a:stretch>
            <a:fillRect/>
          </a:stretch>
        </p:blipFill>
        <p:spPr>
          <a:xfrm>
            <a:off x="6019800" y="3873500"/>
            <a:ext cx="5511800" cy="1143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nodeType="withEffect">
                                  <p:stCondLst>
                                    <p:cond delay="6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nodeType="withEffect">
                                  <p:stCondLst>
                                    <p:cond delay="7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nodeType="withEffect">
                                  <p:stCondLst>
                                    <p:cond delay="85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22" presetClass="entr" presetSubtype="8" fill="hold" nodeType="withEffect">
                                  <p:stCondLst>
                                    <p:cond delay="100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37" dur="1400"/>
                                        <p:tgtEl>
                                          <p:spTgt spid="12"/>
                                        </p:tgtEl>
                                      </p:cBhvr>
                                    </p:animEffect>
                                  </p:childTnLst>
                                </p:cTn>
                              </p:par>
                              <p:par>
                                <p:cTn id="42" presetID="2" presetClass="entr" presetSubtype="4" fill="hold" nodeType="withEffect">
                                  <p:stCondLst>
                                    <p:cond delay="110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0" dur="900" fill="hold"/>
                                        <p:tgtEl>
                                          <p:spTgt spid="13"/>
                                        </p:tgtEl>
                                        <p:attrNameLst>
                                          <p:attrName>ppt_y</p:attrName>
                                        </p:attrNameLst>
                                      </p:cBhvr>
                                      <p:tavLst>
                                        <p:tav tm="0">
                                          <p:val>
                                            <p:strVal val="#ppt_y+0.03"/>
                                          </p:val>
                                        </p:tav>
                                        <p:tav tm="100000">
                                          <p:val>
                                            <p:strVal val="#ppt_y"/>
                                          </p:val>
                                        </p:tav>
                                      </p:tavLst>
                                    </p:anim>
                                    <p:animEffect transition="in" filter="fade">
                                      <p:cBhvr>
                                        <p:cTn id="41" dur="900"/>
                                        <p:tgtEl>
                                          <p:spTgt spid="13"/>
                                        </p:tgtEl>
                                      </p:cBhvr>
                                    </p:animEffect>
                                  </p:childTnLst>
                                </p:cTn>
                              </p:par>
                              <p:par>
                                <p:cTn id="46" presetID="2" presetClass="entr" presetSubtype="4" fill="hold" nodeType="withEffect">
                                  <p:stCondLst>
                                    <p:cond delay="120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4" dur="900" fill="hold"/>
                                        <p:tgtEl>
                                          <p:spTgt spid="14"/>
                                        </p:tgtEl>
                                        <p:attrNameLst>
                                          <p:attrName>ppt_y</p:attrName>
                                        </p:attrNameLst>
                                      </p:cBhvr>
                                      <p:tavLst>
                                        <p:tav tm="0">
                                          <p:val>
                                            <p:strVal val="#ppt_y+0.03"/>
                                          </p:val>
                                        </p:tav>
                                        <p:tav tm="100000">
                                          <p:val>
                                            <p:strVal val="#ppt_y"/>
                                          </p:val>
                                        </p:tav>
                                      </p:tavLst>
                                    </p:anim>
                                    <p:animEffect transition="in" filter="fade">
                                      <p:cBhvr>
                                        <p:cTn id="45"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20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up 001"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up 002"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right 003"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fade 001" descr="21Beyond food"/>
          <p:cNvPicPr>
            <a:picLocks noChangeAspect="1"/>
          </p:cNvPicPr>
          <p:nvPr/>
        </p:nvPicPr>
        <p:blipFill>
          <a:blip r:embed="rId4"/>
          <a:stretch>
            <a:fillRect/>
          </a:stretch>
        </p:blipFill>
        <p:spPr>
          <a:xfrm>
            <a:off x="660400" y="609600"/>
            <a:ext cx="10871200" cy="444500"/>
          </a:xfrm>
          <a:prstGeom prst="rect">
            <a:avLst/>
          </a:prstGeom>
        </p:spPr>
      </p:pic>
      <p:pic>
        <p:nvPicPr>
          <p:cNvPr id="5" name="up 002"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up 003"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fade 004" descr=""/>
          <p:cNvPicPr>
            <a:picLocks noChangeAspect="1"/>
          </p:cNvPicPr>
          <p:nvPr/>
        </p:nvPicPr>
        <p:blipFill>
          <a:blip r:embed="rId7"/>
          <a:stretch>
            <a:fillRect/>
          </a:stretch>
        </p:blipFill>
        <p:spPr>
          <a:xfrm>
            <a:off x="4216400" y="3225800"/>
            <a:ext cx="3759200" cy="1327150"/>
          </a:xfrm>
          <a:prstGeom prst="rect">
            <a:avLst/>
          </a:prstGeom>
        </p:spPr>
      </p:pic>
      <p:pic>
        <p:nvPicPr>
          <p:cNvPr id="8" name="up 005"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up 006"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up 007"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up 008"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zoom 009"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fade 000" descr=""/>
          <p:cNvPicPr>
            <a:picLocks noChangeAspect="1"/>
          </p:cNvPicPr>
          <p:nvPr/>
        </p:nvPicPr>
        <p:blipFill>
          <a:blip r:embed="rId3"/>
          <a:stretch>
            <a:fillRect/>
          </a:stretch>
        </p:blipFill>
        <p:spPr>
          <a:xfrm>
            <a:off x="8686800" y="508000"/>
            <a:ext cx="2844800" cy="1739900"/>
          </a:xfrm>
          <a:prstGeom prst="rect">
            <a:avLst/>
          </a:prstGeom>
        </p:spPr>
      </p:pic>
      <p:pic>
        <p:nvPicPr>
          <p:cNvPr id="4" name="fade 001"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up 002"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up 003"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up 004"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up 005"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up 006"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up 007"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up 008"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fade 009"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