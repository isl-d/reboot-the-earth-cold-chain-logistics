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with who we are, then the product in one sentence, then the ask up front. Pause after the headline. We are Generative Gains, and this is Thermal Trace. It turns a cargo's temperature history into two numbers: how much safe life it has left, and how much value can still be recovered from it. We are raising QAR 1.85 million, pre-seed, to prove it in the field: Qatar first, then the GCC.</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slide, then straight to the product. 13% of food is lost between harvest and retail; another 19% is wasted after (FAO / UNEP 2024). This is UN SDG target 12.3, and it serves SDG 2 and SDG 13.</a:t>
            </a:r>
          </a:p>
          <a:p/>
          <a:p>
            <a:r>
              <a:t>Make it local in one breath: Qatar imports most of its fresh food across summers above 45 °C, and the National Food Security Strategy 2030 targets −30% food loss. Today's systems raise an alarm; none of them says how much value is left.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we start in Qatar. It is an import-dependent region with a brutal summer. Food arrives by sea and over land, waits in customs holds and border queues, and crosses 42 °C afternoons. Every one of those stops adds thermal debt: shelf life spent before the food reaches a shelf.</a:t>
            </a:r>
          </a:p>
          <a:p/>
          <a:p>
            <a:r>
              <a:t>And the policy is already pointing the same way: TASMU's National Food Security Analytics and Qatar's National Food Security Strategy target efficient supply chains and less food waste. They work at national level. Thermal Trace is the operator-level layer that complements them: one truck, one cold room, one pallet at a time.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whole idea in two pictures. Today a crate of food is treated as a liability that decays toward a printed date. Nobody knows what it is worth until it is marked down or thrown away.</a:t>
            </a:r>
          </a:p>
          <a:p/>
          <a:p>
            <a:r>
              <a:t>We treat the same crate as an asset with a live value: its real thermal history tells us how long it has, live demand tells us where it sells, and we act while there is still value to recover.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spine of the product: four layers, each built on the one below. Layer 1, the Thermal Trace, is ground truth: a continuous, timestamped memory of temperature and stress. Layer 2, the Thermal Reserve, is the physical budget left before quality is compromised. Layer 3, the Commercial Reserve, is the economic runway: how much of that remaining life can still be turned into money, CR = Qr × Pr × Vr. Layer 4, the Decision Reserve, is the window left to act before the good options disappear.</a:t>
            </a:r>
          </a:p>
          <a:p/>
          <a:p>
            <a:r>
              <a:t>Safety rules stay deterministic at layers 1 and 2. Commercial optimisation runs inside them, never around them.</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platform, sold as two divisions, each on its own clock. The physical clock is the Thermal Reserve, for 3PLs, fleets and warehouses. Sensors and edge gateways record the Thermal Trace and give a live countdown: this load has, say, 45 minutes left.</a:t>
            </a:r>
          </a:p>
          <a:p/>
          <a:p>
            <a:r>
              <a:t>The commercial clock is the Commercial Reserve, for hypermarkets and hotels, restaurants and caterers. It joins that physical state with point-of-sale, ERP and warehouse data to route stock to where it sells, and price it to clear.</a:t>
            </a:r>
          </a:p>
          <a:p/>
          <a:p>
            <a:r>
              <a:t>Thermal Reserve is the entry point. Commercial Reserve follows as a controlled extension, once the physical layer is trusted. The 45 minutes is an example.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line per sensor if you have time; otherwise read the three outputs at the bottom and move on. Temperature and humidity are the cold chain's vital signs. Shock explains bruising that temperature cannot. Ethylene is the food itself reporting that it has started to ripen. NIR sees inside the box before anything shows outside it, and a camera sees the surface.</a:t>
            </a:r>
          </a:p>
          <a:p/>
          <a:p>
            <a:r>
              <a:t>Be straight about the tiers: temperature, humidity and shock flow through the pipeline today; gas, NIR and vision are the designed next layer, not built. Every sensor publishes the same MQTT message, so adding one changes nothing downstream.</a:t>
            </a:r>
          </a:p>
          <a:p/>
          <a:p>
            <a:r>
              <a:t>Then land the point: these six signals exist to produce three numbers - is it deteriorating, how long is it still good for, and how much damage has already been done.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physical foundation, and it is pure physics. Thermal exposure is the sum of the degrees above the safe limit over time: the shaded area. Deterioration runs at an Arrhenius rate relative to the product's ideal temperature. Add it up and you get the share of shelf life already spent, and the Thermal Reserve that is left: L times one minus D.</a:t>
            </a:r>
          </a:p>
          <a:p/>
          <a:p>
            <a:r>
              <a:t>So a load whose label says seven days can arrive with four and a half. The label assumes it was kept cold the whole way; the trace knows it was not. Every one of these numbers is deterministic Python; no AI model touches them. They are prototype models with literature constants, calibrated per product in the pilot. The 7.0 vs 4.5 days is an example.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Safe is not the same as sellable, and this is where most systems stop thinking. The Thermal Reserve is the physical clock. It asks whether the food can still be eaten, it runs from production through transport to the shelf-life boundary, and its job is to protect physical life.</a:t>
            </a:r>
          </a:p>
          <a:p/>
          <a:p>
            <a:r>
              <a:t>The Commercial Reserve is the commercial clock. It asks whether the food can still earn its value. It runs from arrival through customer exposure to sell-through and replenishment, and its job is to protect economic life.</a:t>
            </a:r>
          </a:p>
          <a:p/>
          <a:p>
            <a:r>
              <a:t>Health creates the possibility of selling; demand creates the possibility of realising value. Commercial Reserve lives where the two meet: the quantity that can realistically be sold, times the probability it sells in time, times the expected value per unit. These are estimates with uncertainty; food-safety release always stays with authorised people.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redefine what “in transit” means. A load is in transit until the profit is booked, not until it reaches the dock. Kinetic transit: on the truck, burning fuel and thermal life. This is where routing turns at-risk stock back into sales. Static transit: on the shelf, burning shelf life while it waits for customers; this is the Commercial Reserve's territory. Consumer transit: into the customer's cart, the moment value is actually realised. Consolidation: point-of-sale data flows back, the profit reaches the ledger, and the demand signal triggers replenishment.</a:t>
            </a:r>
          </a:p>
          <a:p/>
          <a:p>
            <a:r>
              <a:t>The line is the value bleeding away at every stage. The trace follows it from farm to ledger. The curve is illustrative.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top layer turns reserves into an action, before the window closes. A reefer truck's compressor is failing. The Thermal Reserve says 45 minutes; the planned hypermarket is 90 minutes away, so the load would arrive spoiled. A buyer 20 minutes away fits the reserve. That leaves about 25 minutes to commit: that is the Decision Reserve.</a:t>
            </a:r>
          </a:p>
          <a:p/>
          <a:p>
            <a:r>
              <a:t>The choice is an optimization, not an opinion: minimise transport, food-loss and delay cost, under hard constraints. The AI layers never pick it: a local model corroborates, a language model explains in plain words, and neither may invent a number. Times are the example scenario.</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AI layers, both on a leash. Laya is System 1: a local, offline, Apache-2.0 decision model. It answers typed questions in a single forward pass (condition, action, urgency, needs human review) and cannot write text, so it cannot invent a number. It corroborates the deterministic decision and never overrides it.</a:t>
            </a:r>
          </a:p>
          <a:p/>
          <a:p>
            <a:r>
              <a:t>System 2 is DeepSeek V4.1 Flash, a cloud language model reached through OpenRouter, the explainer: it turns code-computed facts into plain language. It may only move the spoilage estimate within a fixed band and only rank options that are already feasible. With no API key the system still runs; only the prose is plainer.</a:t>
            </a:r>
          </a:p>
          <a:p/>
          <a:p>
            <a:r>
              <a:t>The chips at the bottom are deterministic code, not AI.</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shift in one table. The legacy supply chain plays defence: delay spoilage, treat stock as a degrading object, ship by the printed date, wait for a temperature alarm, and absorb waste as an invisible tax.</a:t>
            </a:r>
          </a:p>
          <a:p/>
          <a:p>
            <a:r>
              <a:t>Thermal Trace plays offence: maximise the value recovered, treat stock as an asset with a live value, ship the lowest Commercial Reserve first out, act through routing and early markdowns, and turn waste into a quantified, bounded value at risk.</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it makes money: we price against value we can prove. A paid pilot of 12 to 16 weeks, QAR 100 to 175 thousand depending on sites and integrations. Then an enterprise subscription, QAR 120 to 240 thousand a year, plus implementation fees for heavy installs.</a:t>
            </a:r>
          </a:p>
          <a:p/>
          <a:p>
            <a:r>
              <a:t>The test we hold ourselves to: measured avoided loss of at least three times the fee. On a QAR 180,000 fee that is QAR 540,000 of benefit, measured against a baseline we agree with the customer up front.</a:t>
            </a:r>
          </a:p>
          <a:p/>
          <a:p>
            <a:r>
              <a:t>The target for the end of the first year is QAR 300 to 500 thousand of contracted ARR. Prices are hypotheses to validate with customers; the ARR is a target, not a forecast.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slide to land. We are raising QAR 1.85 million, about 508 thousand US dollars, as a pre-seed or strategic round, to run for 12 months. 55% builds the core five-person engineering team. 23.5% goes to sensors, deployment, cloud and integration. 10.8% to food-domain validation, customer development and legal. 10.5% is a contingency reserve, released only with documented approval from founders and investors.</a:t>
            </a:r>
          </a:p>
          <a:p/>
          <a:p>
            <a:r>
              <a:t>What it buys: one anchor customer live at three to five facilities, avoided loss measured at three times our fee or more, Commercial Reserve tested in controlled trials, and an annual contract with a second customer behind it. Every kilogram saved is logged: evidence toward SDG 12.3.</a:t>
            </a:r>
          </a:p>
          <a:p/>
          <a:p>
            <a:r>
              <a:t>The next five slides show exactly where it goes: the flow, the team, the equipment, the months, and the risks.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Follow one riyal through the round. Of QAR 1.85 million, 1.02 million, 55%, is the engineering team: that is where the product gets built. 435 thousand is hardware and platform: sensors and edge equipment, deployment and calibration, cloud and security, and integration with the customer's systems. 200 thousand is validation and go-to-market: food-safety experts, customer development, and the legal work behind data access and contracts. And 195 thousand is a contingency reserve that nobody can spend without documented approval from founders and investors.</a:t>
            </a:r>
          </a:p>
          <a:p/>
          <a:p>
            <a:r>
              <a:t>The next three slides open each of those boxes.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More than half the round is people, so here is exactly who. Five engineers, one owner per part of the product. A CTO and systems architect owns architecture, scope, data contracts, security and delivery. A thermal-intelligence and data engineer owns the thermal state, exposure, risk models, shelf-life logic and validation. A backend and data-platform engineer owns ingestion, databases, APIs, identity and integrations. An IoT and edge engineer owns sensors, gateways, connectivity, calibration and diagnostics. And an application and workflow engineer owns the operator interface, alerts, approvals and the ERP and warehouse workflows.</a:t>
            </a:r>
          </a:p>
          <a:p/>
          <a:p>
            <a:r>
              <a:t>QAR 76,000 a month gross, 912,000 a year, plus about 109,000 of employment costs: about QAR 1.02 million. The CEO leads investors, anchor customers and sales. Food-safety experts are hired fractionally from the validation line. These are lean planning assumptions, not guaranteed market rates.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other QAR 830,000, line by line. Hardware and platform, 435 thousand: sensors and edge gateways for three to five facilities across two or three asset classes (cold rooms, reefer trucks, dispatch areas); installing, calibrating and testing them; twelve months of cloud, storage and security; and a few high-value data flows into the customer's product, shipment, ERP and warehouse records.</a:t>
            </a:r>
          </a:p>
          <a:p/>
          <a:p>
            <a:r>
              <a:t>Validation and go-to-market, 200 thousand: fractional food-safety experts to review the thresholds and shelf-life models; the anchor-customer pilot itself, from site survey to conversion; and the data-access agreements and contracts.</a:t>
            </a:r>
          </a:p>
          <a:p/>
          <a:p>
            <a:r>
              <a:t>Contingency, 195 thousand: released only with documented approval from founders and investors.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the money turns into proof over twelve months. Months one and two: secure the pilot, survey the sites, agree with the customer how value will be measured, and build the baseline. Three and four: install devices, build ingestion and the asset history, test outages and alerts. Five and six: run the excursion logic, risk estimates and the approved intervention workflow. Seven to nine: compare against the baseline, quantify the value, and start controlled Commercial Reserve tests. Ten to twelve: convert to an annual contract and pursue a second customer.</a:t>
            </a:r>
          </a:p>
          <a:p/>
          <a:p>
            <a:r>
              <a:t>The team costs about QAR 85,000 a month the whole way through (1.02 million over twelve months). The other lines follow the work; the phasing shown is indicative. The bar the pilot has to clear: measured avoided loss of at least three times the platform fee, linked from the equipment anomaly to the economic exposure.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could go wrong with the money, and what we do about it. Customer data access: we sign data access and a named sponsor before anything is installed. False precision: validated assumptions, uncertainty shown on screen, and domain review. Integration complexity: a few high-value data flows with clear contracts, not a big-bang integration. A long sales cycle: named decision-makers, agreed success criteria and conversion terms in the pilot contract. And building both divisions too early: Thermal Reserve first, Commercial Reserve staged after it.</a:t>
            </a:r>
          </a:p>
          <a:p/>
          <a:p>
            <a:r>
              <a:t>Behind all of that sits the 10.5% contingency, which needs documented approval from founders and investors to spend.</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on the future, after everything that exists today. Trace, state, reserve, decision is not a food feature; it is a general primitive. Any industry where an asset deteriorates, cures or loses viability under the stress of time needs the same architecture. Biopharma has stability budgets and needs to intercept a shipment before it fails. Energy grids read inverter telemetry and need a flexibility reserve. Space cargo bleeds propellant and cycles thermally and needs a mission reserve. Defence logistics tracks munition shock and degradation for readiness.</a:t>
            </a:r>
          </a:p>
          <a:p/>
          <a:p>
            <a:r>
              <a:t>We start where the loss is largest and the data is easiest: the food cold chain in Qatar. These are directions, not products we have built. Then: thank you.</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Leave this up while taking questions. Restate the ask in one line: Generative Gains is raising QAR 1.85 million, for twelve months, to prove Thermal Trace in the field: that a failing fridge's cost can be measured and recovered. Thank you.</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6.png"/><Relationship Id="rId8" Type="http://schemas.openxmlformats.org/officeDocument/2006/relationships/image" Target="../media/image7.png"/><Relationship Id="rId9" Type="http://schemas.openxmlformats.org/officeDocument/2006/relationships/image" Target="../media/image8.png"/><Relationship Id="rId10" Type="http://schemas.openxmlformats.org/officeDocument/2006/relationships/image" Target="../media/image9.png"/><Relationship Id="rId11" Type="http://schemas.openxmlformats.org/officeDocument/2006/relationships/image" Target="../media/image10.png"/><Relationship Id="rId12" Type="http://schemas.openxmlformats.org/officeDocument/2006/relationships/image" Target="../media/image11.png"/><Relationship Id="rId13" Type="http://schemas.openxmlformats.org/officeDocument/2006/relationships/image" Target="../media/image12.png"/><Relationship Id="rId14" Type="http://schemas.openxmlformats.org/officeDocument/2006/relationships/image" Target="../media/image13.png"/><Relationship Id="rId15" Type="http://schemas.openxmlformats.org/officeDocument/2006/relationships/image" Target="../media/image14.png"/><Relationship Id="rId1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image" Target="../media/image16.png"/><Relationship Id="rId4" Type="http://schemas.openxmlformats.org/officeDocument/2006/relationships/image" Target="../media/image17.png"/><Relationship Id="rId5" Type="http://schemas.openxmlformats.org/officeDocument/2006/relationships/image" Target="../media/image18.png"/><Relationship Id="rId6" Type="http://schemas.openxmlformats.org/officeDocument/2006/relationships/image" Target="../media/image19.png"/><Relationship Id="rId7" Type="http://schemas.openxmlformats.org/officeDocument/2006/relationships/image" Target="../media/image20.png"/><Relationship Id="rId8" Type="http://schemas.openxmlformats.org/officeDocument/2006/relationships/image" Target="../media/image21.png"/><Relationship Id="rId9" Type="http://schemas.openxmlformats.org/officeDocument/2006/relationships/image" Target="../media/image22.png"/><Relationship Id="rId10" Type="http://schemas.openxmlformats.org/officeDocument/2006/relationships/image" Target="../media/image23.png"/><Relationship Id="rId11" Type="http://schemas.openxmlformats.org/officeDocument/2006/relationships/image" Target="../media/image24.png"/><Relationship Id="rId12" Type="http://schemas.openxmlformats.org/officeDocument/2006/relationships/image" Target="../media/image25.png"/><Relationship Id="rId13" Type="http://schemas.openxmlformats.org/officeDocument/2006/relationships/image" Target="../media/image26.png"/><Relationship Id="rId14" Type="http://schemas.openxmlformats.org/officeDocument/2006/relationships/image" Target="../media/image27.png"/><Relationship Id="rId15" Type="http://schemas.openxmlformats.org/officeDocument/2006/relationships/image" Target="../media/image28.png"/><Relationship Id="rId1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 Id="rId3" Type="http://schemas.openxmlformats.org/officeDocument/2006/relationships/image" Target="../media/image30.png"/><Relationship Id="rId4" Type="http://schemas.openxmlformats.org/officeDocument/2006/relationships/image" Target="../media/image31.png"/><Relationship Id="rId5" Type="http://schemas.openxmlformats.org/officeDocument/2006/relationships/image" Target="../media/image32.png"/><Relationship Id="rId6" Type="http://schemas.openxmlformats.org/officeDocument/2006/relationships/image" Target="../media/image33.png"/><Relationship Id="rId7" Type="http://schemas.openxmlformats.org/officeDocument/2006/relationships/image" Target="../media/image34.png"/><Relationship Id="rId8" Type="http://schemas.openxmlformats.org/officeDocument/2006/relationships/image" Target="../media/image35.png"/><Relationship Id="rId9" Type="http://schemas.openxmlformats.org/officeDocument/2006/relationships/image" Target="../media/image36.png"/><Relationship Id="rId10"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 Id="rId3" Type="http://schemas.openxmlformats.org/officeDocument/2006/relationships/image" Target="../media/image38.png"/><Relationship Id="rId4" Type="http://schemas.openxmlformats.org/officeDocument/2006/relationships/image" Target="../media/image39.png"/><Relationship Id="rId5" Type="http://schemas.openxmlformats.org/officeDocument/2006/relationships/image" Target="../media/image40.png"/><Relationship Id="rId6" Type="http://schemas.openxmlformats.org/officeDocument/2006/relationships/image" Target="../media/image41.png"/><Relationship Id="rId7" Type="http://schemas.openxmlformats.org/officeDocument/2006/relationships/image" Target="../media/image42.png"/><Relationship Id="rId8" Type="http://schemas.openxmlformats.org/officeDocument/2006/relationships/image" Target="../media/image43.png"/><Relationship Id="rId9" Type="http://schemas.openxmlformats.org/officeDocument/2006/relationships/image" Target="../media/image44.png"/><Relationship Id="rId10" Type="http://schemas.openxmlformats.org/officeDocument/2006/relationships/image" Target="../media/image45.png"/><Relationship Id="rId11" Type="http://schemas.openxmlformats.org/officeDocument/2006/relationships/image" Target="../media/image46.png"/><Relationship Id="rId12" Type="http://schemas.openxmlformats.org/officeDocument/2006/relationships/image" Target="../media/image47.png"/><Relationship Id="rId13" Type="http://schemas.openxmlformats.org/officeDocument/2006/relationships/image" Target="../media/image48.png"/><Relationship Id="rId1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9.png"/><Relationship Id="rId3" Type="http://schemas.openxmlformats.org/officeDocument/2006/relationships/image" Target="../media/image50.png"/><Relationship Id="rId4" Type="http://schemas.openxmlformats.org/officeDocument/2006/relationships/image" Target="../media/image51.png"/><Relationship Id="rId5" Type="http://schemas.openxmlformats.org/officeDocument/2006/relationships/image" Target="../media/image52.png"/><Relationship Id="rId6" Type="http://schemas.openxmlformats.org/officeDocument/2006/relationships/image" Target="../media/image53.png"/><Relationship Id="rId7" Type="http://schemas.openxmlformats.org/officeDocument/2006/relationships/image" Target="../media/image54.png"/><Relationship Id="rId8" Type="http://schemas.openxmlformats.org/officeDocument/2006/relationships/image" Target="../media/image55.png"/><Relationship Id="rId9" Type="http://schemas.openxmlformats.org/officeDocument/2006/relationships/image" Target="../media/image56.png"/><Relationship Id="rId10" Type="http://schemas.openxmlformats.org/officeDocument/2006/relationships/image" Target="../media/image57.png"/><Relationship Id="rId11" Type="http://schemas.openxmlformats.org/officeDocument/2006/relationships/image" Target="../media/image58.png"/><Relationship Id="rId12" Type="http://schemas.openxmlformats.org/officeDocument/2006/relationships/image" Target="../media/image59.png"/><Relationship Id="rId13" Type="http://schemas.openxmlformats.org/officeDocument/2006/relationships/image" Target="../media/image60.png"/><Relationship Id="rId14" Type="http://schemas.openxmlformats.org/officeDocument/2006/relationships/image" Target="../media/image61.png"/><Relationship Id="rId15" Type="http://schemas.openxmlformats.org/officeDocument/2006/relationships/image" Target="../media/image62.png"/><Relationship Id="rId1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3.png"/><Relationship Id="rId3" Type="http://schemas.openxmlformats.org/officeDocument/2006/relationships/image" Target="../media/image64.png"/><Relationship Id="rId4" Type="http://schemas.openxmlformats.org/officeDocument/2006/relationships/image" Target="../media/image65.png"/><Relationship Id="rId5" Type="http://schemas.openxmlformats.org/officeDocument/2006/relationships/image" Target="../media/image66.png"/><Relationship Id="rId6" Type="http://schemas.openxmlformats.org/officeDocument/2006/relationships/image" Target="../media/image67.png"/><Relationship Id="rId7" Type="http://schemas.openxmlformats.org/officeDocument/2006/relationships/image" Target="../media/image68.png"/><Relationship Id="rId8" Type="http://schemas.openxmlformats.org/officeDocument/2006/relationships/image" Target="../media/image69.png"/><Relationship Id="rId9"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0.png"/><Relationship Id="rId3" Type="http://schemas.openxmlformats.org/officeDocument/2006/relationships/image" Target="../media/image71.png"/><Relationship Id="rId4" Type="http://schemas.openxmlformats.org/officeDocument/2006/relationships/image" Target="../media/image72.png"/><Relationship Id="rId5" Type="http://schemas.openxmlformats.org/officeDocument/2006/relationships/image" Target="../media/image73.png"/><Relationship Id="rId6" Type="http://schemas.openxmlformats.org/officeDocument/2006/relationships/image" Target="../media/image74.png"/><Relationship Id="rId7" Type="http://schemas.openxmlformats.org/officeDocument/2006/relationships/image" Target="../media/image75.png"/><Relationship Id="rId8" Type="http://schemas.openxmlformats.org/officeDocument/2006/relationships/image" Target="../media/image76.png"/><Relationship Id="rId9" Type="http://schemas.openxmlformats.org/officeDocument/2006/relationships/image" Target="../media/image77.png"/><Relationship Id="rId10" Type="http://schemas.openxmlformats.org/officeDocument/2006/relationships/image" Target="../media/image78.png"/><Relationship Id="rId11" Type="http://schemas.openxmlformats.org/officeDocument/2006/relationships/image" Target="../media/image79.png"/><Relationship Id="rId12" Type="http://schemas.openxmlformats.org/officeDocument/2006/relationships/image" Target="../media/image80.png"/><Relationship Id="rId1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1.png"/><Relationship Id="rId3" Type="http://schemas.openxmlformats.org/officeDocument/2006/relationships/image" Target="../media/image82.png"/><Relationship Id="rId4" Type="http://schemas.openxmlformats.org/officeDocument/2006/relationships/image" Target="../media/image83.png"/><Relationship Id="rId5" Type="http://schemas.openxmlformats.org/officeDocument/2006/relationships/image" Target="../media/image84.png"/><Relationship Id="rId6" Type="http://schemas.openxmlformats.org/officeDocument/2006/relationships/image" Target="../media/image85.png"/><Relationship Id="rId7" Type="http://schemas.openxmlformats.org/officeDocument/2006/relationships/image" Target="../media/image86.png"/><Relationship Id="rId8" Type="http://schemas.openxmlformats.org/officeDocument/2006/relationships/image" Target="../media/image87.png"/><Relationship Id="rId9" Type="http://schemas.openxmlformats.org/officeDocument/2006/relationships/image" Target="../media/image88.png"/><Relationship Id="rId10" Type="http://schemas.openxmlformats.org/officeDocument/2006/relationships/image" Target="../media/image89.png"/><Relationship Id="rId11" Type="http://schemas.openxmlformats.org/officeDocument/2006/relationships/image" Target="../media/image90.png"/><Relationship Id="rId12" Type="http://schemas.openxmlformats.org/officeDocument/2006/relationships/image" Target="../media/image91.png"/><Relationship Id="rId13" Type="http://schemas.openxmlformats.org/officeDocument/2006/relationships/image" Target="../media/image92.png"/><Relationship Id="rId14" Type="http://schemas.openxmlformats.org/officeDocument/2006/relationships/image" Target="../media/image93.png"/><Relationship Id="rId15" Type="http://schemas.openxmlformats.org/officeDocument/2006/relationships/image" Target="../media/image94.png"/><Relationship Id="rId16" Type="http://schemas.openxmlformats.org/officeDocument/2006/relationships/image" Target="../media/image95.png"/><Relationship Id="rId17" Type="http://schemas.openxmlformats.org/officeDocument/2006/relationships/image" Target="../media/image96.png"/><Relationship Id="rId18" Type="http://schemas.openxmlformats.org/officeDocument/2006/relationships/image" Target="../media/image97.png"/><Relationship Id="rId19"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8.png"/><Relationship Id="rId3" Type="http://schemas.openxmlformats.org/officeDocument/2006/relationships/image" Target="../media/image99.png"/><Relationship Id="rId4" Type="http://schemas.openxmlformats.org/officeDocument/2006/relationships/image" Target="../media/image100.png"/><Relationship Id="rId5" Type="http://schemas.openxmlformats.org/officeDocument/2006/relationships/image" Target="../media/image101.png"/><Relationship Id="rId6" Type="http://schemas.openxmlformats.org/officeDocument/2006/relationships/image" Target="../media/image102.png"/><Relationship Id="rId7" Type="http://schemas.openxmlformats.org/officeDocument/2006/relationships/image" Target="../media/image103.png"/><Relationship Id="rId8" Type="http://schemas.openxmlformats.org/officeDocument/2006/relationships/image" Target="../media/image104.png"/><Relationship Id="rId9" Type="http://schemas.openxmlformats.org/officeDocument/2006/relationships/image" Target="../media/image105.png"/><Relationship Id="rId10" Type="http://schemas.openxmlformats.org/officeDocument/2006/relationships/image" Target="../media/image106.png"/><Relationship Id="rId11" Type="http://schemas.openxmlformats.org/officeDocument/2006/relationships/image" Target="../media/image107.png"/><Relationship Id="rId12" Type="http://schemas.openxmlformats.org/officeDocument/2006/relationships/image" Target="../media/image108.png"/><Relationship Id="rId13" Type="http://schemas.openxmlformats.org/officeDocument/2006/relationships/image" Target="../media/image109.png"/><Relationship Id="rId14" Type="http://schemas.openxmlformats.org/officeDocument/2006/relationships/image" Target="../media/image110.png"/><Relationship Id="rId1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1.png"/><Relationship Id="rId3" Type="http://schemas.openxmlformats.org/officeDocument/2006/relationships/image" Target="../media/image112.png"/><Relationship Id="rId4" Type="http://schemas.openxmlformats.org/officeDocument/2006/relationships/image" Target="../media/image113.png"/><Relationship Id="rId5" Type="http://schemas.openxmlformats.org/officeDocument/2006/relationships/image" Target="../media/image114.png"/><Relationship Id="rId6" Type="http://schemas.openxmlformats.org/officeDocument/2006/relationships/image" Target="../media/image115.png"/><Relationship Id="rId7" Type="http://schemas.openxmlformats.org/officeDocument/2006/relationships/image" Target="../media/image116.png"/><Relationship Id="rId8" Type="http://schemas.openxmlformats.org/officeDocument/2006/relationships/image" Target="../media/image117.png"/><Relationship Id="rId9" Type="http://schemas.openxmlformats.org/officeDocument/2006/relationships/image" Target="../media/image118.png"/><Relationship Id="rId10" Type="http://schemas.openxmlformats.org/officeDocument/2006/relationships/image" Target="../media/image119.png"/><Relationship Id="rId11" Type="http://schemas.openxmlformats.org/officeDocument/2006/relationships/image" Target="../media/image120.png"/><Relationship Id="rId1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1.png"/><Relationship Id="rId3" Type="http://schemas.openxmlformats.org/officeDocument/2006/relationships/image" Target="../media/image82.png"/><Relationship Id="rId4" Type="http://schemas.openxmlformats.org/officeDocument/2006/relationships/image" Target="../media/image122.png"/><Relationship Id="rId5" Type="http://schemas.openxmlformats.org/officeDocument/2006/relationships/image" Target="../media/image123.png"/><Relationship Id="rId6" Type="http://schemas.openxmlformats.org/officeDocument/2006/relationships/image" Target="../media/image124.png"/><Relationship Id="rId7" Type="http://schemas.openxmlformats.org/officeDocument/2006/relationships/image" Target="../media/image125.png"/><Relationship Id="rId8" Type="http://schemas.openxmlformats.org/officeDocument/2006/relationships/image" Target="../media/image126.png"/><Relationship Id="rId9" Type="http://schemas.openxmlformats.org/officeDocument/2006/relationships/image" Target="../media/image127.png"/><Relationship Id="rId10" Type="http://schemas.openxmlformats.org/officeDocument/2006/relationships/image" Target="../media/image128.png"/><Relationship Id="rId11" Type="http://schemas.openxmlformats.org/officeDocument/2006/relationships/image" Target="../media/image129.png"/><Relationship Id="rId12" Type="http://schemas.openxmlformats.org/officeDocument/2006/relationships/image" Target="../media/image130.png"/><Relationship Id="rId13" Type="http://schemas.openxmlformats.org/officeDocument/2006/relationships/image" Target="../media/image131.png"/><Relationship Id="rId14" Type="http://schemas.openxmlformats.org/officeDocument/2006/relationships/image" Target="../media/image132.png"/><Relationship Id="rId15" Type="http://schemas.openxmlformats.org/officeDocument/2006/relationships/image" Target="../media/image133.png"/><Relationship Id="rId16" Type="http://schemas.openxmlformats.org/officeDocument/2006/relationships/image" Target="../media/image134.png"/><Relationship Id="rId17" Type="http://schemas.openxmlformats.org/officeDocument/2006/relationships/image" Target="../media/image135.png"/><Relationship Id="rId18" Type="http://schemas.openxmlformats.org/officeDocument/2006/relationships/image" Target="../media/image136.png"/><Relationship Id="rId19"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7.png"/><Relationship Id="rId3" Type="http://schemas.openxmlformats.org/officeDocument/2006/relationships/image" Target="../media/image138.png"/><Relationship Id="rId4" Type="http://schemas.openxmlformats.org/officeDocument/2006/relationships/image" Target="../media/image139.png"/><Relationship Id="rId5" Type="http://schemas.openxmlformats.org/officeDocument/2006/relationships/image" Target="../media/image140.png"/><Relationship Id="rId6" Type="http://schemas.openxmlformats.org/officeDocument/2006/relationships/image" Target="../media/image141.png"/><Relationship Id="rId7" Type="http://schemas.openxmlformats.org/officeDocument/2006/relationships/image" Target="../media/image142.png"/><Relationship Id="rId8"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3.png"/><Relationship Id="rId3" Type="http://schemas.openxmlformats.org/officeDocument/2006/relationships/image" Target="../media/image144.png"/><Relationship Id="rId4" Type="http://schemas.openxmlformats.org/officeDocument/2006/relationships/image" Target="../media/image145.png"/><Relationship Id="rId5" Type="http://schemas.openxmlformats.org/officeDocument/2006/relationships/image" Target="../media/image146.png"/><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7.png"/><Relationship Id="rId3" Type="http://schemas.openxmlformats.org/officeDocument/2006/relationships/image" Target="../media/image148.png"/><Relationship Id="rId4" Type="http://schemas.openxmlformats.org/officeDocument/2006/relationships/image" Target="../media/image149.png"/><Relationship Id="rId5" Type="http://schemas.openxmlformats.org/officeDocument/2006/relationships/image" Target="../media/image150.png"/><Relationship Id="rId6" Type="http://schemas.openxmlformats.org/officeDocument/2006/relationships/image" Target="../media/image151.png"/><Relationship Id="rId7" Type="http://schemas.openxmlformats.org/officeDocument/2006/relationships/image" Target="../media/image152.png"/><Relationship Id="rId8" Type="http://schemas.openxmlformats.org/officeDocument/2006/relationships/image" Target="../media/image153.png"/><Relationship Id="rId9" Type="http://schemas.openxmlformats.org/officeDocument/2006/relationships/image" Target="../media/image154.png"/><Relationship Id="rId10"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5.png"/><Relationship Id="rId3" Type="http://schemas.openxmlformats.org/officeDocument/2006/relationships/image" Target="../media/image156.png"/><Relationship Id="rId4" Type="http://schemas.openxmlformats.org/officeDocument/2006/relationships/image" Target="../media/image157.png"/><Relationship Id="rId5" Type="http://schemas.openxmlformats.org/officeDocument/2006/relationships/image" Target="../media/image158.png"/><Relationship Id="rId6" Type="http://schemas.openxmlformats.org/officeDocument/2006/relationships/image" Target="../media/image159.png"/><Relationship Id="rId7" Type="http://schemas.openxmlformats.org/officeDocument/2006/relationships/image" Target="../media/image160.png"/><Relationship Id="rId8" Type="http://schemas.openxmlformats.org/officeDocument/2006/relationships/image" Target="../media/image161.png"/><Relationship Id="rId9" Type="http://schemas.openxmlformats.org/officeDocument/2006/relationships/image" Target="../media/image162.png"/><Relationship Id="rId10" Type="http://schemas.openxmlformats.org/officeDocument/2006/relationships/image" Target="../media/image163.png"/><Relationship Id="rId11" Type="http://schemas.openxmlformats.org/officeDocument/2006/relationships/image" Target="../media/image164.png"/><Relationship Id="rId12" Type="http://schemas.openxmlformats.org/officeDocument/2006/relationships/image" Target="../media/image165.png"/><Relationship Id="rId1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6.png"/><Relationship Id="rId3" Type="http://schemas.openxmlformats.org/officeDocument/2006/relationships/image" Target="../media/image167.png"/><Relationship Id="rId4" Type="http://schemas.openxmlformats.org/officeDocument/2006/relationships/image" Target="../media/image168.png"/><Relationship Id="rId5" Type="http://schemas.openxmlformats.org/officeDocument/2006/relationships/image" Target="../media/image169.png"/><Relationship Id="rId6" Type="http://schemas.openxmlformats.org/officeDocument/2006/relationships/image" Target="../media/image170.png"/><Relationship Id="rId7" Type="http://schemas.openxmlformats.org/officeDocument/2006/relationships/image" Target="../media/image171.png"/><Relationship Id="rId8" Type="http://schemas.openxmlformats.org/officeDocument/2006/relationships/image" Target="../media/image172.png"/><Relationship Id="rId9" Type="http://schemas.openxmlformats.org/officeDocument/2006/relationships/image" Target="../media/image173.png"/><Relationship Id="rId10" Type="http://schemas.openxmlformats.org/officeDocument/2006/relationships/image" Target="../media/image174.png"/><Relationship Id="rId11" Type="http://schemas.openxmlformats.org/officeDocument/2006/relationships/image" Target="../media/image175.png"/><Relationship Id="rId12" Type="http://schemas.openxmlformats.org/officeDocument/2006/relationships/image" Target="../media/image176.png"/><Relationship Id="rId13" Type="http://schemas.openxmlformats.org/officeDocument/2006/relationships/image" Target="../media/image177.png"/><Relationship Id="rId14" Type="http://schemas.openxmlformats.org/officeDocument/2006/relationships/image" Target="../media/image178.png"/><Relationship Id="rId15" Type="http://schemas.openxmlformats.org/officeDocument/2006/relationships/image" Target="../media/image179.png"/><Relationship Id="rId16" Type="http://schemas.openxmlformats.org/officeDocument/2006/relationships/image" Target="../media/image180.png"/><Relationship Id="rId17" Type="http://schemas.openxmlformats.org/officeDocument/2006/relationships/image" Target="../media/image181.png"/><Relationship Id="rId18" Type="http://schemas.openxmlformats.org/officeDocument/2006/relationships/image" Target="../media/image182.png"/><Relationship Id="rId19" Type="http://schemas.openxmlformats.org/officeDocument/2006/relationships/image" Target="../media/image183.png"/><Relationship Id="rId20" Type="http://schemas.openxmlformats.org/officeDocument/2006/relationships/image" Target="../media/image184.png"/><Relationship Id="rId21" Type="http://schemas.openxmlformats.org/officeDocument/2006/relationships/image" Target="../media/image185.png"/><Relationship Id="rId22" Type="http://schemas.openxmlformats.org/officeDocument/2006/relationships/image" Target="../media/image186.png"/><Relationship Id="rId23" Type="http://schemas.openxmlformats.org/officeDocument/2006/relationships/image" Target="../media/image187.png"/><Relationship Id="rId24" Type="http://schemas.openxmlformats.org/officeDocument/2006/relationships/image" Target="../media/image188.png"/><Relationship Id="rId25" Type="http://schemas.openxmlformats.org/officeDocument/2006/relationships/image" Target="../media/image189.png"/><Relationship Id="rId26" Type="http://schemas.openxmlformats.org/officeDocument/2006/relationships/image" Target="../media/image190.png"/><Relationship Id="rId27" Type="http://schemas.openxmlformats.org/officeDocument/2006/relationships/image" Target="../media/image191.png"/><Relationship Id="rId28" Type="http://schemas.openxmlformats.org/officeDocument/2006/relationships/image" Target="../media/image192.png"/><Relationship Id="rId29" Type="http://schemas.openxmlformats.org/officeDocument/2006/relationships/image" Target="../media/image193.png"/><Relationship Id="rId30" Type="http://schemas.openxmlformats.org/officeDocument/2006/relationships/image" Target="../media/image194.png"/><Relationship Id="rId31" Type="http://schemas.openxmlformats.org/officeDocument/2006/relationships/image" Target="../media/image195.png"/><Relationship Id="rId32" Type="http://schemas.openxmlformats.org/officeDocument/2006/relationships/image" Target="../media/image196.png"/><Relationship Id="rId33" Type="http://schemas.openxmlformats.org/officeDocument/2006/relationships/image" Target="../media/image197.png"/><Relationship Id="rId34" Type="http://schemas.openxmlformats.org/officeDocument/2006/relationships/image" Target="../media/image198.png"/><Relationship Id="rId35" Type="http://schemas.openxmlformats.org/officeDocument/2006/relationships/image" Target="../media/image199.png"/><Relationship Id="rId36" Type="http://schemas.openxmlformats.org/officeDocument/2006/relationships/image" Target="../media/image200.png"/><Relationship Id="rId37" Type="http://schemas.openxmlformats.org/officeDocument/2006/relationships/image" Target="../media/image201.png"/><Relationship Id="rId38" Type="http://schemas.openxmlformats.org/officeDocument/2006/relationships/image" Target="../media/image202.png"/><Relationship Id="rId39" Type="http://schemas.openxmlformats.org/officeDocument/2006/relationships/image" Target="../media/image203.png"/><Relationship Id="rId40" Type="http://schemas.openxmlformats.org/officeDocument/2006/relationships/image" Target="../media/image204.png"/><Relationship Id="rId41" Type="http://schemas.openxmlformats.org/officeDocument/2006/relationships/image" Target="../media/image205.png"/><Relationship Id="rId4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6.png"/><Relationship Id="rId3" Type="http://schemas.openxmlformats.org/officeDocument/2006/relationships/image" Target="../media/image207.png"/><Relationship Id="rId4" Type="http://schemas.openxmlformats.org/officeDocument/2006/relationships/image" Target="../media/image208.png"/><Relationship Id="rId5" Type="http://schemas.openxmlformats.org/officeDocument/2006/relationships/image" Target="../media/image209.png"/><Relationship Id="rId6" Type="http://schemas.openxmlformats.org/officeDocument/2006/relationships/image" Target="../media/image210.png"/><Relationship Id="rId7" Type="http://schemas.openxmlformats.org/officeDocument/2006/relationships/image" Target="../media/image211.png"/><Relationship Id="rId8"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6.png"/><Relationship Id="rId3" Type="http://schemas.openxmlformats.org/officeDocument/2006/relationships/image" Target="../media/image217.png"/><Relationship Id="rId4" Type="http://schemas.openxmlformats.org/officeDocument/2006/relationships/image" Target="../media/image218.png"/><Relationship Id="rId5" Type="http://schemas.openxmlformats.org/officeDocument/2006/relationships/image" Target="../media/image219.png"/><Relationship Id="rId6" Type="http://schemas.openxmlformats.org/officeDocument/2006/relationships/image" Target="../media/image220.png"/><Relationship Id="rId7" Type="http://schemas.openxmlformats.org/officeDocument/2006/relationships/image" Target="../media/image221.png"/><Relationship Id="rId8" Type="http://schemas.openxmlformats.org/officeDocument/2006/relationships/image" Target="../media/image222.png"/><Relationship Id="rId9" Type="http://schemas.openxmlformats.org/officeDocument/2006/relationships/image" Target="../media/image223.png"/><Relationship Id="rId10" Type="http://schemas.openxmlformats.org/officeDocument/2006/relationships/image" Target="../media/image224.png"/><Relationship Id="rId11" Type="http://schemas.openxmlformats.org/officeDocument/2006/relationships/image" Target="../media/image225.png"/><Relationship Id="rId12" Type="http://schemas.openxmlformats.org/officeDocument/2006/relationships/image" Target="../media/image226.png"/><Relationship Id="rId13" Type="http://schemas.openxmlformats.org/officeDocument/2006/relationships/image" Target="../media/image227.png"/><Relationship Id="rId14" Type="http://schemas.openxmlformats.org/officeDocument/2006/relationships/image" Target="../media/image228.png"/><Relationship Id="rId1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9.png"/><Relationship Id="rId3" Type="http://schemas.openxmlformats.org/officeDocument/2006/relationships/image" Target="../media/image230.png"/><Relationship Id="rId4" Type="http://schemas.openxmlformats.org/officeDocument/2006/relationships/image" Target="../media/image231.png"/><Relationship Id="rId5" Type="http://schemas.openxmlformats.org/officeDocument/2006/relationships/image" Target="../media/image232.png"/><Relationship Id="rId6" Type="http://schemas.openxmlformats.org/officeDocument/2006/relationships/image" Target="../media/image233.png"/><Relationship Id="rId7"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4.png"/><Relationship Id="rId3" Type="http://schemas.openxmlformats.org/officeDocument/2006/relationships/image" Target="../media/image235.png"/><Relationship Id="rId4" Type="http://schemas.openxmlformats.org/officeDocument/2006/relationships/image" Target="../media/image236.png"/><Relationship Id="rId5" Type="http://schemas.openxmlformats.org/officeDocument/2006/relationships/image" Target="../media/image237.png"/><Relationship Id="rId6" Type="http://schemas.openxmlformats.org/officeDocument/2006/relationships/image" Target="../media/image238.png"/><Relationship Id="rId7" Type="http://schemas.openxmlformats.org/officeDocument/2006/relationships/image" Target="../media/image239.png"/><Relationship Id="rId8" Type="http://schemas.openxmlformats.org/officeDocument/2006/relationships/image" Target="../media/image240.png"/><Relationship Id="rId9" Type="http://schemas.openxmlformats.org/officeDocument/2006/relationships/image" Target="../media/image241.png"/><Relationship Id="rId10" Type="http://schemas.openxmlformats.org/officeDocument/2006/relationships/image" Target="../media/image242.png"/><Relationship Id="rId11" Type="http://schemas.openxmlformats.org/officeDocument/2006/relationships/image" Target="../media/image243.png"/><Relationship Id="rId12" Type="http://schemas.openxmlformats.org/officeDocument/2006/relationships/image" Target="../media/image244.png"/><Relationship Id="rId1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5.png"/><Relationship Id="rId3" Type="http://schemas.openxmlformats.org/officeDocument/2006/relationships/image" Target="../media/image246.png"/><Relationship Id="rId4" Type="http://schemas.openxmlformats.org/officeDocument/2006/relationships/image" Target="../media/image247.png"/><Relationship Id="rId5" Type="http://schemas.openxmlformats.org/officeDocument/2006/relationships/image" Target="../media/image248.png"/><Relationship Id="rId6" Type="http://schemas.openxmlformats.org/officeDocument/2006/relationships/image" Target="../media/image249.png"/><Relationship Id="rId7" Type="http://schemas.openxmlformats.org/officeDocument/2006/relationships/image" Target="../media/image250.png"/><Relationship Id="rId8" Type="http://schemas.openxmlformats.org/officeDocument/2006/relationships/image" Target="../media/image251.png"/><Relationship Id="rId9" Type="http://schemas.openxmlformats.org/officeDocument/2006/relationships/image" Target="../media/image252.png"/><Relationship Id="rId10" Type="http://schemas.openxmlformats.org/officeDocument/2006/relationships/image" Target="../media/image253.png"/><Relationship Id="rId11" Type="http://schemas.openxmlformats.org/officeDocument/2006/relationships/image" Target="../media/image254.png"/><Relationship Id="rId12" Type="http://schemas.openxmlformats.org/officeDocument/2006/relationships/image" Target="../media/image255.png"/><Relationship Id="rId13" Type="http://schemas.openxmlformats.org/officeDocument/2006/relationships/notesSlide" Target="../notesSlides/notesSlide2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ground" descr="Thermal Trace slide background"/>
          <p:cNvPicPr>
            <a:picLocks noChangeAspect="1"/>
          </p:cNvPicPr>
          <p:nvPr/>
        </p:nvPicPr>
        <p:blipFill>
          <a:blip r:embed="rId2"/>
          <a:stretch>
            <a:fillRect/>
          </a:stretch>
        </p:blipFill>
        <p:spPr>
          <a:xfrm>
            <a:off x="0" y="0"/>
            <a:ext cx="12192000" cy="6858000"/>
          </a:xfrm>
          <a:prstGeom prst="rect">
            <a:avLst/>
          </a:prstGeom>
        </p:spPr>
      </p:pic>
      <p:pic>
        <p:nvPicPr>
          <p:cNvPr id="3" name="00 fade · Presented by" descr="Presented by"/>
          <p:cNvPicPr>
            <a:picLocks noChangeAspect="1"/>
          </p:cNvPicPr>
          <p:nvPr/>
        </p:nvPicPr>
        <p:blipFill>
          <a:blip r:embed="rId3"/>
          <a:stretch>
            <a:fillRect/>
          </a:stretch>
        </p:blipFill>
        <p:spPr>
          <a:xfrm>
            <a:off x="8686800" y="508000"/>
            <a:ext cx="2844800" cy="1968500"/>
          </a:xfrm>
          <a:prstGeom prst="rect">
            <a:avLst/>
          </a:prstGeom>
        </p:spPr>
      </p:pic>
      <p:pic>
        <p:nvPicPr>
          <p:cNvPr id="4" name="01 wipe · graphic" descr=""/>
          <p:cNvPicPr>
            <a:picLocks noChangeAspect="1"/>
          </p:cNvPicPr>
          <p:nvPr/>
        </p:nvPicPr>
        <p:blipFill>
          <a:blip r:embed="rId4"/>
          <a:stretch>
            <a:fillRect/>
          </a:stretch>
        </p:blipFill>
        <p:spPr>
          <a:xfrm>
            <a:off x="8166100" y="4292600"/>
            <a:ext cx="4025900" cy="1384300"/>
          </a:xfrm>
          <a:prstGeom prst="rect">
            <a:avLst/>
          </a:prstGeom>
        </p:spPr>
      </p:pic>
      <p:pic>
        <p:nvPicPr>
          <p:cNvPr id="5" name="02 draw · graphic" descr=""/>
          <p:cNvPicPr>
            <a:picLocks noChangeAspect="1"/>
          </p:cNvPicPr>
          <p:nvPr/>
        </p:nvPicPr>
        <p:blipFill>
          <a:blip r:embed="rId5"/>
          <a:stretch>
            <a:fillRect/>
          </a:stretch>
        </p:blipFill>
        <p:spPr>
          <a:xfrm>
            <a:off x="0" y="4292600"/>
            <a:ext cx="12192000" cy="1968500"/>
          </a:xfrm>
          <a:prstGeom prst="rect">
            <a:avLst/>
          </a:prstGeom>
        </p:spPr>
      </p:pic>
      <p:pic>
        <p:nvPicPr>
          <p:cNvPr id="6" name="03 zoom · graphic" descr=""/>
          <p:cNvPicPr>
            <a:picLocks noChangeAspect="1"/>
          </p:cNvPicPr>
          <p:nvPr/>
        </p:nvPicPr>
        <p:blipFill>
          <a:blip r:embed="rId6"/>
          <a:stretch>
            <a:fillRect/>
          </a:stretch>
        </p:blipFill>
        <p:spPr>
          <a:xfrm>
            <a:off x="673100" y="1638300"/>
            <a:ext cx="1231900" cy="1238250"/>
          </a:xfrm>
          <a:prstGeom prst="rect">
            <a:avLst/>
          </a:prstGeom>
        </p:spPr>
      </p:pic>
      <p:pic>
        <p:nvPicPr>
          <p:cNvPr id="7" name="04 draw · graphic" descr=""/>
          <p:cNvPicPr>
            <a:picLocks noChangeAspect="1"/>
          </p:cNvPicPr>
          <p:nvPr/>
        </p:nvPicPr>
        <p:blipFill>
          <a:blip r:embed="rId7"/>
          <a:stretch>
            <a:fillRect/>
          </a:stretch>
        </p:blipFill>
        <p:spPr>
          <a:xfrm>
            <a:off x="1136650" y="1778000"/>
            <a:ext cx="304800" cy="965200"/>
          </a:xfrm>
          <a:prstGeom prst="rect">
            <a:avLst/>
          </a:prstGeom>
        </p:spPr>
      </p:pic>
      <p:pic>
        <p:nvPicPr>
          <p:cNvPr id="8" name="05 draw · graphic" descr=""/>
          <p:cNvPicPr>
            <a:picLocks noChangeAspect="1"/>
          </p:cNvPicPr>
          <p:nvPr/>
        </p:nvPicPr>
        <p:blipFill>
          <a:blip r:embed="rId8"/>
          <a:stretch>
            <a:fillRect/>
          </a:stretch>
        </p:blipFill>
        <p:spPr>
          <a:xfrm>
            <a:off x="850900" y="1936750"/>
            <a:ext cx="876300" cy="641350"/>
          </a:xfrm>
          <a:prstGeom prst="rect">
            <a:avLst/>
          </a:prstGeom>
        </p:spPr>
      </p:pic>
      <p:pic>
        <p:nvPicPr>
          <p:cNvPr id="9" name="06 draw · graphic" descr=""/>
          <p:cNvPicPr>
            <a:picLocks noChangeAspect="1"/>
          </p:cNvPicPr>
          <p:nvPr/>
        </p:nvPicPr>
        <p:blipFill>
          <a:blip r:embed="rId9"/>
          <a:stretch>
            <a:fillRect/>
          </a:stretch>
        </p:blipFill>
        <p:spPr>
          <a:xfrm>
            <a:off x="850900" y="1936750"/>
            <a:ext cx="876300" cy="641350"/>
          </a:xfrm>
          <a:prstGeom prst="rect">
            <a:avLst/>
          </a:prstGeom>
        </p:spPr>
      </p:pic>
      <p:pic>
        <p:nvPicPr>
          <p:cNvPr id="10" name="07 draw · graphic" descr=""/>
          <p:cNvPicPr>
            <a:picLocks noChangeAspect="1"/>
          </p:cNvPicPr>
          <p:nvPr/>
        </p:nvPicPr>
        <p:blipFill>
          <a:blip r:embed="rId10"/>
          <a:stretch>
            <a:fillRect/>
          </a:stretch>
        </p:blipFill>
        <p:spPr>
          <a:xfrm>
            <a:off x="1041400" y="1835150"/>
            <a:ext cx="495300" cy="400050"/>
          </a:xfrm>
          <a:prstGeom prst="rect">
            <a:avLst/>
          </a:prstGeom>
        </p:spPr>
      </p:pic>
      <p:pic>
        <p:nvPicPr>
          <p:cNvPr id="11" name="08 draw · graphic" descr=""/>
          <p:cNvPicPr>
            <a:picLocks noChangeAspect="1"/>
          </p:cNvPicPr>
          <p:nvPr/>
        </p:nvPicPr>
        <p:blipFill>
          <a:blip r:embed="rId11"/>
          <a:stretch>
            <a:fillRect/>
          </a:stretch>
        </p:blipFill>
        <p:spPr>
          <a:xfrm>
            <a:off x="1041400" y="2279650"/>
            <a:ext cx="495300" cy="400050"/>
          </a:xfrm>
          <a:prstGeom prst="rect">
            <a:avLst/>
          </a:prstGeom>
        </p:spPr>
      </p:pic>
      <p:pic>
        <p:nvPicPr>
          <p:cNvPr id="12" name="09 left · Thermal Trace" descr="Thermal Trace"/>
          <p:cNvPicPr>
            <a:picLocks noChangeAspect="1"/>
          </p:cNvPicPr>
          <p:nvPr/>
        </p:nvPicPr>
        <p:blipFill>
          <a:blip r:embed="rId12"/>
          <a:stretch>
            <a:fillRect/>
          </a:stretch>
        </p:blipFill>
        <p:spPr>
          <a:xfrm>
            <a:off x="1866900" y="1600200"/>
            <a:ext cx="5803900" cy="1047750"/>
          </a:xfrm>
          <a:prstGeom prst="rect">
            <a:avLst/>
          </a:prstGeom>
        </p:spPr>
      </p:pic>
      <p:pic>
        <p:nvPicPr>
          <p:cNvPr id="13" name="10 fade · Pre-seed · QAR 1.85M · Qatar f" descr="Pre-seed · QAR 1.85M · Qatar first, GCC next"/>
          <p:cNvPicPr>
            <a:picLocks noChangeAspect="1"/>
          </p:cNvPicPr>
          <p:nvPr/>
        </p:nvPicPr>
        <p:blipFill>
          <a:blip r:embed="rId13"/>
          <a:stretch>
            <a:fillRect/>
          </a:stretch>
        </p:blipFill>
        <p:spPr>
          <a:xfrm>
            <a:off x="1866900" y="2451100"/>
            <a:ext cx="5803900" cy="463550"/>
          </a:xfrm>
          <a:prstGeom prst="rect">
            <a:avLst/>
          </a:prstGeom>
        </p:spPr>
      </p:pic>
      <p:pic>
        <p:nvPicPr>
          <p:cNvPr id="14" name="11 up · Know what a failing fridge is " descr="Know what a failing fridge is costing before the gate does."/>
          <p:cNvPicPr>
            <a:picLocks noChangeAspect="1"/>
          </p:cNvPicPr>
          <p:nvPr/>
        </p:nvPicPr>
        <p:blipFill>
          <a:blip r:embed="rId14"/>
          <a:stretch>
            <a:fillRect/>
          </a:stretch>
        </p:blipFill>
        <p:spPr>
          <a:xfrm>
            <a:off x="660400" y="3009900"/>
            <a:ext cx="9194800" cy="1219200"/>
          </a:xfrm>
          <a:prstGeom prst="rect">
            <a:avLst/>
          </a:prstGeom>
        </p:spPr>
      </p:pic>
      <p:pic>
        <p:nvPicPr>
          <p:cNvPr id="15" name="12 up · Cold-chain intelligence: physi" descr="Cold-chain intelligence: physical risk and commercial value, in one reserve."/>
          <p:cNvPicPr>
            <a:picLocks noChangeAspect="1"/>
          </p:cNvPicPr>
          <p:nvPr/>
        </p:nvPicPr>
        <p:blipFill>
          <a:blip r:embed="rId15"/>
          <a:stretch>
            <a:fillRect/>
          </a:stretch>
        </p:blipFill>
        <p:spPr>
          <a:xfrm>
            <a:off x="660400" y="4095750"/>
            <a:ext cx="7797800" cy="59055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4" presetID="10" presetClass="entr" presetSubtype="0" fill="hold" decel="100000" nodeType="withEffect">
                                  <p:stCondLst>
                                    <p:cond delay="1300"/>
                                  </p:stCondLst>
                                  <p:childTnLst>
                                    <p:set>
                                      <p:cBhvr>
                                        <p:cTn id="5" dur="1" fill="hold">
                                          <p:stCondLst>
                                            <p:cond delay="0"/>
                                          </p:stCondLst>
                                        </p:cTn>
                                        <p:tgtEl>
                                          <p:spTgt spid="3"/>
                                        </p:tgtEl>
                                        <p:attrNameLst>
                                          <p:attrName>style.visibility</p:attrName>
                                        </p:attrNameLst>
                                      </p:cBhvr>
                                      <p:to>
                                        <p:strVal val="visible"/>
                                      </p:to>
                                    </p:set>
                                    <p:animEffect transition="in" filter="fade">
                                      <p:cBhvr>
                                        <p:cTn id="3" dur="900"/>
                                        <p:tgtEl>
                                          <p:spTgt spid="3"/>
                                        </p:tgtEl>
                                      </p:cBhvr>
                                    </p:animEffect>
                                  </p:childTnLst>
                                </p:cTn>
                              </p:par>
                              <p:par>
                                <p:cTn id="7" presetID="22" presetClass="entr" presetSubtype="8" fill="hold" decel="100000" nodeType="withEffect">
                                  <p:stCondLst>
                                    <p:cond delay="2600"/>
                                  </p:stCondLst>
                                  <p:childTnLst>
                                    <p:set>
                                      <p:cBhvr>
                                        <p:cTn id="8" dur="1" fill="hold">
                                          <p:stCondLst>
                                            <p:cond delay="0"/>
                                          </p:stCondLst>
                                        </p:cTn>
                                        <p:tgtEl>
                                          <p:spTgt spid="4"/>
                                        </p:tgtEl>
                                        <p:attrNameLst>
                                          <p:attrName>style.visibility</p:attrName>
                                        </p:attrNameLst>
                                      </p:cBhvr>
                                      <p:to>
                                        <p:strVal val="visible"/>
                                      </p:to>
                                    </p:set>
                                    <p:animEffect transition="in" filter="wipe(left)">
                                      <p:cBhvr>
                                        <p:cTn id="6" dur="1800"/>
                                        <p:tgtEl>
                                          <p:spTgt spid="4"/>
                                        </p:tgtEl>
                                      </p:cBhvr>
                                    </p:animEffect>
                                  </p:childTnLst>
                                </p:cTn>
                              </p:par>
                              <p:par>
                                <p:cTn id="10" presetID="22" presetClass="entr" presetSubtype="8" fill="hold" decel="100000" nodeType="withEffect">
                                  <p:stCondLst>
                                    <p:cond delay="900"/>
                                  </p:stCondLst>
                                  <p:childTnLst>
                                    <p:set>
                                      <p:cBhvr>
                                        <p:cTn id="11" dur="1" fill="hold">
                                          <p:stCondLst>
                                            <p:cond delay="0"/>
                                          </p:stCondLst>
                                        </p:cTn>
                                        <p:tgtEl>
                                          <p:spTgt spid="5"/>
                                        </p:tgtEl>
                                        <p:attrNameLst>
                                          <p:attrName>style.visibility</p:attrName>
                                        </p:attrNameLst>
                                      </p:cBhvr>
                                      <p:to>
                                        <p:strVal val="visible"/>
                                      </p:to>
                                    </p:set>
                                    <p:animEffect transition="in" filter="wipe(left)">
                                      <p:cBhvr>
                                        <p:cTn id="9" dur="3400"/>
                                        <p:tgtEl>
                                          <p:spTgt spid="5"/>
                                        </p:tgtEl>
                                      </p:cBhvr>
                                    </p:animEffect>
                                  </p:childTnLst>
                                </p:cTn>
                              </p:par>
                              <p:par>
                                <p:cTn id="15" presetID="53" presetClass="entr" presetSubtype="16" fill="hold" decel="100000" nodeType="withEffect">
                                  <p:stCondLst>
                                    <p:cond delay="0"/>
                                  </p:stCondLst>
                                  <p:childTnLst>
                                    <p:set>
                                      <p:cBhvr>
                                        <p:cTn id="16" dur="1" fill="hold">
                                          <p:stCondLst>
                                            <p:cond delay="0"/>
                                          </p:stCondLst>
                                        </p:cTn>
                                        <p:tgtEl>
                                          <p:spTgt spid="6"/>
                                        </p:tgtEl>
                                        <p:attrNameLst>
                                          <p:attrName>style.visibility</p:attrName>
                                        </p:attrNameLst>
                                      </p:cBhvr>
                                      <p:to>
                                        <p:strVal val="visible"/>
                                      </p:to>
                                    </p:set>
                                    <p:anim calcmode="lin" valueType="num">
                                      <p:cBhvr additive="base">
                                        <p:cTn id="12" dur="900" fill="hold"/>
                                        <p:tgtEl>
                                          <p:spTgt spid="6"/>
                                        </p:tgtEl>
                                        <p:attrNameLst>
                                          <p:attrName>ppt_w</p:attrName>
                                        </p:attrNameLst>
                                      </p:cBhvr>
                                      <p:tavLst>
                                        <p:tav tm="0">
                                          <p:val>
                                            <p:strVal val="#ppt_w*0.94"/>
                                          </p:val>
                                        </p:tav>
                                        <p:tav tm="100000">
                                          <p:val>
                                            <p:strVal val="#ppt_w"/>
                                          </p:val>
                                        </p:tav>
                                      </p:tavLst>
                                    </p:anim>
                                    <p:anim calcmode="lin" valueType="num">
                                      <p:cBhvr additive="base">
                                        <p:cTn id="13" dur="900" fill="hold"/>
                                        <p:tgtEl>
                                          <p:spTgt spid="6"/>
                                        </p:tgtEl>
                                        <p:attrNameLst>
                                          <p:attrName>ppt_h</p:attrName>
                                        </p:attrNameLst>
                                      </p:cBhvr>
                                      <p:tavLst>
                                        <p:tav tm="0">
                                          <p:val>
                                            <p:strVal val="#ppt_h*0.94"/>
                                          </p:val>
                                        </p:tav>
                                        <p:tav tm="100000">
                                          <p:val>
                                            <p:strVal val="#ppt_h"/>
                                          </p:val>
                                        </p:tav>
                                      </p:tavLst>
                                    </p:anim>
                                    <p:animEffect transition="in" filter="fade">
                                      <p:cBhvr>
                                        <p:cTn id="14" dur="900"/>
                                        <p:tgtEl>
                                          <p:spTgt spid="6"/>
                                        </p:tgtEl>
                                      </p:cBhvr>
                                    </p:animEffect>
                                  </p:childTnLst>
                                </p:cTn>
                              </p:par>
                              <p:par>
                                <p:cTn id="18" presetID="22" presetClass="entr" presetSubtype="8" fill="hold" decel="100000" nodeType="withEffect">
                                  <p:stCondLst>
                                    <p:cond delay="250"/>
                                  </p:stCondLst>
                                  <p:childTnLst>
                                    <p:set>
                                      <p:cBhvr>
                                        <p:cTn id="19" dur="1" fill="hold">
                                          <p:stCondLst>
                                            <p:cond delay="0"/>
                                          </p:stCondLst>
                                        </p:cTn>
                                        <p:tgtEl>
                                          <p:spTgt spid="7"/>
                                        </p:tgtEl>
                                        <p:attrNameLst>
                                          <p:attrName>style.visibility</p:attrName>
                                        </p:attrNameLst>
                                      </p:cBhvr>
                                      <p:to>
                                        <p:strVal val="visible"/>
                                      </p:to>
                                    </p:set>
                                    <p:animEffect transition="in" filter="wipe(left)">
                                      <p:cBhvr>
                                        <p:cTn id="17" dur="900"/>
                                        <p:tgtEl>
                                          <p:spTgt spid="7"/>
                                        </p:tgtEl>
                                      </p:cBhvr>
                                    </p:animEffect>
                                  </p:childTnLst>
                                </p:cTn>
                              </p:par>
                              <p:par>
                                <p:cTn id="21" presetID="22" presetClass="entr" presetSubtype="8" fill="hold" decel="100000" nodeType="withEffect">
                                  <p:stCondLst>
                                    <p:cond delay="420"/>
                                  </p:stCondLst>
                                  <p:childTnLst>
                                    <p:set>
                                      <p:cBhvr>
                                        <p:cTn id="22" dur="1" fill="hold">
                                          <p:stCondLst>
                                            <p:cond delay="0"/>
                                          </p:stCondLst>
                                        </p:cTn>
                                        <p:tgtEl>
                                          <p:spTgt spid="8"/>
                                        </p:tgtEl>
                                        <p:attrNameLst>
                                          <p:attrName>style.visibility</p:attrName>
                                        </p:attrNameLst>
                                      </p:cBhvr>
                                      <p:to>
                                        <p:strVal val="visible"/>
                                      </p:to>
                                    </p:set>
                                    <p:animEffect transition="in" filter="wipe(left)">
                                      <p:cBhvr>
                                        <p:cTn id="20" dur="900"/>
                                        <p:tgtEl>
                                          <p:spTgt spid="8"/>
                                        </p:tgtEl>
                                      </p:cBhvr>
                                    </p:animEffect>
                                  </p:childTnLst>
                                </p:cTn>
                              </p:par>
                              <p:par>
                                <p:cTn id="24" presetID="22" presetClass="entr" presetSubtype="8" fill="hold" decel="100000" nodeType="withEffect">
                                  <p:stCondLst>
                                    <p:cond delay="590"/>
                                  </p:stCondLst>
                                  <p:childTnLst>
                                    <p:set>
                                      <p:cBhvr>
                                        <p:cTn id="25" dur="1" fill="hold">
                                          <p:stCondLst>
                                            <p:cond delay="0"/>
                                          </p:stCondLst>
                                        </p:cTn>
                                        <p:tgtEl>
                                          <p:spTgt spid="9"/>
                                        </p:tgtEl>
                                        <p:attrNameLst>
                                          <p:attrName>style.visibility</p:attrName>
                                        </p:attrNameLst>
                                      </p:cBhvr>
                                      <p:to>
                                        <p:strVal val="visible"/>
                                      </p:to>
                                    </p:set>
                                    <p:animEffect transition="in" filter="wipe(left)">
                                      <p:cBhvr>
                                        <p:cTn id="23" dur="900"/>
                                        <p:tgtEl>
                                          <p:spTgt spid="9"/>
                                        </p:tgtEl>
                                      </p:cBhvr>
                                    </p:animEffect>
                                  </p:childTnLst>
                                </p:cTn>
                              </p:par>
                              <p:par>
                                <p:cTn id="27" presetID="22" presetClass="entr" presetSubtype="8" fill="hold" decel="100000" nodeType="withEffect">
                                  <p:stCondLst>
                                    <p:cond delay="900"/>
                                  </p:stCondLst>
                                  <p:childTnLst>
                                    <p:set>
                                      <p:cBhvr>
                                        <p:cTn id="28" dur="1" fill="hold">
                                          <p:stCondLst>
                                            <p:cond delay="0"/>
                                          </p:stCondLst>
                                        </p:cTn>
                                        <p:tgtEl>
                                          <p:spTgt spid="10"/>
                                        </p:tgtEl>
                                        <p:attrNameLst>
                                          <p:attrName>style.visibility</p:attrName>
                                        </p:attrNameLst>
                                      </p:cBhvr>
                                      <p:to>
                                        <p:strVal val="visible"/>
                                      </p:to>
                                    </p:set>
                                    <p:animEffect transition="in" filter="wipe(left)">
                                      <p:cBhvr>
                                        <p:cTn id="26" dur="600"/>
                                        <p:tgtEl>
                                          <p:spTgt spid="10"/>
                                        </p:tgtEl>
                                      </p:cBhvr>
                                    </p:animEffect>
                                  </p:childTnLst>
                                </p:cTn>
                              </p:par>
                              <p:par>
                                <p:cTn id="30" presetID="22" presetClass="entr" presetSubtype="8" fill="hold" decel="100000" nodeType="withEffect">
                                  <p:stCondLst>
                                    <p:cond delay="900"/>
                                  </p:stCondLst>
                                  <p:childTnLst>
                                    <p:set>
                                      <p:cBhvr>
                                        <p:cTn id="31" dur="1" fill="hold">
                                          <p:stCondLst>
                                            <p:cond delay="0"/>
                                          </p:stCondLst>
                                        </p:cTn>
                                        <p:tgtEl>
                                          <p:spTgt spid="11"/>
                                        </p:tgtEl>
                                        <p:attrNameLst>
                                          <p:attrName>style.visibility</p:attrName>
                                        </p:attrNameLst>
                                      </p:cBhvr>
                                      <p:to>
                                        <p:strVal val="visible"/>
                                      </p:to>
                                    </p:set>
                                    <p:animEffect transition="in" filter="wipe(left)">
                                      <p:cBhvr>
                                        <p:cTn id="29" dur="600"/>
                                        <p:tgtEl>
                                          <p:spTgt spid="11"/>
                                        </p:tgtEl>
                                      </p:cBhvr>
                                    </p:animEffect>
                                  </p:childTnLst>
                                </p:cTn>
                              </p:par>
                              <p:par>
                                <p:cTn id="34" presetID="2" presetClass="entr" presetSubtype="8" fill="hold" decel="100000" nodeType="withEffect">
                                  <p:stCondLst>
                                    <p:cond delay="300"/>
                                  </p:stCondLst>
                                  <p:childTnLst>
                                    <p:set>
                                      <p:cBhvr>
                                        <p:cTn id="35" dur="1" fill="hold">
                                          <p:stCondLst>
                                            <p:cond delay="0"/>
                                          </p:stCondLst>
                                        </p:cTn>
                                        <p:tgtEl>
                                          <p:spTgt spid="12"/>
                                        </p:tgtEl>
                                        <p:attrNameLst>
                                          <p:attrName>style.visibility</p:attrName>
                                        </p:attrNameLst>
                                      </p:cBhvr>
                                      <p:to>
                                        <p:strVal val="visible"/>
                                      </p:to>
                                    </p:set>
                                    <p:anim calcmode="lin" valueType="num">
                                      <p:cBhvr additive="base">
                                        <p:cTn id="32" dur="900" fill="hold"/>
                                        <p:tgtEl>
                                          <p:spTgt spid="12"/>
                                        </p:tgtEl>
                                        <p:attrNameLst>
                                          <p:attrName>ppt_x</p:attrName>
                                        </p:attrNameLst>
                                      </p:cBhvr>
                                      <p:tavLst>
                                        <p:tav tm="0">
                                          <p:val>
                                            <p:strVal val="#ppt_x-0.025"/>
                                          </p:val>
                                        </p:tav>
                                        <p:tav tm="100000">
                                          <p:val>
                                            <p:strVal val="#ppt_x"/>
                                          </p:val>
                                        </p:tav>
                                      </p:tavLst>
                                    </p:anim>
                                    <p:animEffect transition="in" filter="fade">
                                      <p:cBhvr>
                                        <p:cTn id="33" dur="900"/>
                                        <p:tgtEl>
                                          <p:spTgt spid="12"/>
                                        </p:tgtEl>
                                      </p:cBhvr>
                                    </p:animEffect>
                                  </p:childTnLst>
                                </p:cTn>
                              </p:par>
                              <p:par>
                                <p:cTn id="37" presetID="10" presetClass="entr" presetSubtype="0" fill="hold" decel="100000" nodeType="withEffect">
                                  <p:stCondLst>
                                    <p:cond delay="700"/>
                                  </p:stCondLst>
                                  <p:childTnLst>
                                    <p:set>
                                      <p:cBhvr>
                                        <p:cTn id="38" dur="1" fill="hold">
                                          <p:stCondLst>
                                            <p:cond delay="0"/>
                                          </p:stCondLst>
                                        </p:cTn>
                                        <p:tgtEl>
                                          <p:spTgt spid="13"/>
                                        </p:tgtEl>
                                        <p:attrNameLst>
                                          <p:attrName>style.visibility</p:attrName>
                                        </p:attrNameLst>
                                      </p:cBhvr>
                                      <p:to>
                                        <p:strVal val="visible"/>
                                      </p:to>
                                    </p:set>
                                    <p:animEffect transition="in" filter="fade">
                                      <p:cBhvr>
                                        <p:cTn id="36" dur="900"/>
                                        <p:tgtEl>
                                          <p:spTgt spid="13"/>
                                        </p:tgtEl>
                                      </p:cBhvr>
                                    </p:animEffect>
                                  </p:childTnLst>
                                </p:cTn>
                              </p:par>
                              <p:par>
                                <p:cTn id="41" presetID="2" presetClass="entr" presetSubtype="4" fill="hold" decel="100000" nodeType="withEffect">
                                  <p:stCondLst>
                                    <p:cond delay="900"/>
                                  </p:stCondLst>
                                  <p:childTnLst>
                                    <p:set>
                                      <p:cBhvr>
                                        <p:cTn id="42" dur="1" fill="hold">
                                          <p:stCondLst>
                                            <p:cond delay="0"/>
                                          </p:stCondLst>
                                        </p:cTn>
                                        <p:tgtEl>
                                          <p:spTgt spid="14"/>
                                        </p:tgtEl>
                                        <p:attrNameLst>
                                          <p:attrName>style.visibility</p:attrName>
                                        </p:attrNameLst>
                                      </p:cBhvr>
                                      <p:to>
                                        <p:strVal val="visible"/>
                                      </p:to>
                                    </p:set>
                                    <p:anim calcmode="lin" valueType="num">
                                      <p:cBhvr additive="base">
                                        <p:cTn id="39" dur="900" fill="hold"/>
                                        <p:tgtEl>
                                          <p:spTgt spid="14"/>
                                        </p:tgtEl>
                                        <p:attrNameLst>
                                          <p:attrName>ppt_y</p:attrName>
                                        </p:attrNameLst>
                                      </p:cBhvr>
                                      <p:tavLst>
                                        <p:tav tm="0">
                                          <p:val>
                                            <p:strVal val="#ppt_y+0.03"/>
                                          </p:val>
                                        </p:tav>
                                        <p:tav tm="100000">
                                          <p:val>
                                            <p:strVal val="#ppt_y"/>
                                          </p:val>
                                        </p:tav>
                                      </p:tavLst>
                                    </p:anim>
                                    <p:animEffect transition="in" filter="fade">
                                      <p:cBhvr>
                                        <p:cTn id="40" dur="900"/>
                                        <p:tgtEl>
                                          <p:spTgt spid="14"/>
                                        </p:tgtEl>
                                      </p:cBhvr>
                                    </p:animEffect>
                                  </p:childTnLst>
                                </p:cTn>
                              </p:par>
                              <p:par>
                                <p:cTn id="45" presetID="2" presetClass="entr" presetSubtype="4" fill="hold" decel="100000" nodeType="withEffect">
                                  <p:stCondLst>
                                    <p:cond delay="1150"/>
                                  </p:stCondLst>
                                  <p:childTnLst>
                                    <p:set>
                                      <p:cBhvr>
                                        <p:cTn id="46" dur="1" fill="hold">
                                          <p:stCondLst>
                                            <p:cond delay="0"/>
                                          </p:stCondLst>
                                        </p:cTn>
                                        <p:tgtEl>
                                          <p:spTgt spid="15"/>
                                        </p:tgtEl>
                                        <p:attrNameLst>
                                          <p:attrName>style.visibility</p:attrName>
                                        </p:attrNameLst>
                                      </p:cBhvr>
                                      <p:to>
                                        <p:strVal val="visible"/>
                                      </p:to>
                                    </p:set>
                                    <p:anim calcmode="lin" valueType="num">
                                      <p:cBhvr additive="base">
                                        <p:cTn id="43" dur="900" fill="hold"/>
                                        <p:tgtEl>
                                          <p:spTgt spid="15"/>
                                        </p:tgtEl>
                                        <p:attrNameLst>
                                          <p:attrName>ppt_y</p:attrName>
                                        </p:attrNameLst>
                                      </p:cBhvr>
                                      <p:tavLst>
                                        <p:tav tm="0">
                                          <p:val>
                                            <p:strVal val="#ppt_y+0.03"/>
                                          </p:val>
                                        </p:tav>
                                        <p:tav tm="100000">
                                          <p:val>
                                            <p:strVal val="#ppt_y"/>
                                          </p:val>
                                        </p:tav>
                                      </p:tavLst>
                                    </p:anim>
                                    <p:animEffect transition="in" filter="fade">
                                      <p:cBhvr>
                                        <p:cTn id="44" dur="9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ground" descr="The problem slide background"/>
          <p:cNvPicPr>
            <a:picLocks noChangeAspect="1"/>
          </p:cNvPicPr>
          <p:nvPr/>
        </p:nvPicPr>
        <p:blipFill>
          <a:blip r:embed="rId2"/>
          <a:stretch>
            <a:fillRect/>
          </a:stretch>
        </p:blipFill>
        <p:spPr>
          <a:xfrm>
            <a:off x="0" y="0"/>
            <a:ext cx="12192000" cy="6858000"/>
          </a:xfrm>
          <a:prstGeom prst="rect">
            <a:avLst/>
          </a:prstGeom>
        </p:spPr>
      </p:pic>
      <p:pic>
        <p:nvPicPr>
          <p:cNvPr id="3" name="00 fade · Cited · FAO / UNEP 2024 · Qata" descr="Cited · FAO / UNEP 2024 · Qatar NFSS 2030"/>
          <p:cNvPicPr>
            <a:picLocks noChangeAspect="1"/>
          </p:cNvPicPr>
          <p:nvPr/>
        </p:nvPicPr>
        <p:blipFill>
          <a:blip r:embed="rId3"/>
          <a:stretch>
            <a:fillRect/>
          </a:stretch>
        </p:blipFill>
        <p:spPr>
          <a:xfrm>
            <a:off x="7689850" y="558800"/>
            <a:ext cx="3841750" cy="546100"/>
          </a:xfrm>
          <a:prstGeom prst="rect">
            <a:avLst/>
          </a:prstGeom>
        </p:spPr>
      </p:pic>
      <p:pic>
        <p:nvPicPr>
          <p:cNvPr id="4" name="01 fade · 02The problem" descr="02The problem"/>
          <p:cNvPicPr>
            <a:picLocks noChangeAspect="1"/>
          </p:cNvPicPr>
          <p:nvPr/>
        </p:nvPicPr>
        <p:blipFill>
          <a:blip r:embed="rId4"/>
          <a:stretch>
            <a:fillRect/>
          </a:stretch>
        </p:blipFill>
        <p:spPr>
          <a:xfrm>
            <a:off x="660400" y="609600"/>
            <a:ext cx="10871200" cy="444500"/>
          </a:xfrm>
          <a:prstGeom prst="rect">
            <a:avLst/>
          </a:prstGeom>
        </p:spPr>
      </p:pic>
      <p:pic>
        <p:nvPicPr>
          <p:cNvPr id="5" name="02 up · A third of our food never gets" descr="A third of our food never gets eaten."/>
          <p:cNvPicPr>
            <a:picLocks noChangeAspect="1"/>
          </p:cNvPicPr>
          <p:nvPr/>
        </p:nvPicPr>
        <p:blipFill>
          <a:blip r:embed="rId5"/>
          <a:stretch>
            <a:fillRect/>
          </a:stretch>
        </p:blipFill>
        <p:spPr>
          <a:xfrm>
            <a:off x="660400" y="977900"/>
            <a:ext cx="9829800" cy="838200"/>
          </a:xfrm>
          <a:prstGeom prst="rect">
            <a:avLst/>
          </a:prstGeom>
        </p:spPr>
      </p:pic>
      <p:pic>
        <p:nvPicPr>
          <p:cNvPr id="6" name="03 up · 12.3SDG 12.3 · halve food wast" descr="12.3SDG 12.3 · halve food waste, cut supply-chain loss 2SDG 2 · zero hunger 13SDG 13 · climate action"/>
          <p:cNvPicPr>
            <a:picLocks noChangeAspect="1"/>
          </p:cNvPicPr>
          <p:nvPr/>
        </p:nvPicPr>
        <p:blipFill>
          <a:blip r:embed="rId6"/>
          <a:stretch>
            <a:fillRect/>
          </a:stretch>
        </p:blipFill>
        <p:spPr>
          <a:xfrm>
            <a:off x="660400" y="1733550"/>
            <a:ext cx="10871200" cy="742950"/>
          </a:xfrm>
          <a:prstGeom prst="rect">
            <a:avLst/>
          </a:prstGeom>
        </p:spPr>
      </p:pic>
      <p:pic>
        <p:nvPicPr>
          <p:cNvPr id="7" name="04 up · Today's systems raise an alarm" descr="Today's systems raise an alarm. None of them says how much value is left."/>
          <p:cNvPicPr>
            <a:picLocks noChangeAspect="1"/>
          </p:cNvPicPr>
          <p:nvPr/>
        </p:nvPicPr>
        <p:blipFill>
          <a:blip r:embed="rId7"/>
          <a:stretch>
            <a:fillRect/>
          </a:stretch>
        </p:blipFill>
        <p:spPr>
          <a:xfrm>
            <a:off x="660400" y="2393950"/>
            <a:ext cx="8686800" cy="615950"/>
          </a:xfrm>
          <a:prstGeom prst="rect">
            <a:avLst/>
          </a:prstGeom>
        </p:spPr>
      </p:pic>
      <p:pic>
        <p:nvPicPr>
          <p:cNvPr id="8" name="05 up · 13% of food is lost between ha" descr="13% of food is lost between harvest and retail."/>
          <p:cNvPicPr>
            <a:picLocks noChangeAspect="1"/>
          </p:cNvPicPr>
          <p:nvPr/>
        </p:nvPicPr>
        <p:blipFill>
          <a:blip r:embed="rId8"/>
          <a:stretch>
            <a:fillRect/>
          </a:stretch>
        </p:blipFill>
        <p:spPr>
          <a:xfrm>
            <a:off x="660400" y="4222750"/>
            <a:ext cx="2755900" cy="1898650"/>
          </a:xfrm>
          <a:prstGeom prst="rect">
            <a:avLst/>
          </a:prstGeom>
        </p:spPr>
      </p:pic>
      <p:pic>
        <p:nvPicPr>
          <p:cNvPr id="9" name="06 grow · graphic" descr=""/>
          <p:cNvPicPr>
            <a:picLocks noChangeAspect="1"/>
          </p:cNvPicPr>
          <p:nvPr/>
        </p:nvPicPr>
        <p:blipFill>
          <a:blip r:embed="rId9"/>
          <a:stretch>
            <a:fillRect/>
          </a:stretch>
        </p:blipFill>
        <p:spPr>
          <a:xfrm>
            <a:off x="660400" y="5137150"/>
            <a:ext cx="628650" cy="374650"/>
          </a:xfrm>
          <a:prstGeom prst="rect">
            <a:avLst/>
          </a:prstGeom>
        </p:spPr>
      </p:pic>
      <p:pic>
        <p:nvPicPr>
          <p:cNvPr id="10" name="07 up · 19% more is wasted after it re" descr="19% more is wasted after it reaches retail and homes."/>
          <p:cNvPicPr>
            <a:picLocks noChangeAspect="1"/>
          </p:cNvPicPr>
          <p:nvPr/>
        </p:nvPicPr>
        <p:blipFill>
          <a:blip r:embed="rId10"/>
          <a:stretch>
            <a:fillRect/>
          </a:stretch>
        </p:blipFill>
        <p:spPr>
          <a:xfrm>
            <a:off x="3365500" y="4222750"/>
            <a:ext cx="2755900" cy="1898650"/>
          </a:xfrm>
          <a:prstGeom prst="rect">
            <a:avLst/>
          </a:prstGeom>
        </p:spPr>
      </p:pic>
      <p:pic>
        <p:nvPicPr>
          <p:cNvPr id="11" name="08 grow · graphic" descr=""/>
          <p:cNvPicPr>
            <a:picLocks noChangeAspect="1"/>
          </p:cNvPicPr>
          <p:nvPr/>
        </p:nvPicPr>
        <p:blipFill>
          <a:blip r:embed="rId11"/>
          <a:stretch>
            <a:fillRect/>
          </a:stretch>
        </p:blipFill>
        <p:spPr>
          <a:xfrm>
            <a:off x="3365500" y="5137150"/>
            <a:ext cx="774700" cy="374650"/>
          </a:xfrm>
          <a:prstGeom prst="rect">
            <a:avLst/>
          </a:prstGeom>
        </p:spPr>
      </p:pic>
      <p:pic>
        <p:nvPicPr>
          <p:cNvPr id="12" name="09 up · 45 °C Qatar summers. A failing" descr="45 °C Qatar summers. A failing fridge spoils a load in hours."/>
          <p:cNvPicPr>
            <a:picLocks noChangeAspect="1"/>
          </p:cNvPicPr>
          <p:nvPr/>
        </p:nvPicPr>
        <p:blipFill>
          <a:blip r:embed="rId12"/>
          <a:stretch>
            <a:fillRect/>
          </a:stretch>
        </p:blipFill>
        <p:spPr>
          <a:xfrm>
            <a:off x="6070600" y="4222750"/>
            <a:ext cx="2755900" cy="1898650"/>
          </a:xfrm>
          <a:prstGeom prst="rect">
            <a:avLst/>
          </a:prstGeom>
        </p:spPr>
      </p:pic>
      <p:pic>
        <p:nvPicPr>
          <p:cNvPr id="13" name="10 grow · graphic" descr=""/>
          <p:cNvPicPr>
            <a:picLocks noChangeAspect="1"/>
          </p:cNvPicPr>
          <p:nvPr/>
        </p:nvPicPr>
        <p:blipFill>
          <a:blip r:embed="rId13"/>
          <a:stretch>
            <a:fillRect/>
          </a:stretch>
        </p:blipFill>
        <p:spPr>
          <a:xfrm>
            <a:off x="6070600" y="5137150"/>
            <a:ext cx="2514600" cy="374650"/>
          </a:xfrm>
          <a:prstGeom prst="rect">
            <a:avLst/>
          </a:prstGeom>
        </p:spPr>
      </p:pic>
      <p:pic>
        <p:nvPicPr>
          <p:cNvPr id="14" name="11 up · −30% food-loss target in Qatar" descr="−30% food-loss target in Qatar's food security strategy 2030."/>
          <p:cNvPicPr>
            <a:picLocks noChangeAspect="1"/>
          </p:cNvPicPr>
          <p:nvPr/>
        </p:nvPicPr>
        <p:blipFill>
          <a:blip r:embed="rId14"/>
          <a:stretch>
            <a:fillRect/>
          </a:stretch>
        </p:blipFill>
        <p:spPr>
          <a:xfrm>
            <a:off x="8775700" y="4222750"/>
            <a:ext cx="2755900" cy="1898650"/>
          </a:xfrm>
          <a:prstGeom prst="rect">
            <a:avLst/>
          </a:prstGeom>
        </p:spPr>
      </p:pic>
      <p:pic>
        <p:nvPicPr>
          <p:cNvPr id="15" name="12 grow · graphic" descr=""/>
          <p:cNvPicPr>
            <a:picLocks noChangeAspect="1"/>
          </p:cNvPicPr>
          <p:nvPr/>
        </p:nvPicPr>
        <p:blipFill>
          <a:blip r:embed="rId15"/>
          <a:stretch>
            <a:fillRect/>
          </a:stretch>
        </p:blipFill>
        <p:spPr>
          <a:xfrm>
            <a:off x="8775700" y="5137150"/>
            <a:ext cx="1041400" cy="37465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4" presetID="10" presetClass="entr" presetSubtype="0" fill="hold" decel="100000" nodeType="withEffect">
                                  <p:stCondLst>
                                    <p:cond delay="200"/>
                                  </p:stCondLst>
                                  <p:childTnLst>
                                    <p:set>
                                      <p:cBhvr>
                                        <p:cTn id="5" dur="1" fill="hold">
                                          <p:stCondLst>
                                            <p:cond delay="0"/>
                                          </p:stCondLst>
                                        </p:cTn>
                                        <p:tgtEl>
                                          <p:spTgt spid="3"/>
                                        </p:tgtEl>
                                        <p:attrNameLst>
                                          <p:attrName>style.visibility</p:attrName>
                                        </p:attrNameLst>
                                      </p:cBhvr>
                                      <p:to>
                                        <p:strVal val="visible"/>
                                      </p:to>
                                    </p:set>
                                    <p:animEffect transition="in" filter="fade">
                                      <p:cBhvr>
                                        <p:cTn id="3" dur="900"/>
                                        <p:tgtEl>
                                          <p:spTgt spid="3"/>
                                        </p:tgtEl>
                                      </p:cBhvr>
                                    </p:animEffect>
                                  </p:childTnLst>
                                </p:cTn>
                              </p:par>
                              <p:par>
                                <p:cTn id="7" presetID="10" presetClass="entr" presetSubtype="0" fill="hold" decel="100000" nodeType="withEffect">
                                  <p:stCondLst>
                                    <p:cond delay="0"/>
                                  </p:stCondLst>
                                  <p:childTnLst>
                                    <p:set>
                                      <p:cBhvr>
                                        <p:cTn id="8" dur="1" fill="hold">
                                          <p:stCondLst>
                                            <p:cond delay="0"/>
                                          </p:stCondLst>
                                        </p:cTn>
                                        <p:tgtEl>
                                          <p:spTgt spid="4"/>
                                        </p:tgtEl>
                                        <p:attrNameLst>
                                          <p:attrName>style.visibility</p:attrName>
                                        </p:attrNameLst>
                                      </p:cBhvr>
                                      <p:to>
                                        <p:strVal val="visible"/>
                                      </p:to>
                                    </p:set>
                                    <p:animEffect transition="in" filter="fade">
                                      <p:cBhvr>
                                        <p:cTn id="6" dur="900"/>
                                        <p:tgtEl>
                                          <p:spTgt spid="4"/>
                                        </p:tgtEl>
                                      </p:cBhvr>
                                    </p:animEffect>
                                  </p:childTnLst>
                                </p:cTn>
                              </p:par>
                              <p:par>
                                <p:cTn id="11" presetID="2" presetClass="entr" presetSubtype="4" fill="hold" decel="100000" nodeType="withEffect">
                                  <p:stCondLst>
                                    <p:cond delay="120"/>
                                  </p:stCondLst>
                                  <p:childTnLst>
                                    <p:set>
                                      <p:cBhvr>
                                        <p:cTn id="12" dur="1" fill="hold">
                                          <p:stCondLst>
                                            <p:cond delay="0"/>
                                          </p:stCondLst>
                                        </p:cTn>
                                        <p:tgtEl>
                                          <p:spTgt spid="5"/>
                                        </p:tgtEl>
                                        <p:attrNameLst>
                                          <p:attrName>style.visibility</p:attrName>
                                        </p:attrNameLst>
                                      </p:cBhvr>
                                      <p:to>
                                        <p:strVal val="visible"/>
                                      </p:to>
                                    </p:set>
                                    <p:anim calcmode="lin" valueType="num">
                                      <p:cBhvr additive="base">
                                        <p:cTn id="9" dur="900" fill="hold"/>
                                        <p:tgtEl>
                                          <p:spTgt spid="5"/>
                                        </p:tgtEl>
                                        <p:attrNameLst>
                                          <p:attrName>ppt_y</p:attrName>
                                        </p:attrNameLst>
                                      </p:cBhvr>
                                      <p:tavLst>
                                        <p:tav tm="0">
                                          <p:val>
                                            <p:strVal val="#ppt_y+0.03"/>
                                          </p:val>
                                        </p:tav>
                                        <p:tav tm="100000">
                                          <p:val>
                                            <p:strVal val="#ppt_y"/>
                                          </p:val>
                                        </p:tav>
                                      </p:tavLst>
                                    </p:anim>
                                    <p:animEffect transition="in" filter="fade">
                                      <p:cBhvr>
                                        <p:cTn id="10" dur="900"/>
                                        <p:tgtEl>
                                          <p:spTgt spid="5"/>
                                        </p:tgtEl>
                                      </p:cBhvr>
                                    </p:animEffect>
                                  </p:childTnLst>
                                </p:cTn>
                              </p:par>
                              <p:par>
                                <p:cTn id="15" presetID="2" presetClass="entr" presetSubtype="4" fill="hold" decel="100000" nodeType="withEffect">
                                  <p:stCondLst>
                                    <p:cond delay="260"/>
                                  </p:stCondLst>
                                  <p:childTnLst>
                                    <p:set>
                                      <p:cBhvr>
                                        <p:cTn id="16" dur="1" fill="hold">
                                          <p:stCondLst>
                                            <p:cond delay="0"/>
                                          </p:stCondLst>
                                        </p:cTn>
                                        <p:tgtEl>
                                          <p:spTgt spid="6"/>
                                        </p:tgtEl>
                                        <p:attrNameLst>
                                          <p:attrName>style.visibility</p:attrName>
                                        </p:attrNameLst>
                                      </p:cBhvr>
                                      <p:to>
                                        <p:strVal val="visible"/>
                                      </p:to>
                                    </p:set>
                                    <p:anim calcmode="lin" valueType="num">
                                      <p:cBhvr additive="base">
                                        <p:cTn id="13" dur="900" fill="hold"/>
                                        <p:tgtEl>
                                          <p:spTgt spid="6"/>
                                        </p:tgtEl>
                                        <p:attrNameLst>
                                          <p:attrName>ppt_y</p:attrName>
                                        </p:attrNameLst>
                                      </p:cBhvr>
                                      <p:tavLst>
                                        <p:tav tm="0">
                                          <p:val>
                                            <p:strVal val="#ppt_y+0.03"/>
                                          </p:val>
                                        </p:tav>
                                        <p:tav tm="100000">
                                          <p:val>
                                            <p:strVal val="#ppt_y"/>
                                          </p:val>
                                        </p:tav>
                                      </p:tavLst>
                                    </p:anim>
                                    <p:animEffect transition="in" filter="fade">
                                      <p:cBhvr>
                                        <p:cTn id="14" dur="900"/>
                                        <p:tgtEl>
                                          <p:spTgt spid="6"/>
                                        </p:tgtEl>
                                      </p:cBhvr>
                                    </p:animEffect>
                                  </p:childTnLst>
                                </p:cTn>
                              </p:par>
                              <p:par>
                                <p:cTn id="19" presetID="2" presetClass="entr" presetSubtype="4" fill="hold" decel="100000" nodeType="withEffect">
                                  <p:stCondLst>
                                    <p:cond delay="360"/>
                                  </p:stCondLst>
                                  <p:childTnLst>
                                    <p:set>
                                      <p:cBhvr>
                                        <p:cTn id="20" dur="1" fill="hold">
                                          <p:stCondLst>
                                            <p:cond delay="0"/>
                                          </p:stCondLst>
                                        </p:cTn>
                                        <p:tgtEl>
                                          <p:spTgt spid="7"/>
                                        </p:tgtEl>
                                        <p:attrNameLst>
                                          <p:attrName>style.visibility</p:attrName>
                                        </p:attrNameLst>
                                      </p:cBhvr>
                                      <p:to>
                                        <p:strVal val="visible"/>
                                      </p:to>
                                    </p:set>
                                    <p:anim calcmode="lin" valueType="num">
                                      <p:cBhvr additive="base">
                                        <p:cTn id="17" dur="900" fill="hold"/>
                                        <p:tgtEl>
                                          <p:spTgt spid="7"/>
                                        </p:tgtEl>
                                        <p:attrNameLst>
                                          <p:attrName>ppt_y</p:attrName>
                                        </p:attrNameLst>
                                      </p:cBhvr>
                                      <p:tavLst>
                                        <p:tav tm="0">
                                          <p:val>
                                            <p:strVal val="#ppt_y+0.03"/>
                                          </p:val>
                                        </p:tav>
                                        <p:tav tm="100000">
                                          <p:val>
                                            <p:strVal val="#ppt_y"/>
                                          </p:val>
                                        </p:tav>
                                      </p:tavLst>
                                    </p:anim>
                                    <p:animEffect transition="in" filter="fade">
                                      <p:cBhvr>
                                        <p:cTn id="18" dur="900"/>
                                        <p:tgtEl>
                                          <p:spTgt spid="7"/>
                                        </p:tgtEl>
                                      </p:cBhvr>
                                    </p:animEffect>
                                  </p:childTnLst>
                                </p:cTn>
                              </p:par>
                              <p:par>
                                <p:cTn id="23" presetID="2" presetClass="entr" presetSubtype="4" fill="hold" decel="100000" nodeType="withEffect">
                                  <p:stCondLst>
                                    <p:cond delay="450"/>
                                  </p:stCondLst>
                                  <p:childTnLst>
                                    <p:set>
                                      <p:cBhvr>
                                        <p:cTn id="24" dur="1" fill="hold">
                                          <p:stCondLst>
                                            <p:cond delay="0"/>
                                          </p:stCondLst>
                                        </p:cTn>
                                        <p:tgtEl>
                                          <p:spTgt spid="8"/>
                                        </p:tgtEl>
                                        <p:attrNameLst>
                                          <p:attrName>style.visibility</p:attrName>
                                        </p:attrNameLst>
                                      </p:cBhvr>
                                      <p:to>
                                        <p:strVal val="visible"/>
                                      </p:to>
                                    </p:set>
                                    <p:anim calcmode="lin" valueType="num">
                                      <p:cBhvr additive="base">
                                        <p:cTn id="21" dur="900" fill="hold"/>
                                        <p:tgtEl>
                                          <p:spTgt spid="8"/>
                                        </p:tgtEl>
                                        <p:attrNameLst>
                                          <p:attrName>ppt_y</p:attrName>
                                        </p:attrNameLst>
                                      </p:cBhvr>
                                      <p:tavLst>
                                        <p:tav tm="0">
                                          <p:val>
                                            <p:strVal val="#ppt_y+0.03"/>
                                          </p:val>
                                        </p:tav>
                                        <p:tav tm="100000">
                                          <p:val>
                                            <p:strVal val="#ppt_y"/>
                                          </p:val>
                                        </p:tav>
                                      </p:tavLst>
                                    </p:anim>
                                    <p:animEffect transition="in" filter="fade">
                                      <p:cBhvr>
                                        <p:cTn id="22" dur="900"/>
                                        <p:tgtEl>
                                          <p:spTgt spid="8"/>
                                        </p:tgtEl>
                                      </p:cBhvr>
                                    </p:animEffect>
                                  </p:childTnLst>
                                </p:cTn>
                              </p:par>
                              <p:par>
                                <p:cTn id="26" presetID="22" presetClass="entr" presetSubtype="8" fill="hold" decel="100000" nodeType="withEffect">
                                  <p:stCondLst>
                                    <p:cond delay="550"/>
                                  </p:stCondLst>
                                  <p:childTnLst>
                                    <p:set>
                                      <p:cBhvr>
                                        <p:cTn id="27" dur="1" fill="hold">
                                          <p:stCondLst>
                                            <p:cond delay="0"/>
                                          </p:stCondLst>
                                        </p:cTn>
                                        <p:tgtEl>
                                          <p:spTgt spid="9"/>
                                        </p:tgtEl>
                                        <p:attrNameLst>
                                          <p:attrName>style.visibility</p:attrName>
                                        </p:attrNameLst>
                                      </p:cBhvr>
                                      <p:to>
                                        <p:strVal val="visible"/>
                                      </p:to>
                                    </p:set>
                                    <p:animEffect transition="in" filter="wipe(left)">
                                      <p:cBhvr>
                                        <p:cTn id="25" dur="1400"/>
                                        <p:tgtEl>
                                          <p:spTgt spid="9"/>
                                        </p:tgtEl>
                                      </p:cBhvr>
                                    </p:animEffect>
                                  </p:childTnLst>
                                </p:cTn>
                              </p:par>
                              <p:par>
                                <p:cTn id="30" presetID="2" presetClass="entr" presetSubtype="4" fill="hold" decel="100000" nodeType="withEffect">
                                  <p:stCondLst>
                                    <p:cond delay="600"/>
                                  </p:stCondLst>
                                  <p:childTnLst>
                                    <p:set>
                                      <p:cBhvr>
                                        <p:cTn id="31" dur="1" fill="hold">
                                          <p:stCondLst>
                                            <p:cond delay="0"/>
                                          </p:stCondLst>
                                        </p:cTn>
                                        <p:tgtEl>
                                          <p:spTgt spid="10"/>
                                        </p:tgtEl>
                                        <p:attrNameLst>
                                          <p:attrName>style.visibility</p:attrName>
                                        </p:attrNameLst>
                                      </p:cBhvr>
                                      <p:to>
                                        <p:strVal val="visible"/>
                                      </p:to>
                                    </p:set>
                                    <p:anim calcmode="lin" valueType="num">
                                      <p:cBhvr additive="base">
                                        <p:cTn id="28" dur="900" fill="hold"/>
                                        <p:tgtEl>
                                          <p:spTgt spid="10"/>
                                        </p:tgtEl>
                                        <p:attrNameLst>
                                          <p:attrName>ppt_y</p:attrName>
                                        </p:attrNameLst>
                                      </p:cBhvr>
                                      <p:tavLst>
                                        <p:tav tm="0">
                                          <p:val>
                                            <p:strVal val="#ppt_y+0.03"/>
                                          </p:val>
                                        </p:tav>
                                        <p:tav tm="100000">
                                          <p:val>
                                            <p:strVal val="#ppt_y"/>
                                          </p:val>
                                        </p:tav>
                                      </p:tavLst>
                                    </p:anim>
                                    <p:animEffect transition="in" filter="fade">
                                      <p:cBhvr>
                                        <p:cTn id="29" dur="900"/>
                                        <p:tgtEl>
                                          <p:spTgt spid="10"/>
                                        </p:tgtEl>
                                      </p:cBhvr>
                                    </p:animEffect>
                                  </p:childTnLst>
                                </p:cTn>
                              </p:par>
                              <p:par>
                                <p:cTn id="33" presetID="22" presetClass="entr" presetSubtype="8" fill="hold" decel="100000" nodeType="withEffect">
                                  <p:stCondLst>
                                    <p:cond delay="700"/>
                                  </p:stCondLst>
                                  <p:childTnLst>
                                    <p:set>
                                      <p:cBhvr>
                                        <p:cTn id="34" dur="1" fill="hold">
                                          <p:stCondLst>
                                            <p:cond delay="0"/>
                                          </p:stCondLst>
                                        </p:cTn>
                                        <p:tgtEl>
                                          <p:spTgt spid="11"/>
                                        </p:tgtEl>
                                        <p:attrNameLst>
                                          <p:attrName>style.visibility</p:attrName>
                                        </p:attrNameLst>
                                      </p:cBhvr>
                                      <p:to>
                                        <p:strVal val="visible"/>
                                      </p:to>
                                    </p:set>
                                    <p:animEffect transition="in" filter="wipe(left)">
                                      <p:cBhvr>
                                        <p:cTn id="32" dur="1400"/>
                                        <p:tgtEl>
                                          <p:spTgt spid="11"/>
                                        </p:tgtEl>
                                      </p:cBhvr>
                                    </p:animEffect>
                                  </p:childTnLst>
                                </p:cTn>
                              </p:par>
                              <p:par>
                                <p:cTn id="37" presetID="2" presetClass="entr" presetSubtype="4" fill="hold" decel="100000" nodeType="withEffect">
                                  <p:stCondLst>
                                    <p:cond delay="750"/>
                                  </p:stCondLst>
                                  <p:childTnLst>
                                    <p:set>
                                      <p:cBhvr>
                                        <p:cTn id="38" dur="1" fill="hold">
                                          <p:stCondLst>
                                            <p:cond delay="0"/>
                                          </p:stCondLst>
                                        </p:cTn>
                                        <p:tgtEl>
                                          <p:spTgt spid="12"/>
                                        </p:tgtEl>
                                        <p:attrNameLst>
                                          <p:attrName>style.visibility</p:attrName>
                                        </p:attrNameLst>
                                      </p:cBhvr>
                                      <p:to>
                                        <p:strVal val="visible"/>
                                      </p:to>
                                    </p:set>
                                    <p:anim calcmode="lin" valueType="num">
                                      <p:cBhvr additive="base">
                                        <p:cTn id="35" dur="900" fill="hold"/>
                                        <p:tgtEl>
                                          <p:spTgt spid="12"/>
                                        </p:tgtEl>
                                        <p:attrNameLst>
                                          <p:attrName>ppt_y</p:attrName>
                                        </p:attrNameLst>
                                      </p:cBhvr>
                                      <p:tavLst>
                                        <p:tav tm="0">
                                          <p:val>
                                            <p:strVal val="#ppt_y+0.03"/>
                                          </p:val>
                                        </p:tav>
                                        <p:tav tm="100000">
                                          <p:val>
                                            <p:strVal val="#ppt_y"/>
                                          </p:val>
                                        </p:tav>
                                      </p:tavLst>
                                    </p:anim>
                                    <p:animEffect transition="in" filter="fade">
                                      <p:cBhvr>
                                        <p:cTn id="36" dur="900"/>
                                        <p:tgtEl>
                                          <p:spTgt spid="12"/>
                                        </p:tgtEl>
                                      </p:cBhvr>
                                    </p:animEffect>
                                  </p:childTnLst>
                                </p:cTn>
                              </p:par>
                              <p:par>
                                <p:cTn id="40" presetID="22" presetClass="entr" presetSubtype="8" fill="hold" decel="100000" nodeType="withEffect">
                                  <p:stCondLst>
                                    <p:cond delay="850"/>
                                  </p:stCondLst>
                                  <p:childTnLst>
                                    <p:set>
                                      <p:cBhvr>
                                        <p:cTn id="41" dur="1" fill="hold">
                                          <p:stCondLst>
                                            <p:cond delay="0"/>
                                          </p:stCondLst>
                                        </p:cTn>
                                        <p:tgtEl>
                                          <p:spTgt spid="13"/>
                                        </p:tgtEl>
                                        <p:attrNameLst>
                                          <p:attrName>style.visibility</p:attrName>
                                        </p:attrNameLst>
                                      </p:cBhvr>
                                      <p:to>
                                        <p:strVal val="visible"/>
                                      </p:to>
                                    </p:set>
                                    <p:animEffect transition="in" filter="wipe(left)">
                                      <p:cBhvr>
                                        <p:cTn id="39" dur="1400"/>
                                        <p:tgtEl>
                                          <p:spTgt spid="13"/>
                                        </p:tgtEl>
                                      </p:cBhvr>
                                    </p:animEffect>
                                  </p:childTnLst>
                                </p:cTn>
                              </p:par>
                              <p:par>
                                <p:cTn id="44" presetID="2" presetClass="entr" presetSubtype="4" fill="hold" decel="100000" nodeType="withEffect">
                                  <p:stCondLst>
                                    <p:cond delay="900"/>
                                  </p:stCondLst>
                                  <p:childTnLst>
                                    <p:set>
                                      <p:cBhvr>
                                        <p:cTn id="45" dur="1" fill="hold">
                                          <p:stCondLst>
                                            <p:cond delay="0"/>
                                          </p:stCondLst>
                                        </p:cTn>
                                        <p:tgtEl>
                                          <p:spTgt spid="14"/>
                                        </p:tgtEl>
                                        <p:attrNameLst>
                                          <p:attrName>style.visibility</p:attrName>
                                        </p:attrNameLst>
                                      </p:cBhvr>
                                      <p:to>
                                        <p:strVal val="visible"/>
                                      </p:to>
                                    </p:set>
                                    <p:anim calcmode="lin" valueType="num">
                                      <p:cBhvr additive="base">
                                        <p:cTn id="42" dur="900" fill="hold"/>
                                        <p:tgtEl>
                                          <p:spTgt spid="14"/>
                                        </p:tgtEl>
                                        <p:attrNameLst>
                                          <p:attrName>ppt_y</p:attrName>
                                        </p:attrNameLst>
                                      </p:cBhvr>
                                      <p:tavLst>
                                        <p:tav tm="0">
                                          <p:val>
                                            <p:strVal val="#ppt_y+0.03"/>
                                          </p:val>
                                        </p:tav>
                                        <p:tav tm="100000">
                                          <p:val>
                                            <p:strVal val="#ppt_y"/>
                                          </p:val>
                                        </p:tav>
                                      </p:tavLst>
                                    </p:anim>
                                    <p:animEffect transition="in" filter="fade">
                                      <p:cBhvr>
                                        <p:cTn id="43" dur="900"/>
                                        <p:tgtEl>
                                          <p:spTgt spid="14"/>
                                        </p:tgtEl>
                                      </p:cBhvr>
                                    </p:animEffect>
                                  </p:childTnLst>
                                </p:cTn>
                              </p:par>
                              <p:par>
                                <p:cTn id="47" presetID="22" presetClass="entr" presetSubtype="8" fill="hold" decel="100000" nodeType="withEffect">
                                  <p:stCondLst>
                                    <p:cond delay="1000"/>
                                  </p:stCondLst>
                                  <p:childTnLst>
                                    <p:set>
                                      <p:cBhvr>
                                        <p:cTn id="48" dur="1" fill="hold">
                                          <p:stCondLst>
                                            <p:cond delay="0"/>
                                          </p:stCondLst>
                                        </p:cTn>
                                        <p:tgtEl>
                                          <p:spTgt spid="15"/>
                                        </p:tgtEl>
                                        <p:attrNameLst>
                                          <p:attrName>style.visibility</p:attrName>
                                        </p:attrNameLst>
                                      </p:cBhvr>
                                      <p:to>
                                        <p:strVal val="visible"/>
                                      </p:to>
                                    </p:set>
                                    <p:animEffect transition="in" filter="wipe(left)">
                                      <p:cBhvr>
                                        <p:cTn id="46" dur="14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ground" descr="Why here slide background"/>
          <p:cNvPicPr>
            <a:picLocks noChangeAspect="1"/>
          </p:cNvPicPr>
          <p:nvPr/>
        </p:nvPicPr>
        <p:blipFill>
          <a:blip r:embed="rId2"/>
          <a:stretch>
            <a:fillRect/>
          </a:stretch>
        </p:blipFill>
        <p:spPr>
          <a:xfrm>
            <a:off x="0" y="0"/>
            <a:ext cx="12192000" cy="6858000"/>
          </a:xfrm>
          <a:prstGeom prst="rect">
            <a:avLst/>
          </a:prstGeom>
        </p:spPr>
      </p:pic>
      <p:pic>
        <p:nvPicPr>
          <p:cNvPr id="3" name="00 fade · Cited · TASMU · Qatar National" descr="Cited · TASMU · Qatar National Food Security Strategy"/>
          <p:cNvPicPr>
            <a:picLocks noChangeAspect="1"/>
          </p:cNvPicPr>
          <p:nvPr/>
        </p:nvPicPr>
        <p:blipFill>
          <a:blip r:embed="rId3"/>
          <a:stretch>
            <a:fillRect/>
          </a:stretch>
        </p:blipFill>
        <p:spPr>
          <a:xfrm>
            <a:off x="6756400" y="558800"/>
            <a:ext cx="4775200" cy="546100"/>
          </a:xfrm>
          <a:prstGeom prst="rect">
            <a:avLst/>
          </a:prstGeom>
        </p:spPr>
      </p:pic>
      <p:pic>
        <p:nvPicPr>
          <p:cNvPr id="4" name="01 fade · 03Why here" descr="03Why here"/>
          <p:cNvPicPr>
            <a:picLocks noChangeAspect="1"/>
          </p:cNvPicPr>
          <p:nvPr/>
        </p:nvPicPr>
        <p:blipFill>
          <a:blip r:embed="rId4"/>
          <a:stretch>
            <a:fillRect/>
          </a:stretch>
        </p:blipFill>
        <p:spPr>
          <a:xfrm>
            <a:off x="660400" y="609600"/>
            <a:ext cx="10871200" cy="444500"/>
          </a:xfrm>
          <a:prstGeom prst="rect">
            <a:avLst/>
          </a:prstGeom>
        </p:spPr>
      </p:pic>
      <p:pic>
        <p:nvPicPr>
          <p:cNvPr id="5" name="02 up · An import-dependent region, a " descr="An import-dependent region, a brutal summer."/>
          <p:cNvPicPr>
            <a:picLocks noChangeAspect="1"/>
          </p:cNvPicPr>
          <p:nvPr/>
        </p:nvPicPr>
        <p:blipFill>
          <a:blip r:embed="rId5"/>
          <a:stretch>
            <a:fillRect/>
          </a:stretch>
        </p:blipFill>
        <p:spPr>
          <a:xfrm>
            <a:off x="660400" y="977900"/>
            <a:ext cx="9829800" cy="742950"/>
          </a:xfrm>
          <a:prstGeom prst="rect">
            <a:avLst/>
          </a:prstGeom>
        </p:spPr>
      </p:pic>
      <p:pic>
        <p:nvPicPr>
          <p:cNvPr id="6" name="03 up · Climate and imports Maritime a" descr="Climate and imports Maritime and overland imports, customs holds, border queues and 42 °C afternoons all add thermal debt."/>
          <p:cNvPicPr>
            <a:picLocks noChangeAspect="1"/>
          </p:cNvPicPr>
          <p:nvPr/>
        </p:nvPicPr>
        <p:blipFill>
          <a:blip r:embed="rId6"/>
          <a:stretch>
            <a:fillRect/>
          </a:stretch>
        </p:blipFill>
        <p:spPr>
          <a:xfrm>
            <a:off x="660400" y="1689100"/>
            <a:ext cx="5499100" cy="1835150"/>
          </a:xfrm>
          <a:prstGeom prst="rect">
            <a:avLst/>
          </a:prstGeom>
        </p:spPr>
      </p:pic>
      <p:pic>
        <p:nvPicPr>
          <p:cNvPr id="7" name="04 up · Policy tailwind TASMU National" descr="Policy tailwind TASMU National Food Security Analytics and Qatar's Food Security Strategy target efficient supply chains and less food waste."/>
          <p:cNvPicPr>
            <a:picLocks noChangeAspect="1"/>
          </p:cNvPicPr>
          <p:nvPr/>
        </p:nvPicPr>
        <p:blipFill>
          <a:blip r:embed="rId7"/>
          <a:stretch>
            <a:fillRect/>
          </a:stretch>
        </p:blipFill>
        <p:spPr>
          <a:xfrm>
            <a:off x="6032500" y="1689100"/>
            <a:ext cx="5499100" cy="1835150"/>
          </a:xfrm>
          <a:prstGeom prst="rect">
            <a:avLst/>
          </a:prstGeom>
        </p:spPr>
      </p:pic>
      <p:pic>
        <p:nvPicPr>
          <p:cNvPr id="8" name="05 up · Thermal debt Maritime import+C" descr="Thermal debt Maritime import+Customs hold+Border queue+42 °C afternoon=Lost shelf life"/>
          <p:cNvPicPr>
            <a:picLocks noChangeAspect="1"/>
          </p:cNvPicPr>
          <p:nvPr/>
        </p:nvPicPr>
        <p:blipFill>
          <a:blip r:embed="rId8"/>
          <a:stretch>
            <a:fillRect/>
          </a:stretch>
        </p:blipFill>
        <p:spPr>
          <a:xfrm>
            <a:off x="660400" y="3467100"/>
            <a:ext cx="10871200" cy="679450"/>
          </a:xfrm>
          <a:prstGeom prst="rect">
            <a:avLst/>
          </a:prstGeom>
        </p:spPr>
      </p:pic>
      <p:pic>
        <p:nvPicPr>
          <p:cNvPr id="9" name="06 up · Thermal Trace is the operator-" descr="Thermal Trace is the operator-level layer that complements national systems."/>
          <p:cNvPicPr>
            <a:picLocks noChangeAspect="1"/>
          </p:cNvPicPr>
          <p:nvPr/>
        </p:nvPicPr>
        <p:blipFill>
          <a:blip r:embed="rId9"/>
          <a:stretch>
            <a:fillRect/>
          </a:stretch>
        </p:blipFill>
        <p:spPr>
          <a:xfrm>
            <a:off x="660400" y="4089400"/>
            <a:ext cx="10871200" cy="88265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4" presetID="10" presetClass="entr" presetSubtype="0" fill="hold" decel="100000" nodeType="withEffect">
                                  <p:stCondLst>
                                    <p:cond delay="200"/>
                                  </p:stCondLst>
                                  <p:childTnLst>
                                    <p:set>
                                      <p:cBhvr>
                                        <p:cTn id="5" dur="1" fill="hold">
                                          <p:stCondLst>
                                            <p:cond delay="0"/>
                                          </p:stCondLst>
                                        </p:cTn>
                                        <p:tgtEl>
                                          <p:spTgt spid="3"/>
                                        </p:tgtEl>
                                        <p:attrNameLst>
                                          <p:attrName>style.visibility</p:attrName>
                                        </p:attrNameLst>
                                      </p:cBhvr>
                                      <p:to>
                                        <p:strVal val="visible"/>
                                      </p:to>
                                    </p:set>
                                    <p:animEffect transition="in" filter="fade">
                                      <p:cBhvr>
                                        <p:cTn id="3" dur="900"/>
                                        <p:tgtEl>
                                          <p:spTgt spid="3"/>
                                        </p:tgtEl>
                                      </p:cBhvr>
                                    </p:animEffect>
                                  </p:childTnLst>
                                </p:cTn>
                              </p:par>
                              <p:par>
                                <p:cTn id="7" presetID="10" presetClass="entr" presetSubtype="0" fill="hold" decel="100000" nodeType="withEffect">
                                  <p:stCondLst>
                                    <p:cond delay="0"/>
                                  </p:stCondLst>
                                  <p:childTnLst>
                                    <p:set>
                                      <p:cBhvr>
                                        <p:cTn id="8" dur="1" fill="hold">
                                          <p:stCondLst>
                                            <p:cond delay="0"/>
                                          </p:stCondLst>
                                        </p:cTn>
                                        <p:tgtEl>
                                          <p:spTgt spid="4"/>
                                        </p:tgtEl>
                                        <p:attrNameLst>
                                          <p:attrName>style.visibility</p:attrName>
                                        </p:attrNameLst>
                                      </p:cBhvr>
                                      <p:to>
                                        <p:strVal val="visible"/>
                                      </p:to>
                                    </p:set>
                                    <p:animEffect transition="in" filter="fade">
                                      <p:cBhvr>
                                        <p:cTn id="6" dur="900"/>
                                        <p:tgtEl>
                                          <p:spTgt spid="4"/>
                                        </p:tgtEl>
                                      </p:cBhvr>
                                    </p:animEffect>
                                  </p:childTnLst>
                                </p:cTn>
                              </p:par>
                              <p:par>
                                <p:cTn id="11" presetID="2" presetClass="entr" presetSubtype="4" fill="hold" decel="100000" nodeType="withEffect">
                                  <p:stCondLst>
                                    <p:cond delay="120"/>
                                  </p:stCondLst>
                                  <p:childTnLst>
                                    <p:set>
                                      <p:cBhvr>
                                        <p:cTn id="12" dur="1" fill="hold">
                                          <p:stCondLst>
                                            <p:cond delay="0"/>
                                          </p:stCondLst>
                                        </p:cTn>
                                        <p:tgtEl>
                                          <p:spTgt spid="5"/>
                                        </p:tgtEl>
                                        <p:attrNameLst>
                                          <p:attrName>style.visibility</p:attrName>
                                        </p:attrNameLst>
                                      </p:cBhvr>
                                      <p:to>
                                        <p:strVal val="visible"/>
                                      </p:to>
                                    </p:set>
                                    <p:anim calcmode="lin" valueType="num">
                                      <p:cBhvr additive="base">
                                        <p:cTn id="9" dur="900" fill="hold"/>
                                        <p:tgtEl>
                                          <p:spTgt spid="5"/>
                                        </p:tgtEl>
                                        <p:attrNameLst>
                                          <p:attrName>ppt_y</p:attrName>
                                        </p:attrNameLst>
                                      </p:cBhvr>
                                      <p:tavLst>
                                        <p:tav tm="0">
                                          <p:val>
                                            <p:strVal val="#ppt_y+0.03"/>
                                          </p:val>
                                        </p:tav>
                                        <p:tav tm="100000">
                                          <p:val>
                                            <p:strVal val="#ppt_y"/>
                                          </p:val>
                                        </p:tav>
                                      </p:tavLst>
                                    </p:anim>
                                    <p:animEffect transition="in" filter="fade">
                                      <p:cBhvr>
                                        <p:cTn id="10" dur="900"/>
                                        <p:tgtEl>
                                          <p:spTgt spid="5"/>
                                        </p:tgtEl>
                                      </p:cBhvr>
                                    </p:animEffect>
                                  </p:childTnLst>
                                </p:cTn>
                              </p:par>
                              <p:par>
                                <p:cTn id="15" presetID="2" presetClass="entr" presetSubtype="4" fill="hold" decel="100000" nodeType="withEffect">
                                  <p:stCondLst>
                                    <p:cond delay="300"/>
                                  </p:stCondLst>
                                  <p:childTnLst>
                                    <p:set>
                                      <p:cBhvr>
                                        <p:cTn id="16" dur="1" fill="hold">
                                          <p:stCondLst>
                                            <p:cond delay="0"/>
                                          </p:stCondLst>
                                        </p:cTn>
                                        <p:tgtEl>
                                          <p:spTgt spid="6"/>
                                        </p:tgtEl>
                                        <p:attrNameLst>
                                          <p:attrName>style.visibility</p:attrName>
                                        </p:attrNameLst>
                                      </p:cBhvr>
                                      <p:to>
                                        <p:strVal val="visible"/>
                                      </p:to>
                                    </p:set>
                                    <p:anim calcmode="lin" valueType="num">
                                      <p:cBhvr additive="base">
                                        <p:cTn id="13" dur="900" fill="hold"/>
                                        <p:tgtEl>
                                          <p:spTgt spid="6"/>
                                        </p:tgtEl>
                                        <p:attrNameLst>
                                          <p:attrName>ppt_y</p:attrName>
                                        </p:attrNameLst>
                                      </p:cBhvr>
                                      <p:tavLst>
                                        <p:tav tm="0">
                                          <p:val>
                                            <p:strVal val="#ppt_y+0.03"/>
                                          </p:val>
                                        </p:tav>
                                        <p:tav tm="100000">
                                          <p:val>
                                            <p:strVal val="#ppt_y"/>
                                          </p:val>
                                        </p:tav>
                                      </p:tavLst>
                                    </p:anim>
                                    <p:animEffect transition="in" filter="fade">
                                      <p:cBhvr>
                                        <p:cTn id="14" dur="900"/>
                                        <p:tgtEl>
                                          <p:spTgt spid="6"/>
                                        </p:tgtEl>
                                      </p:cBhvr>
                                    </p:animEffect>
                                  </p:childTnLst>
                                </p:cTn>
                              </p:par>
                              <p:par>
                                <p:cTn id="19" presetID="2" presetClass="entr" presetSubtype="4" fill="hold" decel="100000" nodeType="withEffect">
                                  <p:stCondLst>
                                    <p:cond delay="420"/>
                                  </p:stCondLst>
                                  <p:childTnLst>
                                    <p:set>
                                      <p:cBhvr>
                                        <p:cTn id="20" dur="1" fill="hold">
                                          <p:stCondLst>
                                            <p:cond delay="0"/>
                                          </p:stCondLst>
                                        </p:cTn>
                                        <p:tgtEl>
                                          <p:spTgt spid="7"/>
                                        </p:tgtEl>
                                        <p:attrNameLst>
                                          <p:attrName>style.visibility</p:attrName>
                                        </p:attrNameLst>
                                      </p:cBhvr>
                                      <p:to>
                                        <p:strVal val="visible"/>
                                      </p:to>
                                    </p:set>
                                    <p:anim calcmode="lin" valueType="num">
                                      <p:cBhvr additive="base">
                                        <p:cTn id="17" dur="900" fill="hold"/>
                                        <p:tgtEl>
                                          <p:spTgt spid="7"/>
                                        </p:tgtEl>
                                        <p:attrNameLst>
                                          <p:attrName>ppt_y</p:attrName>
                                        </p:attrNameLst>
                                      </p:cBhvr>
                                      <p:tavLst>
                                        <p:tav tm="0">
                                          <p:val>
                                            <p:strVal val="#ppt_y+0.03"/>
                                          </p:val>
                                        </p:tav>
                                        <p:tav tm="100000">
                                          <p:val>
                                            <p:strVal val="#ppt_y"/>
                                          </p:val>
                                        </p:tav>
                                      </p:tavLst>
                                    </p:anim>
                                    <p:animEffect transition="in" filter="fade">
                                      <p:cBhvr>
                                        <p:cTn id="18" dur="900"/>
                                        <p:tgtEl>
                                          <p:spTgt spid="7"/>
                                        </p:tgtEl>
                                      </p:cBhvr>
                                    </p:animEffect>
                                  </p:childTnLst>
                                </p:cTn>
                              </p:par>
                              <p:par>
                                <p:cTn id="23" presetID="2" presetClass="entr" presetSubtype="4" fill="hold" decel="100000" nodeType="withEffect">
                                  <p:stCondLst>
                                    <p:cond delay="650"/>
                                  </p:stCondLst>
                                  <p:childTnLst>
                                    <p:set>
                                      <p:cBhvr>
                                        <p:cTn id="24" dur="1" fill="hold">
                                          <p:stCondLst>
                                            <p:cond delay="0"/>
                                          </p:stCondLst>
                                        </p:cTn>
                                        <p:tgtEl>
                                          <p:spTgt spid="8"/>
                                        </p:tgtEl>
                                        <p:attrNameLst>
                                          <p:attrName>style.visibility</p:attrName>
                                        </p:attrNameLst>
                                      </p:cBhvr>
                                      <p:to>
                                        <p:strVal val="visible"/>
                                      </p:to>
                                    </p:set>
                                    <p:anim calcmode="lin" valueType="num">
                                      <p:cBhvr additive="base">
                                        <p:cTn id="21" dur="900" fill="hold"/>
                                        <p:tgtEl>
                                          <p:spTgt spid="8"/>
                                        </p:tgtEl>
                                        <p:attrNameLst>
                                          <p:attrName>ppt_y</p:attrName>
                                        </p:attrNameLst>
                                      </p:cBhvr>
                                      <p:tavLst>
                                        <p:tav tm="0">
                                          <p:val>
                                            <p:strVal val="#ppt_y+0.03"/>
                                          </p:val>
                                        </p:tav>
                                        <p:tav tm="100000">
                                          <p:val>
                                            <p:strVal val="#ppt_y"/>
                                          </p:val>
                                        </p:tav>
                                      </p:tavLst>
                                    </p:anim>
                                    <p:animEffect transition="in" filter="fade">
                                      <p:cBhvr>
                                        <p:cTn id="22" dur="900"/>
                                        <p:tgtEl>
                                          <p:spTgt spid="8"/>
                                        </p:tgtEl>
                                      </p:cBhvr>
                                    </p:animEffect>
                                  </p:childTnLst>
                                </p:cTn>
                              </p:par>
                              <p:par>
                                <p:cTn id="27" presetID="2" presetClass="entr" presetSubtype="4" fill="hold" decel="100000" nodeType="withEffect">
                                  <p:stCondLst>
                                    <p:cond delay="850"/>
                                  </p:stCondLst>
                                  <p:childTnLst>
                                    <p:set>
                                      <p:cBhvr>
                                        <p:cTn id="28" dur="1" fill="hold">
                                          <p:stCondLst>
                                            <p:cond delay="0"/>
                                          </p:stCondLst>
                                        </p:cTn>
                                        <p:tgtEl>
                                          <p:spTgt spid="9"/>
                                        </p:tgtEl>
                                        <p:attrNameLst>
                                          <p:attrName>style.visibility</p:attrName>
                                        </p:attrNameLst>
                                      </p:cBhvr>
                                      <p:to>
                                        <p:strVal val="visible"/>
                                      </p:to>
                                    </p:set>
                                    <p:anim calcmode="lin" valueType="num">
                                      <p:cBhvr additive="base">
                                        <p:cTn id="25" dur="900" fill="hold"/>
                                        <p:tgtEl>
                                          <p:spTgt spid="9"/>
                                        </p:tgtEl>
                                        <p:attrNameLst>
                                          <p:attrName>ppt_y</p:attrName>
                                        </p:attrNameLst>
                                      </p:cBhvr>
                                      <p:tavLst>
                                        <p:tav tm="0">
                                          <p:val>
                                            <p:strVal val="#ppt_y+0.03"/>
                                          </p:val>
                                        </p:tav>
                                        <p:tav tm="100000">
                                          <p:val>
                                            <p:strVal val="#ppt_y"/>
                                          </p:val>
                                        </p:tav>
                                      </p:tavLst>
                                    </p:anim>
                                    <p:animEffect transition="in" filter="fade">
                                      <p:cBhvr>
                                        <p:cTn id="26" dur="9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ground" descr="Redefining the perishable asset slide background"/>
          <p:cNvPicPr>
            <a:picLocks noChangeAspect="1"/>
          </p:cNvPicPr>
          <p:nvPr/>
        </p:nvPicPr>
        <p:blipFill>
          <a:blip r:embed="rId2"/>
          <a:stretch>
            <a:fillRect/>
          </a:stretch>
        </p:blipFill>
        <p:spPr>
          <a:xfrm>
            <a:off x="0" y="0"/>
            <a:ext cx="12192000" cy="6858000"/>
          </a:xfrm>
          <a:prstGeom prst="rect">
            <a:avLst/>
          </a:prstGeom>
        </p:spPr>
      </p:pic>
      <p:pic>
        <p:nvPicPr>
          <p:cNvPr id="3" name="00 fade · 04The shift" descr="04The shift"/>
          <p:cNvPicPr>
            <a:picLocks noChangeAspect="1"/>
          </p:cNvPicPr>
          <p:nvPr/>
        </p:nvPicPr>
        <p:blipFill>
          <a:blip r:embed="rId3"/>
          <a:stretch>
            <a:fillRect/>
          </a:stretch>
        </p:blipFill>
        <p:spPr>
          <a:xfrm>
            <a:off x="660400" y="609600"/>
            <a:ext cx="10871200" cy="444500"/>
          </a:xfrm>
          <a:prstGeom prst="rect">
            <a:avLst/>
          </a:prstGeom>
        </p:spPr>
      </p:pic>
      <p:pic>
        <p:nvPicPr>
          <p:cNvPr id="4" name="01 up · Redefining the perishable asse" descr="Redefining the perishable asset."/>
          <p:cNvPicPr>
            <a:picLocks noChangeAspect="1"/>
          </p:cNvPicPr>
          <p:nvPr/>
        </p:nvPicPr>
        <p:blipFill>
          <a:blip r:embed="rId4"/>
          <a:stretch>
            <a:fillRect/>
          </a:stretch>
        </p:blipFill>
        <p:spPr>
          <a:xfrm>
            <a:off x="660400" y="977900"/>
            <a:ext cx="9829800" cy="838200"/>
          </a:xfrm>
          <a:prstGeom prst="rect">
            <a:avLst/>
          </a:prstGeom>
        </p:spPr>
      </p:pic>
      <p:pic>
        <p:nvPicPr>
          <p:cNvPr id="5" name="02 up · The biological clockDefensive " descr="The biological clockDefensive · today printed date Legacy model: inventory is a degrading liability, managed by a static printed expiry date. Result: late markdowns and write-offs."/>
          <p:cNvPicPr>
            <a:picLocks noChangeAspect="1"/>
          </p:cNvPicPr>
          <p:nvPr/>
        </p:nvPicPr>
        <p:blipFill>
          <a:blip r:embed="rId5"/>
          <a:stretch>
            <a:fillRect/>
          </a:stretch>
        </p:blipFill>
        <p:spPr>
          <a:xfrm>
            <a:off x="666750" y="1765300"/>
            <a:ext cx="5581650" cy="4349750"/>
          </a:xfrm>
          <a:prstGeom prst="rect">
            <a:avLst/>
          </a:prstGeom>
        </p:spPr>
      </p:pic>
      <p:pic>
        <p:nvPicPr>
          <p:cNvPr id="6" name="03 grow · graphic" descr=""/>
          <p:cNvPicPr>
            <a:picLocks noChangeAspect="1"/>
          </p:cNvPicPr>
          <p:nvPr/>
        </p:nvPicPr>
        <p:blipFill>
          <a:blip r:embed="rId6"/>
          <a:stretch>
            <a:fillRect/>
          </a:stretch>
        </p:blipFill>
        <p:spPr>
          <a:xfrm>
            <a:off x="2311400" y="4025900"/>
            <a:ext cx="558800" cy="374650"/>
          </a:xfrm>
          <a:prstGeom prst="rect">
            <a:avLst/>
          </a:prstGeom>
        </p:spPr>
      </p:pic>
      <p:pic>
        <p:nvPicPr>
          <p:cNvPr id="7" name="04 fade · printed date" descr="printed date"/>
          <p:cNvPicPr>
            <a:picLocks noChangeAspect="1"/>
          </p:cNvPicPr>
          <p:nvPr/>
        </p:nvPicPr>
        <p:blipFill>
          <a:blip r:embed="rId7"/>
          <a:stretch>
            <a:fillRect/>
          </a:stretch>
        </p:blipFill>
        <p:spPr>
          <a:xfrm>
            <a:off x="2311400" y="3829050"/>
            <a:ext cx="1085850" cy="450850"/>
          </a:xfrm>
          <a:prstGeom prst="rect">
            <a:avLst/>
          </a:prstGeom>
        </p:spPr>
      </p:pic>
      <p:pic>
        <p:nvPicPr>
          <p:cNvPr id="8" name="05 fade · graphic" descr=""/>
          <p:cNvPicPr>
            <a:picLocks noChangeAspect="1"/>
          </p:cNvPicPr>
          <p:nvPr/>
        </p:nvPicPr>
        <p:blipFill>
          <a:blip r:embed="rId8"/>
          <a:stretch>
            <a:fillRect/>
          </a:stretch>
        </p:blipFill>
        <p:spPr>
          <a:xfrm>
            <a:off x="4279900" y="3930650"/>
            <a:ext cx="539750" cy="533400"/>
          </a:xfrm>
          <a:prstGeom prst="rect">
            <a:avLst/>
          </a:prstGeom>
        </p:spPr>
      </p:pic>
      <p:pic>
        <p:nvPicPr>
          <p:cNvPr id="9" name="06 up · The commercial traceOffensive " descr="The commercial traceOffensive · Thermal Trace Thermal Trace model: inventory is an asset with a live value, priced from its real thermal history and live demand. Result: value recovered before it is l"/>
          <p:cNvPicPr>
            <a:picLocks noChangeAspect="1"/>
          </p:cNvPicPr>
          <p:nvPr/>
        </p:nvPicPr>
        <p:blipFill>
          <a:blip r:embed="rId9"/>
          <a:stretch>
            <a:fillRect/>
          </a:stretch>
        </p:blipFill>
        <p:spPr>
          <a:xfrm>
            <a:off x="5943600" y="1765300"/>
            <a:ext cx="5581650" cy="4349750"/>
          </a:xfrm>
          <a:prstGeom prst="rect">
            <a:avLst/>
          </a:prstGeom>
        </p:spPr>
      </p:pic>
      <p:pic>
        <p:nvPicPr>
          <p:cNvPr id="10" name="07 wipe · graphic" descr=""/>
          <p:cNvPicPr>
            <a:picLocks noChangeAspect="1"/>
          </p:cNvPicPr>
          <p:nvPr/>
        </p:nvPicPr>
        <p:blipFill>
          <a:blip r:embed="rId10"/>
          <a:stretch>
            <a:fillRect/>
          </a:stretch>
        </p:blipFill>
        <p:spPr>
          <a:xfrm>
            <a:off x="7378700" y="2895600"/>
            <a:ext cx="2698750" cy="1555750"/>
          </a:xfrm>
          <a:prstGeom prst="rect">
            <a:avLst/>
          </a:prstGeom>
        </p:spPr>
      </p:pic>
      <p:pic>
        <p:nvPicPr>
          <p:cNvPr id="11" name="08 draw · graphic" descr=""/>
          <p:cNvPicPr>
            <a:picLocks noChangeAspect="1"/>
          </p:cNvPicPr>
          <p:nvPr/>
        </p:nvPicPr>
        <p:blipFill>
          <a:blip r:embed="rId11"/>
          <a:stretch>
            <a:fillRect/>
          </a:stretch>
        </p:blipFill>
        <p:spPr>
          <a:xfrm>
            <a:off x="7378700" y="2895600"/>
            <a:ext cx="2698750" cy="1555750"/>
          </a:xfrm>
          <a:prstGeom prst="rect">
            <a:avLst/>
          </a:prstGeom>
        </p:spPr>
      </p:pic>
      <p:pic>
        <p:nvPicPr>
          <p:cNvPr id="12" name="09 fade · graphic" descr=""/>
          <p:cNvPicPr>
            <a:picLocks noChangeAspect="1"/>
          </p:cNvPicPr>
          <p:nvPr/>
        </p:nvPicPr>
        <p:blipFill>
          <a:blip r:embed="rId12"/>
          <a:stretch>
            <a:fillRect/>
          </a:stretch>
        </p:blipFill>
        <p:spPr>
          <a:xfrm>
            <a:off x="9626600" y="2857500"/>
            <a:ext cx="488950" cy="488950"/>
          </a:xfrm>
          <a:prstGeom prst="rect">
            <a:avLst/>
          </a:prstGeom>
        </p:spPr>
      </p:pic>
      <p:pic>
        <p:nvPicPr>
          <p:cNvPr id="13" name="10 fade · graphic" descr=""/>
          <p:cNvPicPr>
            <a:picLocks noChangeAspect="1"/>
          </p:cNvPicPr>
          <p:nvPr/>
        </p:nvPicPr>
        <p:blipFill>
          <a:blip r:embed="rId13"/>
          <a:stretch>
            <a:fillRect/>
          </a:stretch>
        </p:blipFill>
        <p:spPr>
          <a:xfrm>
            <a:off x="7778750" y="3257550"/>
            <a:ext cx="1962150" cy="107315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4" presetID="10" presetClass="entr" presetSubtype="0" fill="hold" decel="10000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3" dur="900"/>
                                        <p:tgtEl>
                                          <p:spTgt spid="3"/>
                                        </p:tgtEl>
                                      </p:cBhvr>
                                    </p:animEffect>
                                  </p:childTnLst>
                                </p:cTn>
                              </p:par>
                              <p:par>
                                <p:cTn id="8" presetID="2" presetClass="entr" presetSubtype="4" fill="hold" decel="100000" nodeType="withEffect">
                                  <p:stCondLst>
                                    <p:cond delay="120"/>
                                  </p:stCondLst>
                                  <p:childTnLst>
                                    <p:set>
                                      <p:cBhvr>
                                        <p:cTn id="9" dur="1" fill="hold">
                                          <p:stCondLst>
                                            <p:cond delay="0"/>
                                          </p:stCondLst>
                                        </p:cTn>
                                        <p:tgtEl>
                                          <p:spTgt spid="4"/>
                                        </p:tgtEl>
                                        <p:attrNameLst>
                                          <p:attrName>style.visibility</p:attrName>
                                        </p:attrNameLst>
                                      </p:cBhvr>
                                      <p:to>
                                        <p:strVal val="visible"/>
                                      </p:to>
                                    </p:set>
                                    <p:anim calcmode="lin" valueType="num">
                                      <p:cBhvr additive="base">
                                        <p:cTn id="6" dur="900" fill="hold"/>
                                        <p:tgtEl>
                                          <p:spTgt spid="4"/>
                                        </p:tgtEl>
                                        <p:attrNameLst>
                                          <p:attrName>ppt_y</p:attrName>
                                        </p:attrNameLst>
                                      </p:cBhvr>
                                      <p:tavLst>
                                        <p:tav tm="0">
                                          <p:val>
                                            <p:strVal val="#ppt_y+0.03"/>
                                          </p:val>
                                        </p:tav>
                                        <p:tav tm="100000">
                                          <p:val>
                                            <p:strVal val="#ppt_y"/>
                                          </p:val>
                                        </p:tav>
                                      </p:tavLst>
                                    </p:anim>
                                    <p:animEffect transition="in" filter="fade">
                                      <p:cBhvr>
                                        <p:cTn id="7" dur="900"/>
                                        <p:tgtEl>
                                          <p:spTgt spid="4"/>
                                        </p:tgtEl>
                                      </p:cBhvr>
                                    </p:animEffect>
                                  </p:childTnLst>
                                </p:cTn>
                              </p:par>
                              <p:par>
                                <p:cTn id="12" presetID="2" presetClass="entr" presetSubtype="4" fill="hold" decel="100000" nodeType="withEffect">
                                  <p:stCondLst>
                                    <p:cond delay="300"/>
                                  </p:stCondLst>
                                  <p:childTnLst>
                                    <p:set>
                                      <p:cBhvr>
                                        <p:cTn id="13" dur="1" fill="hold">
                                          <p:stCondLst>
                                            <p:cond delay="0"/>
                                          </p:stCondLst>
                                        </p:cTn>
                                        <p:tgtEl>
                                          <p:spTgt spid="5"/>
                                        </p:tgtEl>
                                        <p:attrNameLst>
                                          <p:attrName>style.visibility</p:attrName>
                                        </p:attrNameLst>
                                      </p:cBhvr>
                                      <p:to>
                                        <p:strVal val="visible"/>
                                      </p:to>
                                    </p:set>
                                    <p:anim calcmode="lin" valueType="num">
                                      <p:cBhvr additive="base">
                                        <p:cTn id="10" dur="900" fill="hold"/>
                                        <p:tgtEl>
                                          <p:spTgt spid="5"/>
                                        </p:tgtEl>
                                        <p:attrNameLst>
                                          <p:attrName>ppt_y</p:attrName>
                                        </p:attrNameLst>
                                      </p:cBhvr>
                                      <p:tavLst>
                                        <p:tav tm="0">
                                          <p:val>
                                            <p:strVal val="#ppt_y+0.03"/>
                                          </p:val>
                                        </p:tav>
                                        <p:tav tm="100000">
                                          <p:val>
                                            <p:strVal val="#ppt_y"/>
                                          </p:val>
                                        </p:tav>
                                      </p:tavLst>
                                    </p:anim>
                                    <p:animEffect transition="in" filter="fade">
                                      <p:cBhvr>
                                        <p:cTn id="11" dur="900"/>
                                        <p:tgtEl>
                                          <p:spTgt spid="5"/>
                                        </p:tgtEl>
                                      </p:cBhvr>
                                    </p:animEffect>
                                  </p:childTnLst>
                                </p:cTn>
                              </p:par>
                              <p:par>
                                <p:cTn id="15" presetID="22" presetClass="entr" presetSubtype="8" fill="hold" decel="100000" nodeType="withEffect">
                                  <p:stCondLst>
                                    <p:cond delay="900"/>
                                  </p:stCondLst>
                                  <p:childTnLst>
                                    <p:set>
                                      <p:cBhvr>
                                        <p:cTn id="16" dur="1" fill="hold">
                                          <p:stCondLst>
                                            <p:cond delay="0"/>
                                          </p:stCondLst>
                                        </p:cTn>
                                        <p:tgtEl>
                                          <p:spTgt spid="6"/>
                                        </p:tgtEl>
                                        <p:attrNameLst>
                                          <p:attrName>style.visibility</p:attrName>
                                        </p:attrNameLst>
                                      </p:cBhvr>
                                      <p:to>
                                        <p:strVal val="visible"/>
                                      </p:to>
                                    </p:set>
                                    <p:animEffect transition="in" filter="wipe(left)">
                                      <p:cBhvr>
                                        <p:cTn id="14" dur="1400"/>
                                        <p:tgtEl>
                                          <p:spTgt spid="6"/>
                                        </p:tgtEl>
                                      </p:cBhvr>
                                    </p:animEffect>
                                  </p:childTnLst>
                                </p:cTn>
                              </p:par>
                              <p:par>
                                <p:cTn id="18" presetID="10" presetClass="entr" presetSubtype="0" fill="hold" decel="100000" nodeType="withEffect">
                                  <p:stCondLst>
                                    <p:cond delay="2200"/>
                                  </p:stCondLst>
                                  <p:childTnLst>
                                    <p:set>
                                      <p:cBhvr>
                                        <p:cTn id="19" dur="1" fill="hold">
                                          <p:stCondLst>
                                            <p:cond delay="0"/>
                                          </p:stCondLst>
                                        </p:cTn>
                                        <p:tgtEl>
                                          <p:spTgt spid="7"/>
                                        </p:tgtEl>
                                        <p:attrNameLst>
                                          <p:attrName>style.visibility</p:attrName>
                                        </p:attrNameLst>
                                      </p:cBhvr>
                                      <p:to>
                                        <p:strVal val="visible"/>
                                      </p:to>
                                    </p:set>
                                    <p:animEffect transition="in" filter="fade">
                                      <p:cBhvr>
                                        <p:cTn id="17" dur="900"/>
                                        <p:tgtEl>
                                          <p:spTgt spid="7"/>
                                        </p:tgtEl>
                                      </p:cBhvr>
                                    </p:animEffect>
                                  </p:childTnLst>
                                </p:cTn>
                              </p:par>
                              <p:par>
                                <p:cTn id="21" presetID="10" presetClass="entr" presetSubtype="0" fill="hold" decel="100000" nodeType="withEffect">
                                  <p:stCondLst>
                                    <p:cond delay="2300"/>
                                  </p:stCondLst>
                                  <p:childTnLst>
                                    <p:set>
                                      <p:cBhvr>
                                        <p:cTn id="22" dur="1" fill="hold">
                                          <p:stCondLst>
                                            <p:cond delay="0"/>
                                          </p:stCondLst>
                                        </p:cTn>
                                        <p:tgtEl>
                                          <p:spTgt spid="8"/>
                                        </p:tgtEl>
                                        <p:attrNameLst>
                                          <p:attrName>style.visibility</p:attrName>
                                        </p:attrNameLst>
                                      </p:cBhvr>
                                      <p:to>
                                        <p:strVal val="visible"/>
                                      </p:to>
                                    </p:set>
                                    <p:animEffect transition="in" filter="fade">
                                      <p:cBhvr>
                                        <p:cTn id="20" dur="900"/>
                                        <p:tgtEl>
                                          <p:spTgt spid="8"/>
                                        </p:tgtEl>
                                      </p:cBhvr>
                                    </p:animEffect>
                                  </p:childTnLst>
                                </p:cTn>
                              </p:par>
                              <p:par>
                                <p:cTn id="25" presetID="2" presetClass="entr" presetSubtype="4" fill="hold" decel="100000" nodeType="withEffect">
                                  <p:stCondLst>
                                    <p:cond delay="500"/>
                                  </p:stCondLst>
                                  <p:childTnLst>
                                    <p:set>
                                      <p:cBhvr>
                                        <p:cTn id="26" dur="1" fill="hold">
                                          <p:stCondLst>
                                            <p:cond delay="0"/>
                                          </p:stCondLst>
                                        </p:cTn>
                                        <p:tgtEl>
                                          <p:spTgt spid="9"/>
                                        </p:tgtEl>
                                        <p:attrNameLst>
                                          <p:attrName>style.visibility</p:attrName>
                                        </p:attrNameLst>
                                      </p:cBhvr>
                                      <p:to>
                                        <p:strVal val="visible"/>
                                      </p:to>
                                    </p:set>
                                    <p:anim calcmode="lin" valueType="num">
                                      <p:cBhvr additive="base">
                                        <p:cTn id="23" dur="900" fill="hold"/>
                                        <p:tgtEl>
                                          <p:spTgt spid="9"/>
                                        </p:tgtEl>
                                        <p:attrNameLst>
                                          <p:attrName>ppt_y</p:attrName>
                                        </p:attrNameLst>
                                      </p:cBhvr>
                                      <p:tavLst>
                                        <p:tav tm="0">
                                          <p:val>
                                            <p:strVal val="#ppt_y+0.03"/>
                                          </p:val>
                                        </p:tav>
                                        <p:tav tm="100000">
                                          <p:val>
                                            <p:strVal val="#ppt_y"/>
                                          </p:val>
                                        </p:tav>
                                      </p:tavLst>
                                    </p:anim>
                                    <p:animEffect transition="in" filter="fade">
                                      <p:cBhvr>
                                        <p:cTn id="24" dur="900"/>
                                        <p:tgtEl>
                                          <p:spTgt spid="9"/>
                                        </p:tgtEl>
                                      </p:cBhvr>
                                    </p:animEffect>
                                  </p:childTnLst>
                                </p:cTn>
                              </p:par>
                              <p:par>
                                <p:cTn id="28" presetID="22" presetClass="entr" presetSubtype="8" fill="hold" decel="100000" nodeType="withEffect">
                                  <p:stCondLst>
                                    <p:cond delay="1400"/>
                                  </p:stCondLst>
                                  <p:childTnLst>
                                    <p:set>
                                      <p:cBhvr>
                                        <p:cTn id="29" dur="1" fill="hold">
                                          <p:stCondLst>
                                            <p:cond delay="0"/>
                                          </p:stCondLst>
                                        </p:cTn>
                                        <p:tgtEl>
                                          <p:spTgt spid="10"/>
                                        </p:tgtEl>
                                        <p:attrNameLst>
                                          <p:attrName>style.visibility</p:attrName>
                                        </p:attrNameLst>
                                      </p:cBhvr>
                                      <p:to>
                                        <p:strVal val="visible"/>
                                      </p:to>
                                    </p:set>
                                    <p:animEffect transition="in" filter="wipe(left)">
                                      <p:cBhvr>
                                        <p:cTn id="27" dur="1800"/>
                                        <p:tgtEl>
                                          <p:spTgt spid="10"/>
                                        </p:tgtEl>
                                      </p:cBhvr>
                                    </p:animEffect>
                                  </p:childTnLst>
                                </p:cTn>
                              </p:par>
                              <p:par>
                                <p:cTn id="31" presetID="22" presetClass="entr" presetSubtype="8" fill="hold" decel="100000" nodeType="withEffect">
                                  <p:stCondLst>
                                    <p:cond delay="800"/>
                                  </p:stCondLst>
                                  <p:childTnLst>
                                    <p:set>
                                      <p:cBhvr>
                                        <p:cTn id="32" dur="1" fill="hold">
                                          <p:stCondLst>
                                            <p:cond delay="0"/>
                                          </p:stCondLst>
                                        </p:cTn>
                                        <p:tgtEl>
                                          <p:spTgt spid="11"/>
                                        </p:tgtEl>
                                        <p:attrNameLst>
                                          <p:attrName>style.visibility</p:attrName>
                                        </p:attrNameLst>
                                      </p:cBhvr>
                                      <p:to>
                                        <p:strVal val="visible"/>
                                      </p:to>
                                    </p:set>
                                    <p:animEffect transition="in" filter="wipe(left)">
                                      <p:cBhvr>
                                        <p:cTn id="30" dur="1800"/>
                                        <p:tgtEl>
                                          <p:spTgt spid="11"/>
                                        </p:tgtEl>
                                      </p:cBhvr>
                                    </p:animEffect>
                                  </p:childTnLst>
                                </p:cTn>
                              </p:par>
                              <p:par>
                                <p:cTn id="34" presetID="10" presetClass="entr" presetSubtype="0" fill="hold" decel="100000" nodeType="withEffect">
                                  <p:stCondLst>
                                    <p:cond delay="2400"/>
                                  </p:stCondLst>
                                  <p:childTnLst>
                                    <p:set>
                                      <p:cBhvr>
                                        <p:cTn id="35" dur="1" fill="hold">
                                          <p:stCondLst>
                                            <p:cond delay="0"/>
                                          </p:stCondLst>
                                        </p:cTn>
                                        <p:tgtEl>
                                          <p:spTgt spid="12"/>
                                        </p:tgtEl>
                                        <p:attrNameLst>
                                          <p:attrName>style.visibility</p:attrName>
                                        </p:attrNameLst>
                                      </p:cBhvr>
                                      <p:to>
                                        <p:strVal val="visible"/>
                                      </p:to>
                                    </p:set>
                                    <p:animEffect transition="in" filter="fade">
                                      <p:cBhvr>
                                        <p:cTn id="33" dur="900"/>
                                        <p:tgtEl>
                                          <p:spTgt spid="12"/>
                                        </p:tgtEl>
                                      </p:cBhvr>
                                    </p:animEffect>
                                  </p:childTnLst>
                                </p:cTn>
                              </p:par>
                              <p:par>
                                <p:cTn id="37" presetID="10" presetClass="entr" presetSubtype="0" fill="hold" decel="100000" nodeType="withEffect">
                                  <p:stCondLst>
                                    <p:cond delay="2200"/>
                                  </p:stCondLst>
                                  <p:childTnLst>
                                    <p:set>
                                      <p:cBhvr>
                                        <p:cTn id="38" dur="1" fill="hold">
                                          <p:stCondLst>
                                            <p:cond delay="0"/>
                                          </p:stCondLst>
                                        </p:cTn>
                                        <p:tgtEl>
                                          <p:spTgt spid="13"/>
                                        </p:tgtEl>
                                        <p:attrNameLst>
                                          <p:attrName>style.visibility</p:attrName>
                                        </p:attrNameLst>
                                      </p:cBhvr>
                                      <p:to>
                                        <p:strVal val="visible"/>
                                      </p:to>
                                    </p:set>
                                    <p:animEffect transition="in" filter="fade">
                                      <p:cBhvr>
                                        <p:cTn id="36" dur="9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ground" descr="The anatomy of value slide background"/>
          <p:cNvPicPr>
            <a:picLocks noChangeAspect="1"/>
          </p:cNvPicPr>
          <p:nvPr/>
        </p:nvPicPr>
        <p:blipFill>
          <a:blip r:embed="rId2"/>
          <a:stretch>
            <a:fillRect/>
          </a:stretch>
        </p:blipFill>
        <p:spPr>
          <a:xfrm>
            <a:off x="0" y="0"/>
            <a:ext cx="12192000" cy="6858000"/>
          </a:xfrm>
          <a:prstGeom prst="rect">
            <a:avLst/>
          </a:prstGeom>
        </p:spPr>
      </p:pic>
      <p:pic>
        <p:nvPicPr>
          <p:cNvPr id="3" name="00 fade · Layer 3 designed · staged in t" descr="Layer 3 designed · staged in the pilot"/>
          <p:cNvPicPr>
            <a:picLocks noChangeAspect="1"/>
          </p:cNvPicPr>
          <p:nvPr/>
        </p:nvPicPr>
        <p:blipFill>
          <a:blip r:embed="rId3"/>
          <a:stretch>
            <a:fillRect/>
          </a:stretch>
        </p:blipFill>
        <p:spPr>
          <a:xfrm>
            <a:off x="7905750" y="558800"/>
            <a:ext cx="3625850" cy="546100"/>
          </a:xfrm>
          <a:prstGeom prst="rect">
            <a:avLst/>
          </a:prstGeom>
        </p:spPr>
      </p:pic>
      <p:pic>
        <p:nvPicPr>
          <p:cNvPr id="4" name="01 fade · 05The product" descr="05The product"/>
          <p:cNvPicPr>
            <a:picLocks noChangeAspect="1"/>
          </p:cNvPicPr>
          <p:nvPr/>
        </p:nvPicPr>
        <p:blipFill>
          <a:blip r:embed="rId4"/>
          <a:stretch>
            <a:fillRect/>
          </a:stretch>
        </p:blipFill>
        <p:spPr>
          <a:xfrm>
            <a:off x="660400" y="609600"/>
            <a:ext cx="10871200" cy="444500"/>
          </a:xfrm>
          <a:prstGeom prst="rect">
            <a:avLst/>
          </a:prstGeom>
        </p:spPr>
      </p:pic>
      <p:pic>
        <p:nvPicPr>
          <p:cNvPr id="5" name="02 up · The anatomy of value: four res" descr="The anatomy of value: four reserves, one stack."/>
          <p:cNvPicPr>
            <a:picLocks noChangeAspect="1"/>
          </p:cNvPicPr>
          <p:nvPr/>
        </p:nvPicPr>
        <p:blipFill>
          <a:blip r:embed="rId5"/>
          <a:stretch>
            <a:fillRect/>
          </a:stretch>
        </p:blipFill>
        <p:spPr>
          <a:xfrm>
            <a:off x="660400" y="977900"/>
            <a:ext cx="9829800" cy="755650"/>
          </a:xfrm>
          <a:prstGeom prst="rect">
            <a:avLst/>
          </a:prstGeom>
        </p:spPr>
      </p:pic>
      <p:pic>
        <p:nvPicPr>
          <p:cNvPr id="6" name="03 up · Thermal Trace GROUND TRUTH" descr="Thermal Trace GROUND TRUTH"/>
          <p:cNvPicPr>
            <a:picLocks noChangeAspect="1"/>
          </p:cNvPicPr>
          <p:nvPr/>
        </p:nvPicPr>
        <p:blipFill>
          <a:blip r:embed="rId6"/>
          <a:stretch>
            <a:fillRect/>
          </a:stretch>
        </p:blipFill>
        <p:spPr>
          <a:xfrm>
            <a:off x="660400" y="4622800"/>
            <a:ext cx="5511800" cy="1263650"/>
          </a:xfrm>
          <a:prstGeom prst="rect">
            <a:avLst/>
          </a:prstGeom>
        </p:spPr>
      </p:pic>
      <p:pic>
        <p:nvPicPr>
          <p:cNvPr id="7" name="04 up · Thermal Reserve THE ENVELOPE" descr="Thermal Reserve THE ENVELOPE"/>
          <p:cNvPicPr>
            <a:picLocks noChangeAspect="1"/>
          </p:cNvPicPr>
          <p:nvPr/>
        </p:nvPicPr>
        <p:blipFill>
          <a:blip r:embed="rId7"/>
          <a:stretch>
            <a:fillRect/>
          </a:stretch>
        </p:blipFill>
        <p:spPr>
          <a:xfrm>
            <a:off x="1136650" y="3632200"/>
            <a:ext cx="4559300" cy="1263650"/>
          </a:xfrm>
          <a:prstGeom prst="rect">
            <a:avLst/>
          </a:prstGeom>
        </p:spPr>
      </p:pic>
      <p:pic>
        <p:nvPicPr>
          <p:cNvPr id="8" name="05 up · Commercial Reserve THE VELOCIT" descr="Commercial Reserve THE VELOCITY"/>
          <p:cNvPicPr>
            <a:picLocks noChangeAspect="1"/>
          </p:cNvPicPr>
          <p:nvPr/>
        </p:nvPicPr>
        <p:blipFill>
          <a:blip r:embed="rId8"/>
          <a:stretch>
            <a:fillRect/>
          </a:stretch>
        </p:blipFill>
        <p:spPr>
          <a:xfrm>
            <a:off x="1619250" y="2641600"/>
            <a:ext cx="3594100" cy="1263650"/>
          </a:xfrm>
          <a:prstGeom prst="rect">
            <a:avLst/>
          </a:prstGeom>
        </p:spPr>
      </p:pic>
      <p:pic>
        <p:nvPicPr>
          <p:cNvPr id="9" name="06 up · Decision Reserve THE ACTION WI" descr="Decision Reserve THE ACTION WINDOW"/>
          <p:cNvPicPr>
            <a:picLocks noChangeAspect="1"/>
          </p:cNvPicPr>
          <p:nvPr/>
        </p:nvPicPr>
        <p:blipFill>
          <a:blip r:embed="rId9"/>
          <a:stretch>
            <a:fillRect/>
          </a:stretch>
        </p:blipFill>
        <p:spPr>
          <a:xfrm>
            <a:off x="2101850" y="1651000"/>
            <a:ext cx="2628900" cy="1263650"/>
          </a:xfrm>
          <a:prstGeom prst="rect">
            <a:avLst/>
          </a:prstGeom>
        </p:spPr>
      </p:pic>
      <p:pic>
        <p:nvPicPr>
          <p:cNvPr id="10" name="07 fade · graphic" descr=""/>
          <p:cNvPicPr>
            <a:picLocks noChangeAspect="1"/>
          </p:cNvPicPr>
          <p:nvPr/>
        </p:nvPicPr>
        <p:blipFill>
          <a:blip r:embed="rId10"/>
          <a:stretch>
            <a:fillRect/>
          </a:stretch>
        </p:blipFill>
        <p:spPr>
          <a:xfrm>
            <a:off x="4279900" y="2127250"/>
            <a:ext cx="2298700" cy="3282950"/>
          </a:xfrm>
          <a:prstGeom prst="rect">
            <a:avLst/>
          </a:prstGeom>
        </p:spPr>
      </p:pic>
      <p:pic>
        <p:nvPicPr>
          <p:cNvPr id="11" name="08 fade · graphic" descr=""/>
          <p:cNvPicPr>
            <a:picLocks noChangeAspect="1"/>
          </p:cNvPicPr>
          <p:nvPr/>
        </p:nvPicPr>
        <p:blipFill>
          <a:blip r:embed="rId11"/>
          <a:stretch>
            <a:fillRect/>
          </a:stretch>
        </p:blipFill>
        <p:spPr>
          <a:xfrm>
            <a:off x="6267450" y="2095500"/>
            <a:ext cx="368300" cy="3346450"/>
          </a:xfrm>
          <a:prstGeom prst="rect">
            <a:avLst/>
          </a:prstGeom>
        </p:spPr>
      </p:pic>
      <p:pic>
        <p:nvPicPr>
          <p:cNvPr id="12" name="09 right · Layer 4 · Decision Reserve Opt" descr="Layer 4 · Decision Reserve Optimized The time left to act before the good options disappear."/>
          <p:cNvPicPr>
            <a:picLocks noChangeAspect="1"/>
          </p:cNvPicPr>
          <p:nvPr/>
        </p:nvPicPr>
        <p:blipFill>
          <a:blip r:embed="rId12"/>
          <a:stretch>
            <a:fillRect/>
          </a:stretch>
        </p:blipFill>
        <p:spPr>
          <a:xfrm>
            <a:off x="6451600" y="1651000"/>
            <a:ext cx="5080000" cy="1263650"/>
          </a:xfrm>
          <a:prstGeom prst="rect">
            <a:avLst/>
          </a:prstGeom>
        </p:spPr>
      </p:pic>
      <p:pic>
        <p:nvPicPr>
          <p:cNvPr id="13" name="10 right · Layer 3 · Commercial Reserve D" descr="Layer 3 · Commercial Reserve Designed The economic runway: value that can still be realised. CR = Qr × Pr × Vr"/>
          <p:cNvPicPr>
            <a:picLocks noChangeAspect="1"/>
          </p:cNvPicPr>
          <p:nvPr/>
        </p:nvPicPr>
        <p:blipFill>
          <a:blip r:embed="rId13"/>
          <a:stretch>
            <a:fillRect/>
          </a:stretch>
        </p:blipFill>
        <p:spPr>
          <a:xfrm>
            <a:off x="6451600" y="2641600"/>
            <a:ext cx="5080000" cy="1263650"/>
          </a:xfrm>
          <a:prstGeom prst="rect">
            <a:avLst/>
          </a:prstGeom>
        </p:spPr>
      </p:pic>
      <p:pic>
        <p:nvPicPr>
          <p:cNvPr id="14" name="11 right · Layer 2 · Thermal Reserve Calc" descr="Layer 2 · Thermal Reserve Calculated The physical budget left before quality is compromised."/>
          <p:cNvPicPr>
            <a:picLocks noChangeAspect="1"/>
          </p:cNvPicPr>
          <p:nvPr/>
        </p:nvPicPr>
        <p:blipFill>
          <a:blip r:embed="rId14"/>
          <a:stretch>
            <a:fillRect/>
          </a:stretch>
        </p:blipFill>
        <p:spPr>
          <a:xfrm>
            <a:off x="6451600" y="3632200"/>
            <a:ext cx="5080000" cy="1263650"/>
          </a:xfrm>
          <a:prstGeom prst="rect">
            <a:avLst/>
          </a:prstGeom>
        </p:spPr>
      </p:pic>
      <p:pic>
        <p:nvPicPr>
          <p:cNvPr id="15" name="12 right · Layer 1 · Thermal Trace Measur" descr="Layer 1 · Thermal Trace Measured A continuous, timestamped memory of temperature exposure and stress."/>
          <p:cNvPicPr>
            <a:picLocks noChangeAspect="1"/>
          </p:cNvPicPr>
          <p:nvPr/>
        </p:nvPicPr>
        <p:blipFill>
          <a:blip r:embed="rId15"/>
          <a:stretch>
            <a:fillRect/>
          </a:stretch>
        </p:blipFill>
        <p:spPr>
          <a:xfrm>
            <a:off x="6451600" y="4622800"/>
            <a:ext cx="5080000" cy="126365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4" presetID="10" presetClass="entr" presetSubtype="0" fill="hold" decel="100000" nodeType="withEffect">
                                  <p:stCondLst>
                                    <p:cond delay="200"/>
                                  </p:stCondLst>
                                  <p:childTnLst>
                                    <p:set>
                                      <p:cBhvr>
                                        <p:cTn id="5" dur="1" fill="hold">
                                          <p:stCondLst>
                                            <p:cond delay="0"/>
                                          </p:stCondLst>
                                        </p:cTn>
                                        <p:tgtEl>
                                          <p:spTgt spid="3"/>
                                        </p:tgtEl>
                                        <p:attrNameLst>
                                          <p:attrName>style.visibility</p:attrName>
                                        </p:attrNameLst>
                                      </p:cBhvr>
                                      <p:to>
                                        <p:strVal val="visible"/>
                                      </p:to>
                                    </p:set>
                                    <p:animEffect transition="in" filter="fade">
                                      <p:cBhvr>
                                        <p:cTn id="3" dur="900"/>
                                        <p:tgtEl>
                                          <p:spTgt spid="3"/>
                                        </p:tgtEl>
                                      </p:cBhvr>
                                    </p:animEffect>
                                  </p:childTnLst>
                                </p:cTn>
                              </p:par>
                              <p:par>
                                <p:cTn id="7" presetID="10" presetClass="entr" presetSubtype="0" fill="hold" decel="100000" nodeType="withEffect">
                                  <p:stCondLst>
                                    <p:cond delay="0"/>
                                  </p:stCondLst>
                                  <p:childTnLst>
                                    <p:set>
                                      <p:cBhvr>
                                        <p:cTn id="8" dur="1" fill="hold">
                                          <p:stCondLst>
                                            <p:cond delay="0"/>
                                          </p:stCondLst>
                                        </p:cTn>
                                        <p:tgtEl>
                                          <p:spTgt spid="4"/>
                                        </p:tgtEl>
                                        <p:attrNameLst>
                                          <p:attrName>style.visibility</p:attrName>
                                        </p:attrNameLst>
                                      </p:cBhvr>
                                      <p:to>
                                        <p:strVal val="visible"/>
                                      </p:to>
                                    </p:set>
                                    <p:animEffect transition="in" filter="fade">
                                      <p:cBhvr>
                                        <p:cTn id="6" dur="900"/>
                                        <p:tgtEl>
                                          <p:spTgt spid="4"/>
                                        </p:tgtEl>
                                      </p:cBhvr>
                                    </p:animEffect>
                                  </p:childTnLst>
                                </p:cTn>
                              </p:par>
                              <p:par>
                                <p:cTn id="11" presetID="2" presetClass="entr" presetSubtype="4" fill="hold" decel="100000" nodeType="withEffect">
                                  <p:stCondLst>
                                    <p:cond delay="120"/>
                                  </p:stCondLst>
                                  <p:childTnLst>
                                    <p:set>
                                      <p:cBhvr>
                                        <p:cTn id="12" dur="1" fill="hold">
                                          <p:stCondLst>
                                            <p:cond delay="0"/>
                                          </p:stCondLst>
                                        </p:cTn>
                                        <p:tgtEl>
                                          <p:spTgt spid="5"/>
                                        </p:tgtEl>
                                        <p:attrNameLst>
                                          <p:attrName>style.visibility</p:attrName>
                                        </p:attrNameLst>
                                      </p:cBhvr>
                                      <p:to>
                                        <p:strVal val="visible"/>
                                      </p:to>
                                    </p:set>
                                    <p:anim calcmode="lin" valueType="num">
                                      <p:cBhvr additive="base">
                                        <p:cTn id="9" dur="900" fill="hold"/>
                                        <p:tgtEl>
                                          <p:spTgt spid="5"/>
                                        </p:tgtEl>
                                        <p:attrNameLst>
                                          <p:attrName>ppt_y</p:attrName>
                                        </p:attrNameLst>
                                      </p:cBhvr>
                                      <p:tavLst>
                                        <p:tav tm="0">
                                          <p:val>
                                            <p:strVal val="#ppt_y+0.03"/>
                                          </p:val>
                                        </p:tav>
                                        <p:tav tm="100000">
                                          <p:val>
                                            <p:strVal val="#ppt_y"/>
                                          </p:val>
                                        </p:tav>
                                      </p:tavLst>
                                    </p:anim>
                                    <p:animEffect transition="in" filter="fade">
                                      <p:cBhvr>
                                        <p:cTn id="10" dur="900"/>
                                        <p:tgtEl>
                                          <p:spTgt spid="5"/>
                                        </p:tgtEl>
                                      </p:cBhvr>
                                    </p:animEffect>
                                  </p:childTnLst>
                                </p:cTn>
                              </p:par>
                              <p:par>
                                <p:cTn id="15" presetID="2" presetClass="entr" presetSubtype="4" fill="hold" decel="100000" nodeType="withEffect">
                                  <p:stCondLst>
                                    <p:cond delay="300"/>
                                  </p:stCondLst>
                                  <p:childTnLst>
                                    <p:set>
                                      <p:cBhvr>
                                        <p:cTn id="16" dur="1" fill="hold">
                                          <p:stCondLst>
                                            <p:cond delay="0"/>
                                          </p:stCondLst>
                                        </p:cTn>
                                        <p:tgtEl>
                                          <p:spTgt spid="6"/>
                                        </p:tgtEl>
                                        <p:attrNameLst>
                                          <p:attrName>style.visibility</p:attrName>
                                        </p:attrNameLst>
                                      </p:cBhvr>
                                      <p:to>
                                        <p:strVal val="visible"/>
                                      </p:to>
                                    </p:set>
                                    <p:anim calcmode="lin" valueType="num">
                                      <p:cBhvr additive="base">
                                        <p:cTn id="13" dur="900" fill="hold"/>
                                        <p:tgtEl>
                                          <p:spTgt spid="6"/>
                                        </p:tgtEl>
                                        <p:attrNameLst>
                                          <p:attrName>ppt_y</p:attrName>
                                        </p:attrNameLst>
                                      </p:cBhvr>
                                      <p:tavLst>
                                        <p:tav tm="0">
                                          <p:val>
                                            <p:strVal val="#ppt_y+0.03"/>
                                          </p:val>
                                        </p:tav>
                                        <p:tav tm="100000">
                                          <p:val>
                                            <p:strVal val="#ppt_y"/>
                                          </p:val>
                                        </p:tav>
                                      </p:tavLst>
                                    </p:anim>
                                    <p:animEffect transition="in" filter="fade">
                                      <p:cBhvr>
                                        <p:cTn id="14" dur="900"/>
                                        <p:tgtEl>
                                          <p:spTgt spid="6"/>
                                        </p:tgtEl>
                                      </p:cBhvr>
                                    </p:animEffect>
                                  </p:childTnLst>
                                </p:cTn>
                              </p:par>
                              <p:par>
                                <p:cTn id="19" presetID="2" presetClass="entr" presetSubtype="4" fill="hold" decel="100000" nodeType="withEffect">
                                  <p:stCondLst>
                                    <p:cond delay="450"/>
                                  </p:stCondLst>
                                  <p:childTnLst>
                                    <p:set>
                                      <p:cBhvr>
                                        <p:cTn id="20" dur="1" fill="hold">
                                          <p:stCondLst>
                                            <p:cond delay="0"/>
                                          </p:stCondLst>
                                        </p:cTn>
                                        <p:tgtEl>
                                          <p:spTgt spid="7"/>
                                        </p:tgtEl>
                                        <p:attrNameLst>
                                          <p:attrName>style.visibility</p:attrName>
                                        </p:attrNameLst>
                                      </p:cBhvr>
                                      <p:to>
                                        <p:strVal val="visible"/>
                                      </p:to>
                                    </p:set>
                                    <p:anim calcmode="lin" valueType="num">
                                      <p:cBhvr additive="base">
                                        <p:cTn id="17" dur="900" fill="hold"/>
                                        <p:tgtEl>
                                          <p:spTgt spid="7"/>
                                        </p:tgtEl>
                                        <p:attrNameLst>
                                          <p:attrName>ppt_y</p:attrName>
                                        </p:attrNameLst>
                                      </p:cBhvr>
                                      <p:tavLst>
                                        <p:tav tm="0">
                                          <p:val>
                                            <p:strVal val="#ppt_y+0.03"/>
                                          </p:val>
                                        </p:tav>
                                        <p:tav tm="100000">
                                          <p:val>
                                            <p:strVal val="#ppt_y"/>
                                          </p:val>
                                        </p:tav>
                                      </p:tavLst>
                                    </p:anim>
                                    <p:animEffect transition="in" filter="fade">
                                      <p:cBhvr>
                                        <p:cTn id="18" dur="900"/>
                                        <p:tgtEl>
                                          <p:spTgt spid="7"/>
                                        </p:tgtEl>
                                      </p:cBhvr>
                                    </p:animEffect>
                                  </p:childTnLst>
                                </p:cTn>
                              </p:par>
                              <p:par>
                                <p:cTn id="23" presetID="2" presetClass="entr" presetSubtype="4" fill="hold" decel="100000" nodeType="withEffect">
                                  <p:stCondLst>
                                    <p:cond delay="600"/>
                                  </p:stCondLst>
                                  <p:childTnLst>
                                    <p:set>
                                      <p:cBhvr>
                                        <p:cTn id="24" dur="1" fill="hold">
                                          <p:stCondLst>
                                            <p:cond delay="0"/>
                                          </p:stCondLst>
                                        </p:cTn>
                                        <p:tgtEl>
                                          <p:spTgt spid="8"/>
                                        </p:tgtEl>
                                        <p:attrNameLst>
                                          <p:attrName>style.visibility</p:attrName>
                                        </p:attrNameLst>
                                      </p:cBhvr>
                                      <p:to>
                                        <p:strVal val="visible"/>
                                      </p:to>
                                    </p:set>
                                    <p:anim calcmode="lin" valueType="num">
                                      <p:cBhvr additive="base">
                                        <p:cTn id="21" dur="900" fill="hold"/>
                                        <p:tgtEl>
                                          <p:spTgt spid="8"/>
                                        </p:tgtEl>
                                        <p:attrNameLst>
                                          <p:attrName>ppt_y</p:attrName>
                                        </p:attrNameLst>
                                      </p:cBhvr>
                                      <p:tavLst>
                                        <p:tav tm="0">
                                          <p:val>
                                            <p:strVal val="#ppt_y+0.03"/>
                                          </p:val>
                                        </p:tav>
                                        <p:tav tm="100000">
                                          <p:val>
                                            <p:strVal val="#ppt_y"/>
                                          </p:val>
                                        </p:tav>
                                      </p:tavLst>
                                    </p:anim>
                                    <p:animEffect transition="in" filter="fade">
                                      <p:cBhvr>
                                        <p:cTn id="22" dur="900"/>
                                        <p:tgtEl>
                                          <p:spTgt spid="8"/>
                                        </p:tgtEl>
                                      </p:cBhvr>
                                    </p:animEffect>
                                  </p:childTnLst>
                                </p:cTn>
                              </p:par>
                              <p:par>
                                <p:cTn id="27" presetID="2" presetClass="entr" presetSubtype="4" fill="hold" decel="100000" nodeType="withEffect">
                                  <p:stCondLst>
                                    <p:cond delay="750"/>
                                  </p:stCondLst>
                                  <p:childTnLst>
                                    <p:set>
                                      <p:cBhvr>
                                        <p:cTn id="28" dur="1" fill="hold">
                                          <p:stCondLst>
                                            <p:cond delay="0"/>
                                          </p:stCondLst>
                                        </p:cTn>
                                        <p:tgtEl>
                                          <p:spTgt spid="9"/>
                                        </p:tgtEl>
                                        <p:attrNameLst>
                                          <p:attrName>style.visibility</p:attrName>
                                        </p:attrNameLst>
                                      </p:cBhvr>
                                      <p:to>
                                        <p:strVal val="visible"/>
                                      </p:to>
                                    </p:set>
                                    <p:anim calcmode="lin" valueType="num">
                                      <p:cBhvr additive="base">
                                        <p:cTn id="25" dur="900" fill="hold"/>
                                        <p:tgtEl>
                                          <p:spTgt spid="9"/>
                                        </p:tgtEl>
                                        <p:attrNameLst>
                                          <p:attrName>ppt_y</p:attrName>
                                        </p:attrNameLst>
                                      </p:cBhvr>
                                      <p:tavLst>
                                        <p:tav tm="0">
                                          <p:val>
                                            <p:strVal val="#ppt_y+0.03"/>
                                          </p:val>
                                        </p:tav>
                                        <p:tav tm="100000">
                                          <p:val>
                                            <p:strVal val="#ppt_y"/>
                                          </p:val>
                                        </p:tav>
                                      </p:tavLst>
                                    </p:anim>
                                    <p:animEffect transition="in" filter="fade">
                                      <p:cBhvr>
                                        <p:cTn id="26" dur="900"/>
                                        <p:tgtEl>
                                          <p:spTgt spid="9"/>
                                        </p:tgtEl>
                                      </p:cBhvr>
                                    </p:animEffect>
                                  </p:childTnLst>
                                </p:cTn>
                              </p:par>
                              <p:par>
                                <p:cTn id="30" presetID="10" presetClass="entr" presetSubtype="0" fill="hold" decel="100000" nodeType="withEffect">
                                  <p:stCondLst>
                                    <p:cond delay="1000"/>
                                  </p:stCondLst>
                                  <p:childTnLst>
                                    <p:set>
                                      <p:cBhvr>
                                        <p:cTn id="31" dur="1" fill="hold">
                                          <p:stCondLst>
                                            <p:cond delay="0"/>
                                          </p:stCondLst>
                                        </p:cTn>
                                        <p:tgtEl>
                                          <p:spTgt spid="10"/>
                                        </p:tgtEl>
                                        <p:attrNameLst>
                                          <p:attrName>style.visibility</p:attrName>
                                        </p:attrNameLst>
                                      </p:cBhvr>
                                      <p:to>
                                        <p:strVal val="visible"/>
                                      </p:to>
                                    </p:set>
                                    <p:animEffect transition="in" filter="fade">
                                      <p:cBhvr>
                                        <p:cTn id="29" dur="900"/>
                                        <p:tgtEl>
                                          <p:spTgt spid="10"/>
                                        </p:tgtEl>
                                      </p:cBhvr>
                                    </p:animEffect>
                                  </p:childTnLst>
                                </p:cTn>
                              </p:par>
                              <p:par>
                                <p:cTn id="33" presetID="10" presetClass="entr" presetSubtype="0" fill="hold" decel="100000" nodeType="withEffect">
                                  <p:stCondLst>
                                    <p:cond delay="1000"/>
                                  </p:stCondLst>
                                  <p:childTnLst>
                                    <p:set>
                                      <p:cBhvr>
                                        <p:cTn id="34" dur="1" fill="hold">
                                          <p:stCondLst>
                                            <p:cond delay="0"/>
                                          </p:stCondLst>
                                        </p:cTn>
                                        <p:tgtEl>
                                          <p:spTgt spid="11"/>
                                        </p:tgtEl>
                                        <p:attrNameLst>
                                          <p:attrName>style.visibility</p:attrName>
                                        </p:attrNameLst>
                                      </p:cBhvr>
                                      <p:to>
                                        <p:strVal val="visible"/>
                                      </p:to>
                                    </p:set>
                                    <p:animEffect transition="in" filter="fade">
                                      <p:cBhvr>
                                        <p:cTn id="32" dur="900"/>
                                        <p:tgtEl>
                                          <p:spTgt spid="11"/>
                                        </p:tgtEl>
                                      </p:cBhvr>
                                    </p:animEffect>
                                  </p:childTnLst>
                                </p:cTn>
                              </p:par>
                              <p:par>
                                <p:cTn id="37" presetID="2" presetClass="entr" presetSubtype="2" fill="hold" decel="100000" nodeType="withEffect">
                                  <p:stCondLst>
                                    <p:cond delay="1050"/>
                                  </p:stCondLst>
                                  <p:childTnLst>
                                    <p:set>
                                      <p:cBhvr>
                                        <p:cTn id="38" dur="1" fill="hold">
                                          <p:stCondLst>
                                            <p:cond delay="0"/>
                                          </p:stCondLst>
                                        </p:cTn>
                                        <p:tgtEl>
                                          <p:spTgt spid="12"/>
                                        </p:tgtEl>
                                        <p:attrNameLst>
                                          <p:attrName>style.visibility</p:attrName>
                                        </p:attrNameLst>
                                      </p:cBhvr>
                                      <p:to>
                                        <p:strVal val="visible"/>
                                      </p:to>
                                    </p:set>
                                    <p:anim calcmode="lin" valueType="num">
                                      <p:cBhvr additive="base">
                                        <p:cTn id="35" dur="900" fill="hold"/>
                                        <p:tgtEl>
                                          <p:spTgt spid="12"/>
                                        </p:tgtEl>
                                        <p:attrNameLst>
                                          <p:attrName>ppt_x</p:attrName>
                                        </p:attrNameLst>
                                      </p:cBhvr>
                                      <p:tavLst>
                                        <p:tav tm="0">
                                          <p:val>
                                            <p:strVal val="#ppt_x+0.025"/>
                                          </p:val>
                                        </p:tav>
                                        <p:tav tm="100000">
                                          <p:val>
                                            <p:strVal val="#ppt_x"/>
                                          </p:val>
                                        </p:tav>
                                      </p:tavLst>
                                    </p:anim>
                                    <p:animEffect transition="in" filter="fade">
                                      <p:cBhvr>
                                        <p:cTn id="36" dur="900"/>
                                        <p:tgtEl>
                                          <p:spTgt spid="12"/>
                                        </p:tgtEl>
                                      </p:cBhvr>
                                    </p:animEffect>
                                  </p:childTnLst>
                                </p:cTn>
                              </p:par>
                              <p:par>
                                <p:cTn id="41" presetID="2" presetClass="entr" presetSubtype="2" fill="hold" decel="100000" nodeType="withEffect">
                                  <p:stCondLst>
                                    <p:cond delay="950"/>
                                  </p:stCondLst>
                                  <p:childTnLst>
                                    <p:set>
                                      <p:cBhvr>
                                        <p:cTn id="42" dur="1" fill="hold">
                                          <p:stCondLst>
                                            <p:cond delay="0"/>
                                          </p:stCondLst>
                                        </p:cTn>
                                        <p:tgtEl>
                                          <p:spTgt spid="13"/>
                                        </p:tgtEl>
                                        <p:attrNameLst>
                                          <p:attrName>style.visibility</p:attrName>
                                        </p:attrNameLst>
                                      </p:cBhvr>
                                      <p:to>
                                        <p:strVal val="visible"/>
                                      </p:to>
                                    </p:set>
                                    <p:anim calcmode="lin" valueType="num">
                                      <p:cBhvr additive="base">
                                        <p:cTn id="39" dur="900" fill="hold"/>
                                        <p:tgtEl>
                                          <p:spTgt spid="13"/>
                                        </p:tgtEl>
                                        <p:attrNameLst>
                                          <p:attrName>ppt_x</p:attrName>
                                        </p:attrNameLst>
                                      </p:cBhvr>
                                      <p:tavLst>
                                        <p:tav tm="0">
                                          <p:val>
                                            <p:strVal val="#ppt_x+0.025"/>
                                          </p:val>
                                        </p:tav>
                                        <p:tav tm="100000">
                                          <p:val>
                                            <p:strVal val="#ppt_x"/>
                                          </p:val>
                                        </p:tav>
                                      </p:tavLst>
                                    </p:anim>
                                    <p:animEffect transition="in" filter="fade">
                                      <p:cBhvr>
                                        <p:cTn id="40" dur="900"/>
                                        <p:tgtEl>
                                          <p:spTgt spid="13"/>
                                        </p:tgtEl>
                                      </p:cBhvr>
                                    </p:animEffect>
                                  </p:childTnLst>
                                </p:cTn>
                              </p:par>
                              <p:par>
                                <p:cTn id="45" presetID="2" presetClass="entr" presetSubtype="2" fill="hold" decel="100000" nodeType="withEffect">
                                  <p:stCondLst>
                                    <p:cond delay="850"/>
                                  </p:stCondLst>
                                  <p:childTnLst>
                                    <p:set>
                                      <p:cBhvr>
                                        <p:cTn id="46" dur="1" fill="hold">
                                          <p:stCondLst>
                                            <p:cond delay="0"/>
                                          </p:stCondLst>
                                        </p:cTn>
                                        <p:tgtEl>
                                          <p:spTgt spid="14"/>
                                        </p:tgtEl>
                                        <p:attrNameLst>
                                          <p:attrName>style.visibility</p:attrName>
                                        </p:attrNameLst>
                                      </p:cBhvr>
                                      <p:to>
                                        <p:strVal val="visible"/>
                                      </p:to>
                                    </p:set>
                                    <p:anim calcmode="lin" valueType="num">
                                      <p:cBhvr additive="base">
                                        <p:cTn id="43" dur="900" fill="hold"/>
                                        <p:tgtEl>
                                          <p:spTgt spid="14"/>
                                        </p:tgtEl>
                                        <p:attrNameLst>
                                          <p:attrName>ppt_x</p:attrName>
                                        </p:attrNameLst>
                                      </p:cBhvr>
                                      <p:tavLst>
                                        <p:tav tm="0">
                                          <p:val>
                                            <p:strVal val="#ppt_x+0.025"/>
                                          </p:val>
                                        </p:tav>
                                        <p:tav tm="100000">
                                          <p:val>
                                            <p:strVal val="#ppt_x"/>
                                          </p:val>
                                        </p:tav>
                                      </p:tavLst>
                                    </p:anim>
                                    <p:animEffect transition="in" filter="fade">
                                      <p:cBhvr>
                                        <p:cTn id="44" dur="900"/>
                                        <p:tgtEl>
                                          <p:spTgt spid="14"/>
                                        </p:tgtEl>
                                      </p:cBhvr>
                                    </p:animEffect>
                                  </p:childTnLst>
                                </p:cTn>
                              </p:par>
                              <p:par>
                                <p:cTn id="49" presetID="2" presetClass="entr" presetSubtype="2" fill="hold" decel="100000" nodeType="withEffect">
                                  <p:stCondLst>
                                    <p:cond delay="750"/>
                                  </p:stCondLst>
                                  <p:childTnLst>
                                    <p:set>
                                      <p:cBhvr>
                                        <p:cTn id="50" dur="1" fill="hold">
                                          <p:stCondLst>
                                            <p:cond delay="0"/>
                                          </p:stCondLst>
                                        </p:cTn>
                                        <p:tgtEl>
                                          <p:spTgt spid="15"/>
                                        </p:tgtEl>
                                        <p:attrNameLst>
                                          <p:attrName>style.visibility</p:attrName>
                                        </p:attrNameLst>
                                      </p:cBhvr>
                                      <p:to>
                                        <p:strVal val="visible"/>
                                      </p:to>
                                    </p:set>
                                    <p:anim calcmode="lin" valueType="num">
                                      <p:cBhvr additive="base">
                                        <p:cTn id="47" dur="900" fill="hold"/>
                                        <p:tgtEl>
                                          <p:spTgt spid="15"/>
                                        </p:tgtEl>
                                        <p:attrNameLst>
                                          <p:attrName>ppt_x</p:attrName>
                                        </p:attrNameLst>
                                      </p:cBhvr>
                                      <p:tavLst>
                                        <p:tav tm="0">
                                          <p:val>
                                            <p:strVal val="#ppt_x+0.025"/>
                                          </p:val>
                                        </p:tav>
                                        <p:tav tm="100000">
                                          <p:val>
                                            <p:strVal val="#ppt_x"/>
                                          </p:val>
                                        </p:tav>
                                      </p:tavLst>
                                    </p:anim>
                                    <p:animEffect transition="in" filter="fade">
                                      <p:cBhvr>
                                        <p:cTn id="48" dur="9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ground" descr="Two divisions slide background"/>
          <p:cNvPicPr>
            <a:picLocks noChangeAspect="1"/>
          </p:cNvPicPr>
          <p:nvPr/>
        </p:nvPicPr>
        <p:blipFill>
          <a:blip r:embed="rId2"/>
          <a:stretch>
            <a:fillRect/>
          </a:stretch>
        </p:blipFill>
        <p:spPr>
          <a:xfrm>
            <a:off x="0" y="0"/>
            <a:ext cx="12192000" cy="6858000"/>
          </a:xfrm>
          <a:prstGeom prst="rect">
            <a:avLst/>
          </a:prstGeom>
        </p:spPr>
      </p:pic>
      <p:pic>
        <p:nvPicPr>
          <p:cNvPr id="3" name="00 fade · Countdown · example · Commerci" descr="Countdown · example · Commercial Reserve designed"/>
          <p:cNvPicPr>
            <a:picLocks noChangeAspect="1"/>
          </p:cNvPicPr>
          <p:nvPr/>
        </p:nvPicPr>
        <p:blipFill>
          <a:blip r:embed="rId3"/>
          <a:stretch>
            <a:fillRect/>
          </a:stretch>
        </p:blipFill>
        <p:spPr>
          <a:xfrm>
            <a:off x="7054850" y="558800"/>
            <a:ext cx="4476750" cy="546100"/>
          </a:xfrm>
          <a:prstGeom prst="rect">
            <a:avLst/>
          </a:prstGeom>
        </p:spPr>
      </p:pic>
      <p:pic>
        <p:nvPicPr>
          <p:cNvPr id="4" name="01 fade · 06Two divisions" descr="06Two divisions"/>
          <p:cNvPicPr>
            <a:picLocks noChangeAspect="1"/>
          </p:cNvPicPr>
          <p:nvPr/>
        </p:nvPicPr>
        <p:blipFill>
          <a:blip r:embed="rId4"/>
          <a:stretch>
            <a:fillRect/>
          </a:stretch>
        </p:blipFill>
        <p:spPr>
          <a:xfrm>
            <a:off x="660400" y="609600"/>
            <a:ext cx="10871200" cy="444500"/>
          </a:xfrm>
          <a:prstGeom prst="rect">
            <a:avLst/>
          </a:prstGeom>
        </p:spPr>
      </p:pic>
      <p:pic>
        <p:nvPicPr>
          <p:cNvPr id="5" name="02 up · Two clocks, one platform." descr="Two clocks, one platform."/>
          <p:cNvPicPr>
            <a:picLocks noChangeAspect="1"/>
          </p:cNvPicPr>
          <p:nvPr/>
        </p:nvPicPr>
        <p:blipFill>
          <a:blip r:embed="rId5"/>
          <a:stretch>
            <a:fillRect/>
          </a:stretch>
        </p:blipFill>
        <p:spPr>
          <a:xfrm>
            <a:off x="660400" y="977900"/>
            <a:ext cx="9829800" cy="838200"/>
          </a:xfrm>
          <a:prstGeom prst="rect">
            <a:avLst/>
          </a:prstGeom>
        </p:spPr>
      </p:pic>
      <p:pic>
        <p:nvPicPr>
          <p:cNvPr id="6" name="03 up · Physical clockCalculated Therm" descr="Physical clockCalculated Thermal Reserve 45 min left For 3PLs, fleets and warehouses. Sensors and edge gateways record the Thermal Trace and give a live countdown. 3PLsFleetsWarehouses"/>
          <p:cNvPicPr>
            <a:picLocks noChangeAspect="1"/>
          </p:cNvPicPr>
          <p:nvPr/>
        </p:nvPicPr>
        <p:blipFill>
          <a:blip r:embed="rId6"/>
          <a:stretch>
            <a:fillRect/>
          </a:stretch>
        </p:blipFill>
        <p:spPr>
          <a:xfrm>
            <a:off x="660400" y="1784350"/>
            <a:ext cx="5499100" cy="2978150"/>
          </a:xfrm>
          <a:prstGeom prst="rect">
            <a:avLst/>
          </a:prstGeom>
        </p:spPr>
      </p:pic>
      <p:pic>
        <p:nvPicPr>
          <p:cNvPr id="7" name="04 up · Commercial clockPredicted Comm" descr="Commercial clockPredicted Commercial Reserve POS · ERP · WMS → route → price to clear For hypermarkets and HORECA. Joins the physical state with POS, ERP and WMS to route stock, and price it to clear."/>
          <p:cNvPicPr>
            <a:picLocks noChangeAspect="1"/>
          </p:cNvPicPr>
          <p:nvPr/>
        </p:nvPicPr>
        <p:blipFill>
          <a:blip r:embed="rId7"/>
          <a:stretch>
            <a:fillRect/>
          </a:stretch>
        </p:blipFill>
        <p:spPr>
          <a:xfrm>
            <a:off x="6032500" y="1784350"/>
            <a:ext cx="5499100" cy="2978150"/>
          </a:xfrm>
          <a:prstGeom prst="rect">
            <a:avLst/>
          </a:prstGeom>
        </p:spPr>
      </p:pic>
      <p:pic>
        <p:nvPicPr>
          <p:cNvPr id="8" name="05 up · Entry point · Thermal ReserveC" descr="Entry point · Thermal ReserveControlled extension · Commercial Reserve"/>
          <p:cNvPicPr>
            <a:picLocks noChangeAspect="1"/>
          </p:cNvPicPr>
          <p:nvPr/>
        </p:nvPicPr>
        <p:blipFill>
          <a:blip r:embed="rId8"/>
          <a:stretch>
            <a:fillRect/>
          </a:stretch>
        </p:blipFill>
        <p:spPr>
          <a:xfrm>
            <a:off x="660400" y="4730750"/>
            <a:ext cx="10871200" cy="43180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4" presetID="10" presetClass="entr" presetSubtype="0" fill="hold" decel="100000" nodeType="withEffect">
                                  <p:stCondLst>
                                    <p:cond delay="200"/>
                                  </p:stCondLst>
                                  <p:childTnLst>
                                    <p:set>
                                      <p:cBhvr>
                                        <p:cTn id="5" dur="1" fill="hold">
                                          <p:stCondLst>
                                            <p:cond delay="0"/>
                                          </p:stCondLst>
                                        </p:cTn>
                                        <p:tgtEl>
                                          <p:spTgt spid="3"/>
                                        </p:tgtEl>
                                        <p:attrNameLst>
                                          <p:attrName>style.visibility</p:attrName>
                                        </p:attrNameLst>
                                      </p:cBhvr>
                                      <p:to>
                                        <p:strVal val="visible"/>
                                      </p:to>
                                    </p:set>
                                    <p:animEffect transition="in" filter="fade">
                                      <p:cBhvr>
                                        <p:cTn id="3" dur="900"/>
                                        <p:tgtEl>
                                          <p:spTgt spid="3"/>
                                        </p:tgtEl>
                                      </p:cBhvr>
                                    </p:animEffect>
                                  </p:childTnLst>
                                </p:cTn>
                              </p:par>
                              <p:par>
                                <p:cTn id="7" presetID="10" presetClass="entr" presetSubtype="0" fill="hold" decel="100000" nodeType="withEffect">
                                  <p:stCondLst>
                                    <p:cond delay="0"/>
                                  </p:stCondLst>
                                  <p:childTnLst>
                                    <p:set>
                                      <p:cBhvr>
                                        <p:cTn id="8" dur="1" fill="hold">
                                          <p:stCondLst>
                                            <p:cond delay="0"/>
                                          </p:stCondLst>
                                        </p:cTn>
                                        <p:tgtEl>
                                          <p:spTgt spid="4"/>
                                        </p:tgtEl>
                                        <p:attrNameLst>
                                          <p:attrName>style.visibility</p:attrName>
                                        </p:attrNameLst>
                                      </p:cBhvr>
                                      <p:to>
                                        <p:strVal val="visible"/>
                                      </p:to>
                                    </p:set>
                                    <p:animEffect transition="in" filter="fade">
                                      <p:cBhvr>
                                        <p:cTn id="6" dur="900"/>
                                        <p:tgtEl>
                                          <p:spTgt spid="4"/>
                                        </p:tgtEl>
                                      </p:cBhvr>
                                    </p:animEffect>
                                  </p:childTnLst>
                                </p:cTn>
                              </p:par>
                              <p:par>
                                <p:cTn id="11" presetID="2" presetClass="entr" presetSubtype="4" fill="hold" decel="100000" nodeType="withEffect">
                                  <p:stCondLst>
                                    <p:cond delay="120"/>
                                  </p:stCondLst>
                                  <p:childTnLst>
                                    <p:set>
                                      <p:cBhvr>
                                        <p:cTn id="12" dur="1" fill="hold">
                                          <p:stCondLst>
                                            <p:cond delay="0"/>
                                          </p:stCondLst>
                                        </p:cTn>
                                        <p:tgtEl>
                                          <p:spTgt spid="5"/>
                                        </p:tgtEl>
                                        <p:attrNameLst>
                                          <p:attrName>style.visibility</p:attrName>
                                        </p:attrNameLst>
                                      </p:cBhvr>
                                      <p:to>
                                        <p:strVal val="visible"/>
                                      </p:to>
                                    </p:set>
                                    <p:anim calcmode="lin" valueType="num">
                                      <p:cBhvr additive="base">
                                        <p:cTn id="9" dur="900" fill="hold"/>
                                        <p:tgtEl>
                                          <p:spTgt spid="5"/>
                                        </p:tgtEl>
                                        <p:attrNameLst>
                                          <p:attrName>ppt_y</p:attrName>
                                        </p:attrNameLst>
                                      </p:cBhvr>
                                      <p:tavLst>
                                        <p:tav tm="0">
                                          <p:val>
                                            <p:strVal val="#ppt_y+0.03"/>
                                          </p:val>
                                        </p:tav>
                                        <p:tav tm="100000">
                                          <p:val>
                                            <p:strVal val="#ppt_y"/>
                                          </p:val>
                                        </p:tav>
                                      </p:tavLst>
                                    </p:anim>
                                    <p:animEffect transition="in" filter="fade">
                                      <p:cBhvr>
                                        <p:cTn id="10" dur="900"/>
                                        <p:tgtEl>
                                          <p:spTgt spid="5"/>
                                        </p:tgtEl>
                                      </p:cBhvr>
                                    </p:animEffect>
                                  </p:childTnLst>
                                </p:cTn>
                              </p:par>
                              <p:par>
                                <p:cTn id="15" presetID="2" presetClass="entr" presetSubtype="4" fill="hold" decel="100000" nodeType="withEffect">
                                  <p:stCondLst>
                                    <p:cond delay="300"/>
                                  </p:stCondLst>
                                  <p:childTnLst>
                                    <p:set>
                                      <p:cBhvr>
                                        <p:cTn id="16" dur="1" fill="hold">
                                          <p:stCondLst>
                                            <p:cond delay="0"/>
                                          </p:stCondLst>
                                        </p:cTn>
                                        <p:tgtEl>
                                          <p:spTgt spid="6"/>
                                        </p:tgtEl>
                                        <p:attrNameLst>
                                          <p:attrName>style.visibility</p:attrName>
                                        </p:attrNameLst>
                                      </p:cBhvr>
                                      <p:to>
                                        <p:strVal val="visible"/>
                                      </p:to>
                                    </p:set>
                                    <p:anim calcmode="lin" valueType="num">
                                      <p:cBhvr additive="base">
                                        <p:cTn id="13" dur="900" fill="hold"/>
                                        <p:tgtEl>
                                          <p:spTgt spid="6"/>
                                        </p:tgtEl>
                                        <p:attrNameLst>
                                          <p:attrName>ppt_y</p:attrName>
                                        </p:attrNameLst>
                                      </p:cBhvr>
                                      <p:tavLst>
                                        <p:tav tm="0">
                                          <p:val>
                                            <p:strVal val="#ppt_y+0.03"/>
                                          </p:val>
                                        </p:tav>
                                        <p:tav tm="100000">
                                          <p:val>
                                            <p:strVal val="#ppt_y"/>
                                          </p:val>
                                        </p:tav>
                                      </p:tavLst>
                                    </p:anim>
                                    <p:animEffect transition="in" filter="fade">
                                      <p:cBhvr>
                                        <p:cTn id="14" dur="900"/>
                                        <p:tgtEl>
                                          <p:spTgt spid="6"/>
                                        </p:tgtEl>
                                      </p:cBhvr>
                                    </p:animEffect>
                                  </p:childTnLst>
                                </p:cTn>
                              </p:par>
                              <p:par>
                                <p:cTn id="19" presetID="2" presetClass="entr" presetSubtype="4" fill="hold" decel="100000" nodeType="withEffect">
                                  <p:stCondLst>
                                    <p:cond delay="450"/>
                                  </p:stCondLst>
                                  <p:childTnLst>
                                    <p:set>
                                      <p:cBhvr>
                                        <p:cTn id="20" dur="1" fill="hold">
                                          <p:stCondLst>
                                            <p:cond delay="0"/>
                                          </p:stCondLst>
                                        </p:cTn>
                                        <p:tgtEl>
                                          <p:spTgt spid="7"/>
                                        </p:tgtEl>
                                        <p:attrNameLst>
                                          <p:attrName>style.visibility</p:attrName>
                                        </p:attrNameLst>
                                      </p:cBhvr>
                                      <p:to>
                                        <p:strVal val="visible"/>
                                      </p:to>
                                    </p:set>
                                    <p:anim calcmode="lin" valueType="num">
                                      <p:cBhvr additive="base">
                                        <p:cTn id="17" dur="900" fill="hold"/>
                                        <p:tgtEl>
                                          <p:spTgt spid="7"/>
                                        </p:tgtEl>
                                        <p:attrNameLst>
                                          <p:attrName>ppt_y</p:attrName>
                                        </p:attrNameLst>
                                      </p:cBhvr>
                                      <p:tavLst>
                                        <p:tav tm="0">
                                          <p:val>
                                            <p:strVal val="#ppt_y+0.03"/>
                                          </p:val>
                                        </p:tav>
                                        <p:tav tm="100000">
                                          <p:val>
                                            <p:strVal val="#ppt_y"/>
                                          </p:val>
                                        </p:tav>
                                      </p:tavLst>
                                    </p:anim>
                                    <p:animEffect transition="in" filter="fade">
                                      <p:cBhvr>
                                        <p:cTn id="18" dur="900"/>
                                        <p:tgtEl>
                                          <p:spTgt spid="7"/>
                                        </p:tgtEl>
                                      </p:cBhvr>
                                    </p:animEffect>
                                  </p:childTnLst>
                                </p:cTn>
                              </p:par>
                              <p:par>
                                <p:cTn id="23" presetID="2" presetClass="entr" presetSubtype="4" fill="hold" decel="100000" nodeType="withEffect">
                                  <p:stCondLst>
                                    <p:cond delay="700"/>
                                  </p:stCondLst>
                                  <p:childTnLst>
                                    <p:set>
                                      <p:cBhvr>
                                        <p:cTn id="24" dur="1" fill="hold">
                                          <p:stCondLst>
                                            <p:cond delay="0"/>
                                          </p:stCondLst>
                                        </p:cTn>
                                        <p:tgtEl>
                                          <p:spTgt spid="8"/>
                                        </p:tgtEl>
                                        <p:attrNameLst>
                                          <p:attrName>style.visibility</p:attrName>
                                        </p:attrNameLst>
                                      </p:cBhvr>
                                      <p:to>
                                        <p:strVal val="visible"/>
                                      </p:to>
                                    </p:set>
                                    <p:anim calcmode="lin" valueType="num">
                                      <p:cBhvr additive="base">
                                        <p:cTn id="21" dur="900" fill="hold"/>
                                        <p:tgtEl>
                                          <p:spTgt spid="8"/>
                                        </p:tgtEl>
                                        <p:attrNameLst>
                                          <p:attrName>ppt_y</p:attrName>
                                        </p:attrNameLst>
                                      </p:cBhvr>
                                      <p:tavLst>
                                        <p:tav tm="0">
                                          <p:val>
                                            <p:strVal val="#ppt_y+0.03"/>
                                          </p:val>
                                        </p:tav>
                                        <p:tav tm="100000">
                                          <p:val>
                                            <p:strVal val="#ppt_y"/>
                                          </p:val>
                                        </p:tav>
                                      </p:tavLst>
                                    </p:anim>
                                    <p:animEffect transition="in" filter="fade">
                                      <p:cBhvr>
                                        <p:cTn id="22" dur="9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ground" descr="What we measure slide background"/>
          <p:cNvPicPr>
            <a:picLocks noChangeAspect="1"/>
          </p:cNvPicPr>
          <p:nvPr/>
        </p:nvPicPr>
        <p:blipFill>
          <a:blip r:embed="rId2"/>
          <a:stretch>
            <a:fillRect/>
          </a:stretch>
        </p:blipFill>
        <p:spPr>
          <a:xfrm>
            <a:off x="0" y="0"/>
            <a:ext cx="12192000" cy="6858000"/>
          </a:xfrm>
          <a:prstGeom prst="rect">
            <a:avLst/>
          </a:prstGeom>
        </p:spPr>
      </p:pic>
      <p:pic>
        <p:nvPicPr>
          <p:cNvPr id="3" name="00 fade · 07What we measure" descr="07What we measure"/>
          <p:cNvPicPr>
            <a:picLocks noChangeAspect="1"/>
          </p:cNvPicPr>
          <p:nvPr/>
        </p:nvPicPr>
        <p:blipFill>
          <a:blip r:embed="rId3"/>
          <a:stretch>
            <a:fillRect/>
          </a:stretch>
        </p:blipFill>
        <p:spPr>
          <a:xfrm>
            <a:off x="660400" y="609600"/>
            <a:ext cx="10871200" cy="444500"/>
          </a:xfrm>
          <a:prstGeom prst="rect">
            <a:avLst/>
          </a:prstGeom>
        </p:spPr>
      </p:pic>
      <p:pic>
        <p:nvPicPr>
          <p:cNvPr id="4" name="01 up · Six signals. Three numbers tha" descr="Six signals. Three numbers that matter."/>
          <p:cNvPicPr>
            <a:picLocks noChangeAspect="1"/>
          </p:cNvPicPr>
          <p:nvPr/>
        </p:nvPicPr>
        <p:blipFill>
          <a:blip r:embed="rId4"/>
          <a:stretch>
            <a:fillRect/>
          </a:stretch>
        </p:blipFill>
        <p:spPr>
          <a:xfrm>
            <a:off x="660400" y="977900"/>
            <a:ext cx="9829800" cy="838200"/>
          </a:xfrm>
          <a:prstGeom prst="rect">
            <a:avLst/>
          </a:prstGeom>
        </p:spPr>
      </p:pic>
      <p:pic>
        <p:nvPicPr>
          <p:cNvPr id="5" name="02 up · Temperature DHT11 today · DS18" descr="Temperature DHT11 today · DS18B20 next The demo node reads one point. Ceiling and floor probes are the next step, so a warm layer shows up instead of hiding in an average."/>
          <p:cNvPicPr>
            <a:picLocks noChangeAspect="1"/>
          </p:cNvPicPr>
          <p:nvPr/>
        </p:nvPicPr>
        <p:blipFill>
          <a:blip r:embed="rId5"/>
          <a:stretch>
            <a:fillRect/>
          </a:stretch>
        </p:blipFill>
        <p:spPr>
          <a:xfrm>
            <a:off x="660400" y="1695450"/>
            <a:ext cx="3752850" cy="1739900"/>
          </a:xfrm>
          <a:prstGeom prst="rect">
            <a:avLst/>
          </a:prstGeom>
        </p:spPr>
      </p:pic>
      <p:pic>
        <p:nvPicPr>
          <p:cNvPr id="6" name="03 up · Humidity DHT11 today · SHT3x n" descr="Humidity DHT11 today · SHT3x next Rising humidity shows whether an open door is wetting the cartons."/>
          <p:cNvPicPr>
            <a:picLocks noChangeAspect="1"/>
          </p:cNvPicPr>
          <p:nvPr/>
        </p:nvPicPr>
        <p:blipFill>
          <a:blip r:embed="rId6"/>
          <a:stretch>
            <a:fillRect/>
          </a:stretch>
        </p:blipFill>
        <p:spPr>
          <a:xfrm>
            <a:off x="4216400" y="1695450"/>
            <a:ext cx="3759200" cy="1739900"/>
          </a:xfrm>
          <a:prstGeom prst="rect">
            <a:avLst/>
          </a:prstGeom>
        </p:spPr>
      </p:pic>
      <p:pic>
        <p:nvPicPr>
          <p:cNvPr id="7" name="04 up · Shock &amp; tilt · simulated 3-axi" descr="Shock &amp; tilt · simulated 3-axis MEMS · designed Bruising from a dropped pallet is damage a thermometer never sees."/>
          <p:cNvPicPr>
            <a:picLocks noChangeAspect="1"/>
          </p:cNvPicPr>
          <p:nvPr/>
        </p:nvPicPr>
        <p:blipFill>
          <a:blip r:embed="rId7"/>
          <a:stretch>
            <a:fillRect/>
          </a:stretch>
        </p:blipFill>
        <p:spPr>
          <a:xfrm>
            <a:off x="7778750" y="1695450"/>
            <a:ext cx="3752850" cy="1739900"/>
          </a:xfrm>
          <a:prstGeom prst="rect">
            <a:avLst/>
          </a:prstGeom>
        </p:spPr>
      </p:pic>
      <p:pic>
        <p:nvPicPr>
          <p:cNvPr id="8" name="05 up · Gases · designed Metal-oxide ·" descr="Gases · designed Metal-oxide · VOC, C2H4 Ethylene is the fruit itself reporting that it has started to ripen."/>
          <p:cNvPicPr>
            <a:picLocks noChangeAspect="1"/>
          </p:cNvPicPr>
          <p:nvPr/>
        </p:nvPicPr>
        <p:blipFill>
          <a:blip r:embed="rId8"/>
          <a:stretch>
            <a:fillRect/>
          </a:stretch>
        </p:blipFill>
        <p:spPr>
          <a:xfrm>
            <a:off x="660400" y="3238500"/>
            <a:ext cx="3752850" cy="1593850"/>
          </a:xfrm>
          <a:prstGeom prst="rect">
            <a:avLst/>
          </a:prstGeom>
        </p:spPr>
      </p:pic>
      <p:pic>
        <p:nvPicPr>
          <p:cNvPr id="9" name="06 up · Sub-surface · designed NIR · 7" descr="Sub-surface · designed NIR · 700–2500 nm Finds internal bruising before anything is visible from outside."/>
          <p:cNvPicPr>
            <a:picLocks noChangeAspect="1"/>
          </p:cNvPicPr>
          <p:nvPr/>
        </p:nvPicPr>
        <p:blipFill>
          <a:blip r:embed="rId9"/>
          <a:stretch>
            <a:fillRect/>
          </a:stretch>
        </p:blipFill>
        <p:spPr>
          <a:xfrm>
            <a:off x="4216400" y="3238500"/>
            <a:ext cx="3759200" cy="1593850"/>
          </a:xfrm>
          <a:prstGeom prst="rect">
            <a:avLst/>
          </a:prstGeom>
        </p:spPr>
      </p:pic>
      <p:pic>
        <p:nvPicPr>
          <p:cNvPr id="10" name="07 up · Surface · designed RGB camera " descr="Surface · designed RGB camera · edge vision Colour shift, mould, and a count of what is actually on the shelf."/>
          <p:cNvPicPr>
            <a:picLocks noChangeAspect="1"/>
          </p:cNvPicPr>
          <p:nvPr/>
        </p:nvPicPr>
        <p:blipFill>
          <a:blip r:embed="rId10"/>
          <a:stretch>
            <a:fillRect/>
          </a:stretch>
        </p:blipFill>
        <p:spPr>
          <a:xfrm>
            <a:off x="7778750" y="3238500"/>
            <a:ext cx="3752850" cy="1593850"/>
          </a:xfrm>
          <a:prstGeom prst="rect">
            <a:avLst/>
          </a:prstGeom>
        </p:spPr>
      </p:pic>
      <p:pic>
        <p:nvPicPr>
          <p:cNvPr id="11" name="08 up · They feed Deterioration detect" descr="They feed Deterioration detection Remaining Useful Time Thermal exposure ET Calculated"/>
          <p:cNvPicPr>
            <a:picLocks noChangeAspect="1"/>
          </p:cNvPicPr>
          <p:nvPr/>
        </p:nvPicPr>
        <p:blipFill>
          <a:blip r:embed="rId11"/>
          <a:stretch>
            <a:fillRect/>
          </a:stretch>
        </p:blipFill>
        <p:spPr>
          <a:xfrm>
            <a:off x="660400" y="4686300"/>
            <a:ext cx="10871200" cy="711200"/>
          </a:xfrm>
          <a:prstGeom prst="rect">
            <a:avLst/>
          </a:prstGeom>
        </p:spPr>
      </p:pic>
      <p:pic>
        <p:nvPicPr>
          <p:cNvPr id="12" name="09 up · Temperature and humidity flow " descr="Temperature and humidity flow from a real sensor node today (DHT11, about ±2 °C); shock is simulated and the rest are the designed next layer. All publish the same message, so adding one changes nothi"/>
          <p:cNvPicPr>
            <a:picLocks noChangeAspect="1"/>
          </p:cNvPicPr>
          <p:nvPr/>
        </p:nvPicPr>
        <p:blipFill>
          <a:blip r:embed="rId12"/>
          <a:stretch>
            <a:fillRect/>
          </a:stretch>
        </p:blipFill>
        <p:spPr>
          <a:xfrm>
            <a:off x="660400" y="5175250"/>
            <a:ext cx="10871200" cy="74930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4" presetID="10" presetClass="entr" presetSubtype="0" fill="hold" decel="10000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3" dur="900"/>
                                        <p:tgtEl>
                                          <p:spTgt spid="3"/>
                                        </p:tgtEl>
                                      </p:cBhvr>
                                    </p:animEffect>
                                  </p:childTnLst>
                                </p:cTn>
                              </p:par>
                              <p:par>
                                <p:cTn id="8" presetID="2" presetClass="entr" presetSubtype="4" fill="hold" decel="100000" nodeType="withEffect">
                                  <p:stCondLst>
                                    <p:cond delay="120"/>
                                  </p:stCondLst>
                                  <p:childTnLst>
                                    <p:set>
                                      <p:cBhvr>
                                        <p:cTn id="9" dur="1" fill="hold">
                                          <p:stCondLst>
                                            <p:cond delay="0"/>
                                          </p:stCondLst>
                                        </p:cTn>
                                        <p:tgtEl>
                                          <p:spTgt spid="4"/>
                                        </p:tgtEl>
                                        <p:attrNameLst>
                                          <p:attrName>style.visibility</p:attrName>
                                        </p:attrNameLst>
                                      </p:cBhvr>
                                      <p:to>
                                        <p:strVal val="visible"/>
                                      </p:to>
                                    </p:set>
                                    <p:anim calcmode="lin" valueType="num">
                                      <p:cBhvr additive="base">
                                        <p:cTn id="6" dur="900" fill="hold"/>
                                        <p:tgtEl>
                                          <p:spTgt spid="4"/>
                                        </p:tgtEl>
                                        <p:attrNameLst>
                                          <p:attrName>ppt_y</p:attrName>
                                        </p:attrNameLst>
                                      </p:cBhvr>
                                      <p:tavLst>
                                        <p:tav tm="0">
                                          <p:val>
                                            <p:strVal val="#ppt_y+0.03"/>
                                          </p:val>
                                        </p:tav>
                                        <p:tav tm="100000">
                                          <p:val>
                                            <p:strVal val="#ppt_y"/>
                                          </p:val>
                                        </p:tav>
                                      </p:tavLst>
                                    </p:anim>
                                    <p:animEffect transition="in" filter="fade">
                                      <p:cBhvr>
                                        <p:cTn id="7" dur="900"/>
                                        <p:tgtEl>
                                          <p:spTgt spid="4"/>
                                        </p:tgtEl>
                                      </p:cBhvr>
                                    </p:animEffect>
                                  </p:childTnLst>
                                </p:cTn>
                              </p:par>
                              <p:par>
                                <p:cTn id="12" presetID="2" presetClass="entr" presetSubtype="4" fill="hold" decel="100000" nodeType="withEffect">
                                  <p:stCondLst>
                                    <p:cond delay="300"/>
                                  </p:stCondLst>
                                  <p:childTnLst>
                                    <p:set>
                                      <p:cBhvr>
                                        <p:cTn id="13" dur="1" fill="hold">
                                          <p:stCondLst>
                                            <p:cond delay="0"/>
                                          </p:stCondLst>
                                        </p:cTn>
                                        <p:tgtEl>
                                          <p:spTgt spid="5"/>
                                        </p:tgtEl>
                                        <p:attrNameLst>
                                          <p:attrName>style.visibility</p:attrName>
                                        </p:attrNameLst>
                                      </p:cBhvr>
                                      <p:to>
                                        <p:strVal val="visible"/>
                                      </p:to>
                                    </p:set>
                                    <p:anim calcmode="lin" valueType="num">
                                      <p:cBhvr additive="base">
                                        <p:cTn id="10" dur="900" fill="hold"/>
                                        <p:tgtEl>
                                          <p:spTgt spid="5"/>
                                        </p:tgtEl>
                                        <p:attrNameLst>
                                          <p:attrName>ppt_y</p:attrName>
                                        </p:attrNameLst>
                                      </p:cBhvr>
                                      <p:tavLst>
                                        <p:tav tm="0">
                                          <p:val>
                                            <p:strVal val="#ppt_y+0.03"/>
                                          </p:val>
                                        </p:tav>
                                        <p:tav tm="100000">
                                          <p:val>
                                            <p:strVal val="#ppt_y"/>
                                          </p:val>
                                        </p:tav>
                                      </p:tavLst>
                                    </p:anim>
                                    <p:animEffect transition="in" filter="fade">
                                      <p:cBhvr>
                                        <p:cTn id="11" dur="900"/>
                                        <p:tgtEl>
                                          <p:spTgt spid="5"/>
                                        </p:tgtEl>
                                      </p:cBhvr>
                                    </p:animEffect>
                                  </p:childTnLst>
                                </p:cTn>
                              </p:par>
                              <p:par>
                                <p:cTn id="16" presetID="2" presetClass="entr" presetSubtype="4" fill="hold" decel="100000" nodeType="withEffect">
                                  <p:stCondLst>
                                    <p:cond delay="370"/>
                                  </p:stCondLst>
                                  <p:childTnLst>
                                    <p:set>
                                      <p:cBhvr>
                                        <p:cTn id="17" dur="1" fill="hold">
                                          <p:stCondLst>
                                            <p:cond delay="0"/>
                                          </p:stCondLst>
                                        </p:cTn>
                                        <p:tgtEl>
                                          <p:spTgt spid="6"/>
                                        </p:tgtEl>
                                        <p:attrNameLst>
                                          <p:attrName>style.visibility</p:attrName>
                                        </p:attrNameLst>
                                      </p:cBhvr>
                                      <p:to>
                                        <p:strVal val="visible"/>
                                      </p:to>
                                    </p:set>
                                    <p:anim calcmode="lin" valueType="num">
                                      <p:cBhvr additive="base">
                                        <p:cTn id="14" dur="900" fill="hold"/>
                                        <p:tgtEl>
                                          <p:spTgt spid="6"/>
                                        </p:tgtEl>
                                        <p:attrNameLst>
                                          <p:attrName>ppt_y</p:attrName>
                                        </p:attrNameLst>
                                      </p:cBhvr>
                                      <p:tavLst>
                                        <p:tav tm="0">
                                          <p:val>
                                            <p:strVal val="#ppt_y+0.03"/>
                                          </p:val>
                                        </p:tav>
                                        <p:tav tm="100000">
                                          <p:val>
                                            <p:strVal val="#ppt_y"/>
                                          </p:val>
                                        </p:tav>
                                      </p:tavLst>
                                    </p:anim>
                                    <p:animEffect transition="in" filter="fade">
                                      <p:cBhvr>
                                        <p:cTn id="15" dur="900"/>
                                        <p:tgtEl>
                                          <p:spTgt spid="6"/>
                                        </p:tgtEl>
                                      </p:cBhvr>
                                    </p:animEffect>
                                  </p:childTnLst>
                                </p:cTn>
                              </p:par>
                              <p:par>
                                <p:cTn id="20" presetID="2" presetClass="entr" presetSubtype="4" fill="hold" decel="100000" nodeType="withEffect">
                                  <p:stCondLst>
                                    <p:cond delay="440"/>
                                  </p:stCondLst>
                                  <p:childTnLst>
                                    <p:set>
                                      <p:cBhvr>
                                        <p:cTn id="21" dur="1" fill="hold">
                                          <p:stCondLst>
                                            <p:cond delay="0"/>
                                          </p:stCondLst>
                                        </p:cTn>
                                        <p:tgtEl>
                                          <p:spTgt spid="7"/>
                                        </p:tgtEl>
                                        <p:attrNameLst>
                                          <p:attrName>style.visibility</p:attrName>
                                        </p:attrNameLst>
                                      </p:cBhvr>
                                      <p:to>
                                        <p:strVal val="visible"/>
                                      </p:to>
                                    </p:set>
                                    <p:anim calcmode="lin" valueType="num">
                                      <p:cBhvr additive="base">
                                        <p:cTn id="18" dur="900" fill="hold"/>
                                        <p:tgtEl>
                                          <p:spTgt spid="7"/>
                                        </p:tgtEl>
                                        <p:attrNameLst>
                                          <p:attrName>ppt_y</p:attrName>
                                        </p:attrNameLst>
                                      </p:cBhvr>
                                      <p:tavLst>
                                        <p:tav tm="0">
                                          <p:val>
                                            <p:strVal val="#ppt_y+0.03"/>
                                          </p:val>
                                        </p:tav>
                                        <p:tav tm="100000">
                                          <p:val>
                                            <p:strVal val="#ppt_y"/>
                                          </p:val>
                                        </p:tav>
                                      </p:tavLst>
                                    </p:anim>
                                    <p:animEffect transition="in" filter="fade">
                                      <p:cBhvr>
                                        <p:cTn id="19" dur="900"/>
                                        <p:tgtEl>
                                          <p:spTgt spid="7"/>
                                        </p:tgtEl>
                                      </p:cBhvr>
                                    </p:animEffect>
                                  </p:childTnLst>
                                </p:cTn>
                              </p:par>
                              <p:par>
                                <p:cTn id="24" presetID="2" presetClass="entr" presetSubtype="4" fill="hold" decel="100000" nodeType="withEffect">
                                  <p:stCondLst>
                                    <p:cond delay="510"/>
                                  </p:stCondLst>
                                  <p:childTnLst>
                                    <p:set>
                                      <p:cBhvr>
                                        <p:cTn id="25" dur="1" fill="hold">
                                          <p:stCondLst>
                                            <p:cond delay="0"/>
                                          </p:stCondLst>
                                        </p:cTn>
                                        <p:tgtEl>
                                          <p:spTgt spid="8"/>
                                        </p:tgtEl>
                                        <p:attrNameLst>
                                          <p:attrName>style.visibility</p:attrName>
                                        </p:attrNameLst>
                                      </p:cBhvr>
                                      <p:to>
                                        <p:strVal val="visible"/>
                                      </p:to>
                                    </p:set>
                                    <p:anim calcmode="lin" valueType="num">
                                      <p:cBhvr additive="base">
                                        <p:cTn id="22" dur="900" fill="hold"/>
                                        <p:tgtEl>
                                          <p:spTgt spid="8"/>
                                        </p:tgtEl>
                                        <p:attrNameLst>
                                          <p:attrName>ppt_y</p:attrName>
                                        </p:attrNameLst>
                                      </p:cBhvr>
                                      <p:tavLst>
                                        <p:tav tm="0">
                                          <p:val>
                                            <p:strVal val="#ppt_y+0.03"/>
                                          </p:val>
                                        </p:tav>
                                        <p:tav tm="100000">
                                          <p:val>
                                            <p:strVal val="#ppt_y"/>
                                          </p:val>
                                        </p:tav>
                                      </p:tavLst>
                                    </p:anim>
                                    <p:animEffect transition="in" filter="fade">
                                      <p:cBhvr>
                                        <p:cTn id="23" dur="900"/>
                                        <p:tgtEl>
                                          <p:spTgt spid="8"/>
                                        </p:tgtEl>
                                      </p:cBhvr>
                                    </p:animEffect>
                                  </p:childTnLst>
                                </p:cTn>
                              </p:par>
                              <p:par>
                                <p:cTn id="28" presetID="2" presetClass="entr" presetSubtype="4" fill="hold" decel="100000" nodeType="withEffect">
                                  <p:stCondLst>
                                    <p:cond delay="580"/>
                                  </p:stCondLst>
                                  <p:childTnLst>
                                    <p:set>
                                      <p:cBhvr>
                                        <p:cTn id="29" dur="1" fill="hold">
                                          <p:stCondLst>
                                            <p:cond delay="0"/>
                                          </p:stCondLst>
                                        </p:cTn>
                                        <p:tgtEl>
                                          <p:spTgt spid="9"/>
                                        </p:tgtEl>
                                        <p:attrNameLst>
                                          <p:attrName>style.visibility</p:attrName>
                                        </p:attrNameLst>
                                      </p:cBhvr>
                                      <p:to>
                                        <p:strVal val="visible"/>
                                      </p:to>
                                    </p:set>
                                    <p:anim calcmode="lin" valueType="num">
                                      <p:cBhvr additive="base">
                                        <p:cTn id="26" dur="900" fill="hold"/>
                                        <p:tgtEl>
                                          <p:spTgt spid="9"/>
                                        </p:tgtEl>
                                        <p:attrNameLst>
                                          <p:attrName>ppt_y</p:attrName>
                                        </p:attrNameLst>
                                      </p:cBhvr>
                                      <p:tavLst>
                                        <p:tav tm="0">
                                          <p:val>
                                            <p:strVal val="#ppt_y+0.03"/>
                                          </p:val>
                                        </p:tav>
                                        <p:tav tm="100000">
                                          <p:val>
                                            <p:strVal val="#ppt_y"/>
                                          </p:val>
                                        </p:tav>
                                      </p:tavLst>
                                    </p:anim>
                                    <p:animEffect transition="in" filter="fade">
                                      <p:cBhvr>
                                        <p:cTn id="27" dur="900"/>
                                        <p:tgtEl>
                                          <p:spTgt spid="9"/>
                                        </p:tgtEl>
                                      </p:cBhvr>
                                    </p:animEffect>
                                  </p:childTnLst>
                                </p:cTn>
                              </p:par>
                              <p:par>
                                <p:cTn id="32" presetID="2" presetClass="entr" presetSubtype="4" fill="hold" decel="100000" nodeType="withEffect">
                                  <p:stCondLst>
                                    <p:cond delay="650"/>
                                  </p:stCondLst>
                                  <p:childTnLst>
                                    <p:set>
                                      <p:cBhvr>
                                        <p:cTn id="33" dur="1" fill="hold">
                                          <p:stCondLst>
                                            <p:cond delay="0"/>
                                          </p:stCondLst>
                                        </p:cTn>
                                        <p:tgtEl>
                                          <p:spTgt spid="10"/>
                                        </p:tgtEl>
                                        <p:attrNameLst>
                                          <p:attrName>style.visibility</p:attrName>
                                        </p:attrNameLst>
                                      </p:cBhvr>
                                      <p:to>
                                        <p:strVal val="visible"/>
                                      </p:to>
                                    </p:set>
                                    <p:anim calcmode="lin" valueType="num">
                                      <p:cBhvr additive="base">
                                        <p:cTn id="30" dur="900" fill="hold"/>
                                        <p:tgtEl>
                                          <p:spTgt spid="10"/>
                                        </p:tgtEl>
                                        <p:attrNameLst>
                                          <p:attrName>ppt_y</p:attrName>
                                        </p:attrNameLst>
                                      </p:cBhvr>
                                      <p:tavLst>
                                        <p:tav tm="0">
                                          <p:val>
                                            <p:strVal val="#ppt_y+0.03"/>
                                          </p:val>
                                        </p:tav>
                                        <p:tav tm="100000">
                                          <p:val>
                                            <p:strVal val="#ppt_y"/>
                                          </p:val>
                                        </p:tav>
                                      </p:tavLst>
                                    </p:anim>
                                    <p:animEffect transition="in" filter="fade">
                                      <p:cBhvr>
                                        <p:cTn id="31" dur="900"/>
                                        <p:tgtEl>
                                          <p:spTgt spid="10"/>
                                        </p:tgtEl>
                                      </p:cBhvr>
                                    </p:animEffect>
                                  </p:childTnLst>
                                </p:cTn>
                              </p:par>
                              <p:par>
                                <p:cTn id="36" presetID="2" presetClass="entr" presetSubtype="4" fill="hold" decel="100000" nodeType="withEffect">
                                  <p:stCondLst>
                                    <p:cond delay="850"/>
                                  </p:stCondLst>
                                  <p:childTnLst>
                                    <p:set>
                                      <p:cBhvr>
                                        <p:cTn id="37" dur="1" fill="hold">
                                          <p:stCondLst>
                                            <p:cond delay="0"/>
                                          </p:stCondLst>
                                        </p:cTn>
                                        <p:tgtEl>
                                          <p:spTgt spid="11"/>
                                        </p:tgtEl>
                                        <p:attrNameLst>
                                          <p:attrName>style.visibility</p:attrName>
                                        </p:attrNameLst>
                                      </p:cBhvr>
                                      <p:to>
                                        <p:strVal val="visible"/>
                                      </p:to>
                                    </p:set>
                                    <p:anim calcmode="lin" valueType="num">
                                      <p:cBhvr additive="base">
                                        <p:cTn id="34" dur="900" fill="hold"/>
                                        <p:tgtEl>
                                          <p:spTgt spid="11"/>
                                        </p:tgtEl>
                                        <p:attrNameLst>
                                          <p:attrName>ppt_y</p:attrName>
                                        </p:attrNameLst>
                                      </p:cBhvr>
                                      <p:tavLst>
                                        <p:tav tm="0">
                                          <p:val>
                                            <p:strVal val="#ppt_y+0.03"/>
                                          </p:val>
                                        </p:tav>
                                        <p:tav tm="100000">
                                          <p:val>
                                            <p:strVal val="#ppt_y"/>
                                          </p:val>
                                        </p:tav>
                                      </p:tavLst>
                                    </p:anim>
                                    <p:animEffect transition="in" filter="fade">
                                      <p:cBhvr>
                                        <p:cTn id="35" dur="900"/>
                                        <p:tgtEl>
                                          <p:spTgt spid="11"/>
                                        </p:tgtEl>
                                      </p:cBhvr>
                                    </p:animEffect>
                                  </p:childTnLst>
                                </p:cTn>
                              </p:par>
                              <p:par>
                                <p:cTn id="40" presetID="2" presetClass="entr" presetSubtype="4" fill="hold" decel="100000" nodeType="withEffect">
                                  <p:stCondLst>
                                    <p:cond delay="1000"/>
                                  </p:stCondLst>
                                  <p:childTnLst>
                                    <p:set>
                                      <p:cBhvr>
                                        <p:cTn id="41" dur="1" fill="hold">
                                          <p:stCondLst>
                                            <p:cond delay="0"/>
                                          </p:stCondLst>
                                        </p:cTn>
                                        <p:tgtEl>
                                          <p:spTgt spid="12"/>
                                        </p:tgtEl>
                                        <p:attrNameLst>
                                          <p:attrName>style.visibility</p:attrName>
                                        </p:attrNameLst>
                                      </p:cBhvr>
                                      <p:to>
                                        <p:strVal val="visible"/>
                                      </p:to>
                                    </p:set>
                                    <p:anim calcmode="lin" valueType="num">
                                      <p:cBhvr additive="base">
                                        <p:cTn id="38" dur="900" fill="hold"/>
                                        <p:tgtEl>
                                          <p:spTgt spid="12"/>
                                        </p:tgtEl>
                                        <p:attrNameLst>
                                          <p:attrName>ppt_y</p:attrName>
                                        </p:attrNameLst>
                                      </p:cBhvr>
                                      <p:tavLst>
                                        <p:tav tm="0">
                                          <p:val>
                                            <p:strVal val="#ppt_y+0.03"/>
                                          </p:val>
                                        </p:tav>
                                        <p:tav tm="100000">
                                          <p:val>
                                            <p:strVal val="#ppt_y"/>
                                          </p:val>
                                        </p:tav>
                                      </p:tavLst>
                                    </p:anim>
                                    <p:animEffect transition="in" filter="fade">
                                      <p:cBhvr>
                                        <p:cTn id="39" dur="9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ground" descr="Layers 1–2 · Thermal Reserve slide background"/>
          <p:cNvPicPr>
            <a:picLocks noChangeAspect="1"/>
          </p:cNvPicPr>
          <p:nvPr/>
        </p:nvPicPr>
        <p:blipFill>
          <a:blip r:embed="rId2"/>
          <a:stretch>
            <a:fillRect/>
          </a:stretch>
        </p:blipFill>
        <p:spPr>
          <a:xfrm>
            <a:off x="0" y="0"/>
            <a:ext cx="12192000" cy="6858000"/>
          </a:xfrm>
          <a:prstGeom prst="rect">
            <a:avLst/>
          </a:prstGeom>
        </p:spPr>
      </p:pic>
      <p:pic>
        <p:nvPicPr>
          <p:cNvPr id="3" name="00 fade · Example scenario" descr="Example scenario"/>
          <p:cNvPicPr>
            <a:picLocks noChangeAspect="1"/>
          </p:cNvPicPr>
          <p:nvPr/>
        </p:nvPicPr>
        <p:blipFill>
          <a:blip r:embed="rId3"/>
          <a:stretch>
            <a:fillRect/>
          </a:stretch>
        </p:blipFill>
        <p:spPr>
          <a:xfrm>
            <a:off x="9620250" y="558800"/>
            <a:ext cx="1911350" cy="546100"/>
          </a:xfrm>
          <a:prstGeom prst="rect">
            <a:avLst/>
          </a:prstGeom>
        </p:spPr>
      </p:pic>
      <p:pic>
        <p:nvPicPr>
          <p:cNvPr id="4" name="01 fade · 08Layers 1–2 · Thermal Trace →" descr="08Layers 1–2 · Thermal Trace → Thermal Reserve"/>
          <p:cNvPicPr>
            <a:picLocks noChangeAspect="1"/>
          </p:cNvPicPr>
          <p:nvPr/>
        </p:nvPicPr>
        <p:blipFill>
          <a:blip r:embed="rId4"/>
          <a:stretch>
            <a:fillRect/>
          </a:stretch>
        </p:blipFill>
        <p:spPr>
          <a:xfrm>
            <a:off x="660400" y="609600"/>
            <a:ext cx="10871200" cy="444500"/>
          </a:xfrm>
          <a:prstGeom prst="rect">
            <a:avLst/>
          </a:prstGeom>
        </p:spPr>
      </p:pic>
      <p:pic>
        <p:nvPicPr>
          <p:cNvPr id="5" name="02 up · The label says 7 days. The tra" descr="The label says 7 days. The trace says 4.5."/>
          <p:cNvPicPr>
            <a:picLocks noChangeAspect="1"/>
          </p:cNvPicPr>
          <p:nvPr/>
        </p:nvPicPr>
        <p:blipFill>
          <a:blip r:embed="rId5"/>
          <a:stretch>
            <a:fillRect/>
          </a:stretch>
        </p:blipFill>
        <p:spPr>
          <a:xfrm>
            <a:off x="660400" y="977900"/>
            <a:ext cx="9829800" cy="781050"/>
          </a:xfrm>
          <a:prstGeom prst="rect">
            <a:avLst/>
          </a:prstGeom>
        </p:spPr>
      </p:pic>
      <p:pic>
        <p:nvPicPr>
          <p:cNvPr id="6" name="03 up · Layer 1 · Thermal Trace · carg" descr="Layer 1 · Thermal Trace · cargo temperatureMeasured 8° 6° 4° 2° SAFE MAX 4 °C refrigeration fails 3.8° 7.4° E T = exposure"/>
          <p:cNvPicPr>
            <a:picLocks noChangeAspect="1"/>
          </p:cNvPicPr>
          <p:nvPr/>
        </p:nvPicPr>
        <p:blipFill>
          <a:blip r:embed="rId6"/>
          <a:stretch>
            <a:fillRect/>
          </a:stretch>
        </p:blipFill>
        <p:spPr>
          <a:xfrm>
            <a:off x="660400" y="1701800"/>
            <a:ext cx="5791200" cy="3695700"/>
          </a:xfrm>
          <a:prstGeom prst="rect">
            <a:avLst/>
          </a:prstGeom>
        </p:spPr>
      </p:pic>
      <p:pic>
        <p:nvPicPr>
          <p:cNvPr id="7" name="04 wipe · graphic" descr=""/>
          <p:cNvPicPr>
            <a:picLocks noChangeAspect="1"/>
          </p:cNvPicPr>
          <p:nvPr/>
        </p:nvPicPr>
        <p:blipFill>
          <a:blip r:embed="rId7"/>
          <a:stretch>
            <a:fillRect/>
          </a:stretch>
        </p:blipFill>
        <p:spPr>
          <a:xfrm>
            <a:off x="1181100" y="2819400"/>
            <a:ext cx="4978400" cy="1473200"/>
          </a:xfrm>
          <a:prstGeom prst="rect">
            <a:avLst/>
          </a:prstGeom>
        </p:spPr>
      </p:pic>
      <p:pic>
        <p:nvPicPr>
          <p:cNvPr id="8" name="05 draw · graphic" descr=""/>
          <p:cNvPicPr>
            <a:picLocks noChangeAspect="1"/>
          </p:cNvPicPr>
          <p:nvPr/>
        </p:nvPicPr>
        <p:blipFill>
          <a:blip r:embed="rId8"/>
          <a:stretch>
            <a:fillRect/>
          </a:stretch>
        </p:blipFill>
        <p:spPr>
          <a:xfrm>
            <a:off x="1181100" y="2819400"/>
            <a:ext cx="4978400" cy="1473200"/>
          </a:xfrm>
          <a:prstGeom prst="rect">
            <a:avLst/>
          </a:prstGeom>
        </p:spPr>
      </p:pic>
      <p:pic>
        <p:nvPicPr>
          <p:cNvPr id="9" name="06 fade · refrigeration fails" descr="refrigeration fails"/>
          <p:cNvPicPr>
            <a:picLocks noChangeAspect="1"/>
          </p:cNvPicPr>
          <p:nvPr/>
        </p:nvPicPr>
        <p:blipFill>
          <a:blip r:embed="rId9"/>
          <a:stretch>
            <a:fillRect/>
          </a:stretch>
        </p:blipFill>
        <p:spPr>
          <a:xfrm>
            <a:off x="2120900" y="3981450"/>
            <a:ext cx="1466850" cy="1193800"/>
          </a:xfrm>
          <a:prstGeom prst="rect">
            <a:avLst/>
          </a:prstGeom>
        </p:spPr>
      </p:pic>
      <p:pic>
        <p:nvPicPr>
          <p:cNvPr id="10" name="07 fade · 3.8°" descr="3.8°"/>
          <p:cNvPicPr>
            <a:picLocks noChangeAspect="1"/>
          </p:cNvPicPr>
          <p:nvPr/>
        </p:nvPicPr>
        <p:blipFill>
          <a:blip r:embed="rId10"/>
          <a:stretch>
            <a:fillRect/>
          </a:stretch>
        </p:blipFill>
        <p:spPr>
          <a:xfrm>
            <a:off x="1181100" y="4044950"/>
            <a:ext cx="584200" cy="457200"/>
          </a:xfrm>
          <a:prstGeom prst="rect">
            <a:avLst/>
          </a:prstGeom>
        </p:spPr>
      </p:pic>
      <p:pic>
        <p:nvPicPr>
          <p:cNvPr id="11" name="08 fade · 7.4°" descr="7.4°"/>
          <p:cNvPicPr>
            <a:picLocks noChangeAspect="1"/>
          </p:cNvPicPr>
          <p:nvPr/>
        </p:nvPicPr>
        <p:blipFill>
          <a:blip r:embed="rId11"/>
          <a:stretch>
            <a:fillRect/>
          </a:stretch>
        </p:blipFill>
        <p:spPr>
          <a:xfrm>
            <a:off x="5524500" y="2622550"/>
            <a:ext cx="584200" cy="457200"/>
          </a:xfrm>
          <a:prstGeom prst="rect">
            <a:avLst/>
          </a:prstGeom>
        </p:spPr>
      </p:pic>
      <p:pic>
        <p:nvPicPr>
          <p:cNvPr id="12" name="09 fade · E T = exposure" descr="E T = exposure"/>
          <p:cNvPicPr>
            <a:picLocks noChangeAspect="1"/>
          </p:cNvPicPr>
          <p:nvPr/>
        </p:nvPicPr>
        <p:blipFill>
          <a:blip r:embed="rId12"/>
          <a:stretch>
            <a:fillRect/>
          </a:stretch>
        </p:blipFill>
        <p:spPr>
          <a:xfrm>
            <a:off x="4483100" y="3581400"/>
            <a:ext cx="1289050" cy="495300"/>
          </a:xfrm>
          <a:prstGeom prst="rect">
            <a:avLst/>
          </a:prstGeom>
        </p:spPr>
      </p:pic>
      <p:pic>
        <p:nvPicPr>
          <p:cNvPr id="13" name="10 right · Thermal exposure · °C·min ET =" descr="Thermal exposure · °C·min ET = Σ max(0, Ti − Tsafe) · Δt"/>
          <p:cNvPicPr>
            <a:picLocks noChangeAspect="1"/>
          </p:cNvPicPr>
          <p:nvPr/>
        </p:nvPicPr>
        <p:blipFill>
          <a:blip r:embed="rId13"/>
          <a:stretch>
            <a:fillRect/>
          </a:stretch>
        </p:blipFill>
        <p:spPr>
          <a:xfrm>
            <a:off x="6654800" y="1701800"/>
            <a:ext cx="4876800" cy="1066800"/>
          </a:xfrm>
          <a:prstGeom prst="rect">
            <a:avLst/>
          </a:prstGeom>
        </p:spPr>
      </p:pic>
      <p:pic>
        <p:nvPicPr>
          <p:cNvPr id="14" name="11 right · Deterioration rate · Arrhenius" descr="Deterioration rate · Arrhenius k(T) = kref · e(Ea/R)(1/Tideal − 1/T)"/>
          <p:cNvPicPr>
            <a:picLocks noChangeAspect="1"/>
          </p:cNvPicPr>
          <p:nvPr/>
        </p:nvPicPr>
        <p:blipFill>
          <a:blip r:embed="rId14"/>
          <a:stretch>
            <a:fillRect/>
          </a:stretch>
        </p:blipFill>
        <p:spPr>
          <a:xfrm>
            <a:off x="6654800" y="2559050"/>
            <a:ext cx="4876800" cy="1060450"/>
          </a:xfrm>
          <a:prstGeom prst="rect">
            <a:avLst/>
          </a:prstGeom>
        </p:spPr>
      </p:pic>
      <p:pic>
        <p:nvPicPr>
          <p:cNvPr id="15" name="12 right · Layer 2 · Thermal Reserve · sa" descr="Layer 2 · Thermal Reserve · safe life left D = Σ k(Ti)·Δti → reserve = L·(1 − D)"/>
          <p:cNvPicPr>
            <a:picLocks noChangeAspect="1"/>
          </p:cNvPicPr>
          <p:nvPr/>
        </p:nvPicPr>
        <p:blipFill>
          <a:blip r:embed="rId15"/>
          <a:stretch>
            <a:fillRect/>
          </a:stretch>
        </p:blipFill>
        <p:spPr>
          <a:xfrm>
            <a:off x="6654800" y="3409950"/>
            <a:ext cx="4876800" cy="1060450"/>
          </a:xfrm>
          <a:prstGeom prst="rect">
            <a:avLst/>
          </a:prstGeom>
        </p:spPr>
      </p:pic>
      <p:pic>
        <p:nvPicPr>
          <p:cNvPr id="16" name="13 up · Label date 7.0 d Thermal reser" descr="Label date 7.0 d Thermal reserve 4.5 d CalculatedDeterministic Python. No AI model touches these numbers."/>
          <p:cNvPicPr>
            <a:picLocks noChangeAspect="1"/>
          </p:cNvPicPr>
          <p:nvPr/>
        </p:nvPicPr>
        <p:blipFill>
          <a:blip r:embed="rId16"/>
          <a:stretch>
            <a:fillRect/>
          </a:stretch>
        </p:blipFill>
        <p:spPr>
          <a:xfrm>
            <a:off x="6654800" y="4349750"/>
            <a:ext cx="4876800" cy="1397000"/>
          </a:xfrm>
          <a:prstGeom prst="rect">
            <a:avLst/>
          </a:prstGeom>
        </p:spPr>
      </p:pic>
      <p:pic>
        <p:nvPicPr>
          <p:cNvPr id="17" name="14 grow · graphic" descr=""/>
          <p:cNvPicPr>
            <a:picLocks noChangeAspect="1"/>
          </p:cNvPicPr>
          <p:nvPr/>
        </p:nvPicPr>
        <p:blipFill>
          <a:blip r:embed="rId17"/>
          <a:stretch>
            <a:fillRect/>
          </a:stretch>
        </p:blipFill>
        <p:spPr>
          <a:xfrm>
            <a:off x="8255000" y="4349750"/>
            <a:ext cx="2184400" cy="501650"/>
          </a:xfrm>
          <a:prstGeom prst="rect">
            <a:avLst/>
          </a:prstGeom>
        </p:spPr>
      </p:pic>
      <p:pic>
        <p:nvPicPr>
          <p:cNvPr id="18" name="15 grow · graphic" descr=""/>
          <p:cNvPicPr>
            <a:picLocks noChangeAspect="1"/>
          </p:cNvPicPr>
          <p:nvPr/>
        </p:nvPicPr>
        <p:blipFill>
          <a:blip r:embed="rId18"/>
          <a:stretch>
            <a:fillRect/>
          </a:stretch>
        </p:blipFill>
        <p:spPr>
          <a:xfrm>
            <a:off x="8255000" y="4667250"/>
            <a:ext cx="1511300" cy="50165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4" presetID="10" presetClass="entr" presetSubtype="0" fill="hold" decel="100000" nodeType="withEffect">
                                  <p:stCondLst>
                                    <p:cond delay="200"/>
                                  </p:stCondLst>
                                  <p:childTnLst>
                                    <p:set>
                                      <p:cBhvr>
                                        <p:cTn id="5" dur="1" fill="hold">
                                          <p:stCondLst>
                                            <p:cond delay="0"/>
                                          </p:stCondLst>
                                        </p:cTn>
                                        <p:tgtEl>
                                          <p:spTgt spid="3"/>
                                        </p:tgtEl>
                                        <p:attrNameLst>
                                          <p:attrName>style.visibility</p:attrName>
                                        </p:attrNameLst>
                                      </p:cBhvr>
                                      <p:to>
                                        <p:strVal val="visible"/>
                                      </p:to>
                                    </p:set>
                                    <p:animEffect transition="in" filter="fade">
                                      <p:cBhvr>
                                        <p:cTn id="3" dur="900"/>
                                        <p:tgtEl>
                                          <p:spTgt spid="3"/>
                                        </p:tgtEl>
                                      </p:cBhvr>
                                    </p:animEffect>
                                  </p:childTnLst>
                                </p:cTn>
                              </p:par>
                              <p:par>
                                <p:cTn id="7" presetID="10" presetClass="entr" presetSubtype="0" fill="hold" decel="100000" nodeType="withEffect">
                                  <p:stCondLst>
                                    <p:cond delay="0"/>
                                  </p:stCondLst>
                                  <p:childTnLst>
                                    <p:set>
                                      <p:cBhvr>
                                        <p:cTn id="8" dur="1" fill="hold">
                                          <p:stCondLst>
                                            <p:cond delay="0"/>
                                          </p:stCondLst>
                                        </p:cTn>
                                        <p:tgtEl>
                                          <p:spTgt spid="4"/>
                                        </p:tgtEl>
                                        <p:attrNameLst>
                                          <p:attrName>style.visibility</p:attrName>
                                        </p:attrNameLst>
                                      </p:cBhvr>
                                      <p:to>
                                        <p:strVal val="visible"/>
                                      </p:to>
                                    </p:set>
                                    <p:animEffect transition="in" filter="fade">
                                      <p:cBhvr>
                                        <p:cTn id="6" dur="900"/>
                                        <p:tgtEl>
                                          <p:spTgt spid="4"/>
                                        </p:tgtEl>
                                      </p:cBhvr>
                                    </p:animEffect>
                                  </p:childTnLst>
                                </p:cTn>
                              </p:par>
                              <p:par>
                                <p:cTn id="11" presetID="2" presetClass="entr" presetSubtype="4" fill="hold" decel="100000" nodeType="withEffect">
                                  <p:stCondLst>
                                    <p:cond delay="120"/>
                                  </p:stCondLst>
                                  <p:childTnLst>
                                    <p:set>
                                      <p:cBhvr>
                                        <p:cTn id="12" dur="1" fill="hold">
                                          <p:stCondLst>
                                            <p:cond delay="0"/>
                                          </p:stCondLst>
                                        </p:cTn>
                                        <p:tgtEl>
                                          <p:spTgt spid="5"/>
                                        </p:tgtEl>
                                        <p:attrNameLst>
                                          <p:attrName>style.visibility</p:attrName>
                                        </p:attrNameLst>
                                      </p:cBhvr>
                                      <p:to>
                                        <p:strVal val="visible"/>
                                      </p:to>
                                    </p:set>
                                    <p:anim calcmode="lin" valueType="num">
                                      <p:cBhvr additive="base">
                                        <p:cTn id="9" dur="900" fill="hold"/>
                                        <p:tgtEl>
                                          <p:spTgt spid="5"/>
                                        </p:tgtEl>
                                        <p:attrNameLst>
                                          <p:attrName>ppt_y</p:attrName>
                                        </p:attrNameLst>
                                      </p:cBhvr>
                                      <p:tavLst>
                                        <p:tav tm="0">
                                          <p:val>
                                            <p:strVal val="#ppt_y+0.03"/>
                                          </p:val>
                                        </p:tav>
                                        <p:tav tm="100000">
                                          <p:val>
                                            <p:strVal val="#ppt_y"/>
                                          </p:val>
                                        </p:tav>
                                      </p:tavLst>
                                    </p:anim>
                                    <p:animEffect transition="in" filter="fade">
                                      <p:cBhvr>
                                        <p:cTn id="10" dur="900"/>
                                        <p:tgtEl>
                                          <p:spTgt spid="5"/>
                                        </p:tgtEl>
                                      </p:cBhvr>
                                    </p:animEffect>
                                  </p:childTnLst>
                                </p:cTn>
                              </p:par>
                              <p:par>
                                <p:cTn id="15" presetID="2" presetClass="entr" presetSubtype="4" fill="hold" decel="100000" nodeType="withEffect">
                                  <p:stCondLst>
                                    <p:cond delay="300"/>
                                  </p:stCondLst>
                                  <p:childTnLst>
                                    <p:set>
                                      <p:cBhvr>
                                        <p:cTn id="16" dur="1" fill="hold">
                                          <p:stCondLst>
                                            <p:cond delay="0"/>
                                          </p:stCondLst>
                                        </p:cTn>
                                        <p:tgtEl>
                                          <p:spTgt spid="6"/>
                                        </p:tgtEl>
                                        <p:attrNameLst>
                                          <p:attrName>style.visibility</p:attrName>
                                        </p:attrNameLst>
                                      </p:cBhvr>
                                      <p:to>
                                        <p:strVal val="visible"/>
                                      </p:to>
                                    </p:set>
                                    <p:anim calcmode="lin" valueType="num">
                                      <p:cBhvr additive="base">
                                        <p:cTn id="13" dur="900" fill="hold"/>
                                        <p:tgtEl>
                                          <p:spTgt spid="6"/>
                                        </p:tgtEl>
                                        <p:attrNameLst>
                                          <p:attrName>ppt_y</p:attrName>
                                        </p:attrNameLst>
                                      </p:cBhvr>
                                      <p:tavLst>
                                        <p:tav tm="0">
                                          <p:val>
                                            <p:strVal val="#ppt_y+0.03"/>
                                          </p:val>
                                        </p:tav>
                                        <p:tav tm="100000">
                                          <p:val>
                                            <p:strVal val="#ppt_y"/>
                                          </p:val>
                                        </p:tav>
                                      </p:tavLst>
                                    </p:anim>
                                    <p:animEffect transition="in" filter="fade">
                                      <p:cBhvr>
                                        <p:cTn id="14" dur="900"/>
                                        <p:tgtEl>
                                          <p:spTgt spid="6"/>
                                        </p:tgtEl>
                                      </p:cBhvr>
                                    </p:animEffect>
                                  </p:childTnLst>
                                </p:cTn>
                              </p:par>
                              <p:par>
                                <p:cTn id="18" presetID="22" presetClass="entr" presetSubtype="8" fill="hold" decel="100000" nodeType="withEffect">
                                  <p:stCondLst>
                                    <p:cond delay="1900"/>
                                  </p:stCondLst>
                                  <p:childTnLst>
                                    <p:set>
                                      <p:cBhvr>
                                        <p:cTn id="19" dur="1" fill="hold">
                                          <p:stCondLst>
                                            <p:cond delay="0"/>
                                          </p:stCondLst>
                                        </p:cTn>
                                        <p:tgtEl>
                                          <p:spTgt spid="7"/>
                                        </p:tgtEl>
                                        <p:attrNameLst>
                                          <p:attrName>style.visibility</p:attrName>
                                        </p:attrNameLst>
                                      </p:cBhvr>
                                      <p:to>
                                        <p:strVal val="visible"/>
                                      </p:to>
                                    </p:set>
                                    <p:animEffect transition="in" filter="wipe(left)">
                                      <p:cBhvr>
                                        <p:cTn id="17" dur="1800"/>
                                        <p:tgtEl>
                                          <p:spTgt spid="7"/>
                                        </p:tgtEl>
                                      </p:cBhvr>
                                    </p:animEffect>
                                  </p:childTnLst>
                                </p:cTn>
                              </p:par>
                              <p:par>
                                <p:cTn id="21" presetID="22" presetClass="entr" presetSubtype="8" fill="hold" decel="100000" nodeType="withEffect">
                                  <p:stCondLst>
                                    <p:cond delay="500"/>
                                  </p:stCondLst>
                                  <p:childTnLst>
                                    <p:set>
                                      <p:cBhvr>
                                        <p:cTn id="22" dur="1" fill="hold">
                                          <p:stCondLst>
                                            <p:cond delay="0"/>
                                          </p:stCondLst>
                                        </p:cTn>
                                        <p:tgtEl>
                                          <p:spTgt spid="8"/>
                                        </p:tgtEl>
                                        <p:attrNameLst>
                                          <p:attrName>style.visibility</p:attrName>
                                        </p:attrNameLst>
                                      </p:cBhvr>
                                      <p:to>
                                        <p:strVal val="visible"/>
                                      </p:to>
                                    </p:set>
                                    <p:animEffect transition="in" filter="wipe(left)">
                                      <p:cBhvr>
                                        <p:cTn id="20" dur="2000"/>
                                        <p:tgtEl>
                                          <p:spTgt spid="8"/>
                                        </p:tgtEl>
                                      </p:cBhvr>
                                    </p:animEffect>
                                  </p:childTnLst>
                                </p:cTn>
                              </p:par>
                              <p:par>
                                <p:cTn id="24" presetID="10" presetClass="entr" presetSubtype="0" fill="hold" decel="100000" nodeType="withEffect">
                                  <p:stCondLst>
                                    <p:cond delay="1100"/>
                                  </p:stCondLst>
                                  <p:childTnLst>
                                    <p:set>
                                      <p:cBhvr>
                                        <p:cTn id="25" dur="1" fill="hold">
                                          <p:stCondLst>
                                            <p:cond delay="0"/>
                                          </p:stCondLst>
                                        </p:cTn>
                                        <p:tgtEl>
                                          <p:spTgt spid="9"/>
                                        </p:tgtEl>
                                        <p:attrNameLst>
                                          <p:attrName>style.visibility</p:attrName>
                                        </p:attrNameLst>
                                      </p:cBhvr>
                                      <p:to>
                                        <p:strVal val="visible"/>
                                      </p:to>
                                    </p:set>
                                    <p:animEffect transition="in" filter="fade">
                                      <p:cBhvr>
                                        <p:cTn id="23" dur="900"/>
                                        <p:tgtEl>
                                          <p:spTgt spid="9"/>
                                        </p:tgtEl>
                                      </p:cBhvr>
                                    </p:animEffect>
                                  </p:childTnLst>
                                </p:cTn>
                              </p:par>
                              <p:par>
                                <p:cTn id="27" presetID="10" presetClass="entr" presetSubtype="0" fill="hold" decel="100000" nodeType="withEffect">
                                  <p:stCondLst>
                                    <p:cond delay="600"/>
                                  </p:stCondLst>
                                  <p:childTnLst>
                                    <p:set>
                                      <p:cBhvr>
                                        <p:cTn id="28" dur="1" fill="hold">
                                          <p:stCondLst>
                                            <p:cond delay="0"/>
                                          </p:stCondLst>
                                        </p:cTn>
                                        <p:tgtEl>
                                          <p:spTgt spid="10"/>
                                        </p:tgtEl>
                                        <p:attrNameLst>
                                          <p:attrName>style.visibility</p:attrName>
                                        </p:attrNameLst>
                                      </p:cBhvr>
                                      <p:to>
                                        <p:strVal val="visible"/>
                                      </p:to>
                                    </p:set>
                                    <p:animEffect transition="in" filter="fade">
                                      <p:cBhvr>
                                        <p:cTn id="26" dur="900"/>
                                        <p:tgtEl>
                                          <p:spTgt spid="10"/>
                                        </p:tgtEl>
                                      </p:cBhvr>
                                    </p:animEffect>
                                  </p:childTnLst>
                                </p:cTn>
                              </p:par>
                              <p:par>
                                <p:cTn id="30" presetID="10" presetClass="entr" presetSubtype="0" fill="hold" decel="100000" nodeType="withEffect">
                                  <p:stCondLst>
                                    <p:cond delay="2300"/>
                                  </p:stCondLst>
                                  <p:childTnLst>
                                    <p:set>
                                      <p:cBhvr>
                                        <p:cTn id="31" dur="1" fill="hold">
                                          <p:stCondLst>
                                            <p:cond delay="0"/>
                                          </p:stCondLst>
                                        </p:cTn>
                                        <p:tgtEl>
                                          <p:spTgt spid="11"/>
                                        </p:tgtEl>
                                        <p:attrNameLst>
                                          <p:attrName>style.visibility</p:attrName>
                                        </p:attrNameLst>
                                      </p:cBhvr>
                                      <p:to>
                                        <p:strVal val="visible"/>
                                      </p:to>
                                    </p:set>
                                    <p:animEffect transition="in" filter="fade">
                                      <p:cBhvr>
                                        <p:cTn id="29" dur="900"/>
                                        <p:tgtEl>
                                          <p:spTgt spid="11"/>
                                        </p:tgtEl>
                                      </p:cBhvr>
                                    </p:animEffect>
                                  </p:childTnLst>
                                </p:cTn>
                              </p:par>
                              <p:par>
                                <p:cTn id="33" presetID="10" presetClass="entr" presetSubtype="0" fill="hold" decel="100000" nodeType="withEffect">
                                  <p:stCondLst>
                                    <p:cond delay="2600"/>
                                  </p:stCondLst>
                                  <p:childTnLst>
                                    <p:set>
                                      <p:cBhvr>
                                        <p:cTn id="34" dur="1" fill="hold">
                                          <p:stCondLst>
                                            <p:cond delay="0"/>
                                          </p:stCondLst>
                                        </p:cTn>
                                        <p:tgtEl>
                                          <p:spTgt spid="12"/>
                                        </p:tgtEl>
                                        <p:attrNameLst>
                                          <p:attrName>style.visibility</p:attrName>
                                        </p:attrNameLst>
                                      </p:cBhvr>
                                      <p:to>
                                        <p:strVal val="visible"/>
                                      </p:to>
                                    </p:set>
                                    <p:animEffect transition="in" filter="fade">
                                      <p:cBhvr>
                                        <p:cTn id="32" dur="900"/>
                                        <p:tgtEl>
                                          <p:spTgt spid="12"/>
                                        </p:tgtEl>
                                      </p:cBhvr>
                                    </p:animEffect>
                                  </p:childTnLst>
                                </p:cTn>
                              </p:par>
                              <p:par>
                                <p:cTn id="37" presetID="2" presetClass="entr" presetSubtype="2" fill="hold" decel="100000" nodeType="withEffect">
                                  <p:stCondLst>
                                    <p:cond delay="500"/>
                                  </p:stCondLst>
                                  <p:childTnLst>
                                    <p:set>
                                      <p:cBhvr>
                                        <p:cTn id="38" dur="1" fill="hold">
                                          <p:stCondLst>
                                            <p:cond delay="0"/>
                                          </p:stCondLst>
                                        </p:cTn>
                                        <p:tgtEl>
                                          <p:spTgt spid="13"/>
                                        </p:tgtEl>
                                        <p:attrNameLst>
                                          <p:attrName>style.visibility</p:attrName>
                                        </p:attrNameLst>
                                      </p:cBhvr>
                                      <p:to>
                                        <p:strVal val="visible"/>
                                      </p:to>
                                    </p:set>
                                    <p:anim calcmode="lin" valueType="num">
                                      <p:cBhvr additive="base">
                                        <p:cTn id="35" dur="900" fill="hold"/>
                                        <p:tgtEl>
                                          <p:spTgt spid="13"/>
                                        </p:tgtEl>
                                        <p:attrNameLst>
                                          <p:attrName>ppt_x</p:attrName>
                                        </p:attrNameLst>
                                      </p:cBhvr>
                                      <p:tavLst>
                                        <p:tav tm="0">
                                          <p:val>
                                            <p:strVal val="#ppt_x+0.025"/>
                                          </p:val>
                                        </p:tav>
                                        <p:tav tm="100000">
                                          <p:val>
                                            <p:strVal val="#ppt_x"/>
                                          </p:val>
                                        </p:tav>
                                      </p:tavLst>
                                    </p:anim>
                                    <p:animEffect transition="in" filter="fade">
                                      <p:cBhvr>
                                        <p:cTn id="36" dur="900"/>
                                        <p:tgtEl>
                                          <p:spTgt spid="13"/>
                                        </p:tgtEl>
                                      </p:cBhvr>
                                    </p:animEffect>
                                  </p:childTnLst>
                                </p:cTn>
                              </p:par>
                              <p:par>
                                <p:cTn id="41" presetID="2" presetClass="entr" presetSubtype="2" fill="hold" decel="100000" nodeType="withEffect">
                                  <p:stCondLst>
                                    <p:cond delay="650"/>
                                  </p:stCondLst>
                                  <p:childTnLst>
                                    <p:set>
                                      <p:cBhvr>
                                        <p:cTn id="42" dur="1" fill="hold">
                                          <p:stCondLst>
                                            <p:cond delay="0"/>
                                          </p:stCondLst>
                                        </p:cTn>
                                        <p:tgtEl>
                                          <p:spTgt spid="14"/>
                                        </p:tgtEl>
                                        <p:attrNameLst>
                                          <p:attrName>style.visibility</p:attrName>
                                        </p:attrNameLst>
                                      </p:cBhvr>
                                      <p:to>
                                        <p:strVal val="visible"/>
                                      </p:to>
                                    </p:set>
                                    <p:anim calcmode="lin" valueType="num">
                                      <p:cBhvr additive="base">
                                        <p:cTn id="39" dur="900" fill="hold"/>
                                        <p:tgtEl>
                                          <p:spTgt spid="14"/>
                                        </p:tgtEl>
                                        <p:attrNameLst>
                                          <p:attrName>ppt_x</p:attrName>
                                        </p:attrNameLst>
                                      </p:cBhvr>
                                      <p:tavLst>
                                        <p:tav tm="0">
                                          <p:val>
                                            <p:strVal val="#ppt_x+0.025"/>
                                          </p:val>
                                        </p:tav>
                                        <p:tav tm="100000">
                                          <p:val>
                                            <p:strVal val="#ppt_x"/>
                                          </p:val>
                                        </p:tav>
                                      </p:tavLst>
                                    </p:anim>
                                    <p:animEffect transition="in" filter="fade">
                                      <p:cBhvr>
                                        <p:cTn id="40" dur="900"/>
                                        <p:tgtEl>
                                          <p:spTgt spid="14"/>
                                        </p:tgtEl>
                                      </p:cBhvr>
                                    </p:animEffect>
                                  </p:childTnLst>
                                </p:cTn>
                              </p:par>
                              <p:par>
                                <p:cTn id="45" presetID="2" presetClass="entr" presetSubtype="2" fill="hold" decel="100000" nodeType="withEffect">
                                  <p:stCondLst>
                                    <p:cond delay="800"/>
                                  </p:stCondLst>
                                  <p:childTnLst>
                                    <p:set>
                                      <p:cBhvr>
                                        <p:cTn id="46" dur="1" fill="hold">
                                          <p:stCondLst>
                                            <p:cond delay="0"/>
                                          </p:stCondLst>
                                        </p:cTn>
                                        <p:tgtEl>
                                          <p:spTgt spid="15"/>
                                        </p:tgtEl>
                                        <p:attrNameLst>
                                          <p:attrName>style.visibility</p:attrName>
                                        </p:attrNameLst>
                                      </p:cBhvr>
                                      <p:to>
                                        <p:strVal val="visible"/>
                                      </p:to>
                                    </p:set>
                                    <p:anim calcmode="lin" valueType="num">
                                      <p:cBhvr additive="base">
                                        <p:cTn id="43" dur="900" fill="hold"/>
                                        <p:tgtEl>
                                          <p:spTgt spid="15"/>
                                        </p:tgtEl>
                                        <p:attrNameLst>
                                          <p:attrName>ppt_x</p:attrName>
                                        </p:attrNameLst>
                                      </p:cBhvr>
                                      <p:tavLst>
                                        <p:tav tm="0">
                                          <p:val>
                                            <p:strVal val="#ppt_x+0.025"/>
                                          </p:val>
                                        </p:tav>
                                        <p:tav tm="100000">
                                          <p:val>
                                            <p:strVal val="#ppt_x"/>
                                          </p:val>
                                        </p:tav>
                                      </p:tavLst>
                                    </p:anim>
                                    <p:animEffect transition="in" filter="fade">
                                      <p:cBhvr>
                                        <p:cTn id="44" dur="900"/>
                                        <p:tgtEl>
                                          <p:spTgt spid="15"/>
                                        </p:tgtEl>
                                      </p:cBhvr>
                                    </p:animEffect>
                                  </p:childTnLst>
                                </p:cTn>
                              </p:par>
                              <p:par>
                                <p:cTn id="49" presetID="2" presetClass="entr" presetSubtype="4" fill="hold" decel="100000" nodeType="withEffect">
                                  <p:stCondLst>
                                    <p:cond delay="1000"/>
                                  </p:stCondLst>
                                  <p:childTnLst>
                                    <p:set>
                                      <p:cBhvr>
                                        <p:cTn id="50" dur="1" fill="hold">
                                          <p:stCondLst>
                                            <p:cond delay="0"/>
                                          </p:stCondLst>
                                        </p:cTn>
                                        <p:tgtEl>
                                          <p:spTgt spid="16"/>
                                        </p:tgtEl>
                                        <p:attrNameLst>
                                          <p:attrName>style.visibility</p:attrName>
                                        </p:attrNameLst>
                                      </p:cBhvr>
                                      <p:to>
                                        <p:strVal val="visible"/>
                                      </p:to>
                                    </p:set>
                                    <p:anim calcmode="lin" valueType="num">
                                      <p:cBhvr additive="base">
                                        <p:cTn id="47" dur="900" fill="hold"/>
                                        <p:tgtEl>
                                          <p:spTgt spid="16"/>
                                        </p:tgtEl>
                                        <p:attrNameLst>
                                          <p:attrName>ppt_y</p:attrName>
                                        </p:attrNameLst>
                                      </p:cBhvr>
                                      <p:tavLst>
                                        <p:tav tm="0">
                                          <p:val>
                                            <p:strVal val="#ppt_y+0.03"/>
                                          </p:val>
                                        </p:tav>
                                        <p:tav tm="100000">
                                          <p:val>
                                            <p:strVal val="#ppt_y"/>
                                          </p:val>
                                        </p:tav>
                                      </p:tavLst>
                                    </p:anim>
                                    <p:animEffect transition="in" filter="fade">
                                      <p:cBhvr>
                                        <p:cTn id="48" dur="900"/>
                                        <p:tgtEl>
                                          <p:spTgt spid="16"/>
                                        </p:tgtEl>
                                      </p:cBhvr>
                                    </p:animEffect>
                                  </p:childTnLst>
                                </p:cTn>
                              </p:par>
                              <p:par>
                                <p:cTn id="52" presetID="22" presetClass="entr" presetSubtype="8" fill="hold" decel="100000" nodeType="withEffect">
                                  <p:stCondLst>
                                    <p:cond delay="1200"/>
                                  </p:stCondLst>
                                  <p:childTnLst>
                                    <p:set>
                                      <p:cBhvr>
                                        <p:cTn id="53" dur="1" fill="hold">
                                          <p:stCondLst>
                                            <p:cond delay="0"/>
                                          </p:stCondLst>
                                        </p:cTn>
                                        <p:tgtEl>
                                          <p:spTgt spid="17"/>
                                        </p:tgtEl>
                                        <p:attrNameLst>
                                          <p:attrName>style.visibility</p:attrName>
                                        </p:attrNameLst>
                                      </p:cBhvr>
                                      <p:to>
                                        <p:strVal val="visible"/>
                                      </p:to>
                                    </p:set>
                                    <p:animEffect transition="in" filter="wipe(left)">
                                      <p:cBhvr>
                                        <p:cTn id="51" dur="1400"/>
                                        <p:tgtEl>
                                          <p:spTgt spid="17"/>
                                        </p:tgtEl>
                                      </p:cBhvr>
                                    </p:animEffect>
                                  </p:childTnLst>
                                </p:cTn>
                              </p:par>
                              <p:par>
                                <p:cTn id="55" presetID="22" presetClass="entr" presetSubtype="8" fill="hold" decel="100000" nodeType="withEffect">
                                  <p:stCondLst>
                                    <p:cond delay="1400"/>
                                  </p:stCondLst>
                                  <p:childTnLst>
                                    <p:set>
                                      <p:cBhvr>
                                        <p:cTn id="56" dur="1" fill="hold">
                                          <p:stCondLst>
                                            <p:cond delay="0"/>
                                          </p:stCondLst>
                                        </p:cTn>
                                        <p:tgtEl>
                                          <p:spTgt spid="18"/>
                                        </p:tgtEl>
                                        <p:attrNameLst>
                                          <p:attrName>style.visibility</p:attrName>
                                        </p:attrNameLst>
                                      </p:cBhvr>
                                      <p:to>
                                        <p:strVal val="visible"/>
                                      </p:to>
                                    </p:set>
                                    <p:animEffect transition="in" filter="wipe(left)">
                                      <p:cBhvr>
                                        <p:cTn id="54" dur="140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ground" descr="Layer 3 · Two clocks slide background"/>
          <p:cNvPicPr>
            <a:picLocks noChangeAspect="1"/>
          </p:cNvPicPr>
          <p:nvPr/>
        </p:nvPicPr>
        <p:blipFill>
          <a:blip r:embed="rId2"/>
          <a:stretch>
            <a:fillRect/>
          </a:stretch>
        </p:blipFill>
        <p:spPr>
          <a:xfrm>
            <a:off x="0" y="0"/>
            <a:ext cx="12192000" cy="6858000"/>
          </a:xfrm>
          <a:prstGeom prst="rect">
            <a:avLst/>
          </a:prstGeom>
        </p:spPr>
      </p:pic>
      <p:pic>
        <p:nvPicPr>
          <p:cNvPr id="3" name="00 fade · Commercial Reserve · designed," descr="Commercial Reserve · designed, staged in the pilot"/>
          <p:cNvPicPr>
            <a:picLocks noChangeAspect="1"/>
          </p:cNvPicPr>
          <p:nvPr/>
        </p:nvPicPr>
        <p:blipFill>
          <a:blip r:embed="rId3"/>
          <a:stretch>
            <a:fillRect/>
          </a:stretch>
        </p:blipFill>
        <p:spPr>
          <a:xfrm>
            <a:off x="6978650" y="558800"/>
            <a:ext cx="4552950" cy="546100"/>
          </a:xfrm>
          <a:prstGeom prst="rect">
            <a:avLst/>
          </a:prstGeom>
        </p:spPr>
      </p:pic>
      <p:pic>
        <p:nvPicPr>
          <p:cNvPr id="4" name="01 fade · 09Layer 3 · Two clocks" descr="09Layer 3 · Two clocks"/>
          <p:cNvPicPr>
            <a:picLocks noChangeAspect="1"/>
          </p:cNvPicPr>
          <p:nvPr/>
        </p:nvPicPr>
        <p:blipFill>
          <a:blip r:embed="rId4"/>
          <a:stretch>
            <a:fillRect/>
          </a:stretch>
        </p:blipFill>
        <p:spPr>
          <a:xfrm>
            <a:off x="660400" y="609600"/>
            <a:ext cx="10871200" cy="444500"/>
          </a:xfrm>
          <a:prstGeom prst="rect">
            <a:avLst/>
          </a:prstGeom>
        </p:spPr>
      </p:pic>
      <p:pic>
        <p:nvPicPr>
          <p:cNvPr id="5" name="02 up · Safe is not the same as sellab" descr="Safe is not the same as sellable."/>
          <p:cNvPicPr>
            <a:picLocks noChangeAspect="1"/>
          </p:cNvPicPr>
          <p:nvPr/>
        </p:nvPicPr>
        <p:blipFill>
          <a:blip r:embed="rId5"/>
          <a:stretch>
            <a:fillRect/>
          </a:stretch>
        </p:blipFill>
        <p:spPr>
          <a:xfrm>
            <a:off x="660400" y="977900"/>
            <a:ext cx="9829800" cy="838200"/>
          </a:xfrm>
          <a:prstGeom prst="rect">
            <a:avLst/>
          </a:prstGeom>
        </p:spPr>
      </p:pic>
      <p:pic>
        <p:nvPicPr>
          <p:cNvPr id="6" name="03 up · Thermal ReserveThe physical cl" descr="Thermal ReserveThe physical clock"/>
          <p:cNvPicPr>
            <a:picLocks noChangeAspect="1"/>
          </p:cNvPicPr>
          <p:nvPr/>
        </p:nvPicPr>
        <p:blipFill>
          <a:blip r:embed="rId6"/>
          <a:stretch>
            <a:fillRect/>
          </a:stretch>
        </p:blipFill>
        <p:spPr>
          <a:xfrm>
            <a:off x="666750" y="1739900"/>
            <a:ext cx="5581650" cy="971550"/>
          </a:xfrm>
          <a:prstGeom prst="rect">
            <a:avLst/>
          </a:prstGeom>
        </p:spPr>
      </p:pic>
      <p:pic>
        <p:nvPicPr>
          <p:cNvPr id="7" name="04 up · Commercial ReserveThe commerci" descr="Commercial ReserveThe commercial clock"/>
          <p:cNvPicPr>
            <a:picLocks noChangeAspect="1"/>
          </p:cNvPicPr>
          <p:nvPr/>
        </p:nvPicPr>
        <p:blipFill>
          <a:blip r:embed="rId7"/>
          <a:stretch>
            <a:fillRect/>
          </a:stretch>
        </p:blipFill>
        <p:spPr>
          <a:xfrm>
            <a:off x="5943600" y="1739900"/>
            <a:ext cx="5581650" cy="971550"/>
          </a:xfrm>
          <a:prstGeom prst="rect">
            <a:avLst/>
          </a:prstGeom>
        </p:spPr>
      </p:pic>
      <p:pic>
        <p:nvPicPr>
          <p:cNvPr id="8" name="05 up · FocusProduct health: “Can it s" descr="FocusProduct health: “Can it still be consumed?”"/>
          <p:cNvPicPr>
            <a:picLocks noChangeAspect="1"/>
          </p:cNvPicPr>
          <p:nvPr/>
        </p:nvPicPr>
        <p:blipFill>
          <a:blip r:embed="rId8"/>
          <a:stretch>
            <a:fillRect/>
          </a:stretch>
        </p:blipFill>
        <p:spPr>
          <a:xfrm>
            <a:off x="666750" y="2400300"/>
            <a:ext cx="5581650" cy="838200"/>
          </a:xfrm>
          <a:prstGeom prst="rect">
            <a:avLst/>
          </a:prstGeom>
        </p:spPr>
      </p:pic>
      <p:pic>
        <p:nvPicPr>
          <p:cNvPr id="9" name="06 up · FocusEconomic life: “Can it st" descr="FocusEconomic life: “Can it still earn its value?”"/>
          <p:cNvPicPr>
            <a:picLocks noChangeAspect="1"/>
          </p:cNvPicPr>
          <p:nvPr/>
        </p:nvPicPr>
        <p:blipFill>
          <a:blip r:embed="rId9"/>
          <a:stretch>
            <a:fillRect/>
          </a:stretch>
        </p:blipFill>
        <p:spPr>
          <a:xfrm>
            <a:off x="5943600" y="2400300"/>
            <a:ext cx="5581650" cy="838200"/>
          </a:xfrm>
          <a:prstGeom prst="rect">
            <a:avLst/>
          </a:prstGeom>
        </p:spPr>
      </p:pic>
      <p:pic>
        <p:nvPicPr>
          <p:cNvPr id="10" name="07 up · ClockProduction → Transport → " descr="ClockProduction → Transport → Deterioration → Shelf-life boundary"/>
          <p:cNvPicPr>
            <a:picLocks noChangeAspect="1"/>
          </p:cNvPicPr>
          <p:nvPr/>
        </p:nvPicPr>
        <p:blipFill>
          <a:blip r:embed="rId10"/>
          <a:stretch>
            <a:fillRect/>
          </a:stretch>
        </p:blipFill>
        <p:spPr>
          <a:xfrm>
            <a:off x="666750" y="2927350"/>
            <a:ext cx="5581650" cy="838200"/>
          </a:xfrm>
          <a:prstGeom prst="rect">
            <a:avLst/>
          </a:prstGeom>
        </p:spPr>
      </p:pic>
      <p:pic>
        <p:nvPicPr>
          <p:cNvPr id="11" name="08 up · ClockArrival → Customer exposu" descr="ClockArrival → Customer exposure → Sell-through → Replenishment"/>
          <p:cNvPicPr>
            <a:picLocks noChangeAspect="1"/>
          </p:cNvPicPr>
          <p:nvPr/>
        </p:nvPicPr>
        <p:blipFill>
          <a:blip r:embed="rId11"/>
          <a:stretch>
            <a:fillRect/>
          </a:stretch>
        </p:blipFill>
        <p:spPr>
          <a:xfrm>
            <a:off x="5943600" y="2927350"/>
            <a:ext cx="5581650" cy="838200"/>
          </a:xfrm>
          <a:prstGeom prst="rect">
            <a:avLst/>
          </a:prstGeom>
        </p:spPr>
      </p:pic>
      <p:pic>
        <p:nvPicPr>
          <p:cNvPr id="12" name="09 up · GoalProtect physical life. Cal" descr="GoalProtect physical life. Calculated"/>
          <p:cNvPicPr>
            <a:picLocks noChangeAspect="1"/>
          </p:cNvPicPr>
          <p:nvPr/>
        </p:nvPicPr>
        <p:blipFill>
          <a:blip r:embed="rId12"/>
          <a:stretch>
            <a:fillRect/>
          </a:stretch>
        </p:blipFill>
        <p:spPr>
          <a:xfrm>
            <a:off x="666750" y="3454400"/>
            <a:ext cx="5581650" cy="844550"/>
          </a:xfrm>
          <a:prstGeom prst="rect">
            <a:avLst/>
          </a:prstGeom>
        </p:spPr>
      </p:pic>
      <p:pic>
        <p:nvPicPr>
          <p:cNvPr id="13" name="10 up · GoalProtect economic life. Pre" descr="GoalProtect economic life. Predicted"/>
          <p:cNvPicPr>
            <a:picLocks noChangeAspect="1"/>
          </p:cNvPicPr>
          <p:nvPr/>
        </p:nvPicPr>
        <p:blipFill>
          <a:blip r:embed="rId13"/>
          <a:stretch>
            <a:fillRect/>
          </a:stretch>
        </p:blipFill>
        <p:spPr>
          <a:xfrm>
            <a:off x="5943600" y="3454400"/>
            <a:ext cx="5581650" cy="844550"/>
          </a:xfrm>
          <a:prstGeom prst="rect">
            <a:avLst/>
          </a:prstGeom>
        </p:spPr>
      </p:pic>
      <p:pic>
        <p:nvPicPr>
          <p:cNvPr id="14" name="11 up · Health creates the possibility" descr="Health creates the possibility of selling. Demand creates the possibility of realising value. Commercial Reserve lives where the two meet. CR = Qr × Pr × Vr Qr quantity realistically realisable Pr pro"/>
          <p:cNvPicPr>
            <a:picLocks noChangeAspect="1"/>
          </p:cNvPicPr>
          <p:nvPr/>
        </p:nvPicPr>
        <p:blipFill>
          <a:blip r:embed="rId14"/>
          <a:stretch>
            <a:fillRect/>
          </a:stretch>
        </p:blipFill>
        <p:spPr>
          <a:xfrm>
            <a:off x="660400" y="4121150"/>
            <a:ext cx="10871200" cy="153035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4" presetID="10" presetClass="entr" presetSubtype="0" fill="hold" decel="100000" nodeType="withEffect">
                                  <p:stCondLst>
                                    <p:cond delay="200"/>
                                  </p:stCondLst>
                                  <p:childTnLst>
                                    <p:set>
                                      <p:cBhvr>
                                        <p:cTn id="5" dur="1" fill="hold">
                                          <p:stCondLst>
                                            <p:cond delay="0"/>
                                          </p:stCondLst>
                                        </p:cTn>
                                        <p:tgtEl>
                                          <p:spTgt spid="3"/>
                                        </p:tgtEl>
                                        <p:attrNameLst>
                                          <p:attrName>style.visibility</p:attrName>
                                        </p:attrNameLst>
                                      </p:cBhvr>
                                      <p:to>
                                        <p:strVal val="visible"/>
                                      </p:to>
                                    </p:set>
                                    <p:animEffect transition="in" filter="fade">
                                      <p:cBhvr>
                                        <p:cTn id="3" dur="900"/>
                                        <p:tgtEl>
                                          <p:spTgt spid="3"/>
                                        </p:tgtEl>
                                      </p:cBhvr>
                                    </p:animEffect>
                                  </p:childTnLst>
                                </p:cTn>
                              </p:par>
                              <p:par>
                                <p:cTn id="7" presetID="10" presetClass="entr" presetSubtype="0" fill="hold" decel="100000" nodeType="withEffect">
                                  <p:stCondLst>
                                    <p:cond delay="0"/>
                                  </p:stCondLst>
                                  <p:childTnLst>
                                    <p:set>
                                      <p:cBhvr>
                                        <p:cTn id="8" dur="1" fill="hold">
                                          <p:stCondLst>
                                            <p:cond delay="0"/>
                                          </p:stCondLst>
                                        </p:cTn>
                                        <p:tgtEl>
                                          <p:spTgt spid="4"/>
                                        </p:tgtEl>
                                        <p:attrNameLst>
                                          <p:attrName>style.visibility</p:attrName>
                                        </p:attrNameLst>
                                      </p:cBhvr>
                                      <p:to>
                                        <p:strVal val="visible"/>
                                      </p:to>
                                    </p:set>
                                    <p:animEffect transition="in" filter="fade">
                                      <p:cBhvr>
                                        <p:cTn id="6" dur="900"/>
                                        <p:tgtEl>
                                          <p:spTgt spid="4"/>
                                        </p:tgtEl>
                                      </p:cBhvr>
                                    </p:animEffect>
                                  </p:childTnLst>
                                </p:cTn>
                              </p:par>
                              <p:par>
                                <p:cTn id="11" presetID="2" presetClass="entr" presetSubtype="4" fill="hold" decel="100000" nodeType="withEffect">
                                  <p:stCondLst>
                                    <p:cond delay="120"/>
                                  </p:stCondLst>
                                  <p:childTnLst>
                                    <p:set>
                                      <p:cBhvr>
                                        <p:cTn id="12" dur="1" fill="hold">
                                          <p:stCondLst>
                                            <p:cond delay="0"/>
                                          </p:stCondLst>
                                        </p:cTn>
                                        <p:tgtEl>
                                          <p:spTgt spid="5"/>
                                        </p:tgtEl>
                                        <p:attrNameLst>
                                          <p:attrName>style.visibility</p:attrName>
                                        </p:attrNameLst>
                                      </p:cBhvr>
                                      <p:to>
                                        <p:strVal val="visible"/>
                                      </p:to>
                                    </p:set>
                                    <p:anim calcmode="lin" valueType="num">
                                      <p:cBhvr additive="base">
                                        <p:cTn id="9" dur="900" fill="hold"/>
                                        <p:tgtEl>
                                          <p:spTgt spid="5"/>
                                        </p:tgtEl>
                                        <p:attrNameLst>
                                          <p:attrName>ppt_y</p:attrName>
                                        </p:attrNameLst>
                                      </p:cBhvr>
                                      <p:tavLst>
                                        <p:tav tm="0">
                                          <p:val>
                                            <p:strVal val="#ppt_y+0.03"/>
                                          </p:val>
                                        </p:tav>
                                        <p:tav tm="100000">
                                          <p:val>
                                            <p:strVal val="#ppt_y"/>
                                          </p:val>
                                        </p:tav>
                                      </p:tavLst>
                                    </p:anim>
                                    <p:animEffect transition="in" filter="fade">
                                      <p:cBhvr>
                                        <p:cTn id="10" dur="900"/>
                                        <p:tgtEl>
                                          <p:spTgt spid="5"/>
                                        </p:tgtEl>
                                      </p:cBhvr>
                                    </p:animEffect>
                                  </p:childTnLst>
                                </p:cTn>
                              </p:par>
                              <p:par>
                                <p:cTn id="15" presetID="2" presetClass="entr" presetSubtype="4" fill="hold" decel="100000" nodeType="withEffect">
                                  <p:stCondLst>
                                    <p:cond delay="300"/>
                                  </p:stCondLst>
                                  <p:childTnLst>
                                    <p:set>
                                      <p:cBhvr>
                                        <p:cTn id="16" dur="1" fill="hold">
                                          <p:stCondLst>
                                            <p:cond delay="0"/>
                                          </p:stCondLst>
                                        </p:cTn>
                                        <p:tgtEl>
                                          <p:spTgt spid="6"/>
                                        </p:tgtEl>
                                        <p:attrNameLst>
                                          <p:attrName>style.visibility</p:attrName>
                                        </p:attrNameLst>
                                      </p:cBhvr>
                                      <p:to>
                                        <p:strVal val="visible"/>
                                      </p:to>
                                    </p:set>
                                    <p:anim calcmode="lin" valueType="num">
                                      <p:cBhvr additive="base">
                                        <p:cTn id="13" dur="900" fill="hold"/>
                                        <p:tgtEl>
                                          <p:spTgt spid="6"/>
                                        </p:tgtEl>
                                        <p:attrNameLst>
                                          <p:attrName>ppt_y</p:attrName>
                                        </p:attrNameLst>
                                      </p:cBhvr>
                                      <p:tavLst>
                                        <p:tav tm="0">
                                          <p:val>
                                            <p:strVal val="#ppt_y+0.03"/>
                                          </p:val>
                                        </p:tav>
                                        <p:tav tm="100000">
                                          <p:val>
                                            <p:strVal val="#ppt_y"/>
                                          </p:val>
                                        </p:tav>
                                      </p:tavLst>
                                    </p:anim>
                                    <p:animEffect transition="in" filter="fade">
                                      <p:cBhvr>
                                        <p:cTn id="14" dur="900"/>
                                        <p:tgtEl>
                                          <p:spTgt spid="6"/>
                                        </p:tgtEl>
                                      </p:cBhvr>
                                    </p:animEffect>
                                  </p:childTnLst>
                                </p:cTn>
                              </p:par>
                              <p:par>
                                <p:cTn id="19" presetID="2" presetClass="entr" presetSubtype="4" fill="hold" decel="100000" nodeType="withEffect">
                                  <p:stCondLst>
                                    <p:cond delay="380"/>
                                  </p:stCondLst>
                                  <p:childTnLst>
                                    <p:set>
                                      <p:cBhvr>
                                        <p:cTn id="20" dur="1" fill="hold">
                                          <p:stCondLst>
                                            <p:cond delay="0"/>
                                          </p:stCondLst>
                                        </p:cTn>
                                        <p:tgtEl>
                                          <p:spTgt spid="7"/>
                                        </p:tgtEl>
                                        <p:attrNameLst>
                                          <p:attrName>style.visibility</p:attrName>
                                        </p:attrNameLst>
                                      </p:cBhvr>
                                      <p:to>
                                        <p:strVal val="visible"/>
                                      </p:to>
                                    </p:set>
                                    <p:anim calcmode="lin" valueType="num">
                                      <p:cBhvr additive="base">
                                        <p:cTn id="17" dur="900" fill="hold"/>
                                        <p:tgtEl>
                                          <p:spTgt spid="7"/>
                                        </p:tgtEl>
                                        <p:attrNameLst>
                                          <p:attrName>ppt_y</p:attrName>
                                        </p:attrNameLst>
                                      </p:cBhvr>
                                      <p:tavLst>
                                        <p:tav tm="0">
                                          <p:val>
                                            <p:strVal val="#ppt_y+0.03"/>
                                          </p:val>
                                        </p:tav>
                                        <p:tav tm="100000">
                                          <p:val>
                                            <p:strVal val="#ppt_y"/>
                                          </p:val>
                                        </p:tav>
                                      </p:tavLst>
                                    </p:anim>
                                    <p:animEffect transition="in" filter="fade">
                                      <p:cBhvr>
                                        <p:cTn id="18" dur="900"/>
                                        <p:tgtEl>
                                          <p:spTgt spid="7"/>
                                        </p:tgtEl>
                                      </p:cBhvr>
                                    </p:animEffect>
                                  </p:childTnLst>
                                </p:cTn>
                              </p:par>
                              <p:par>
                                <p:cTn id="23" presetID="2" presetClass="entr" presetSubtype="4" fill="hold" decel="100000" nodeType="withEffect">
                                  <p:stCondLst>
                                    <p:cond delay="500"/>
                                  </p:stCondLst>
                                  <p:childTnLst>
                                    <p:set>
                                      <p:cBhvr>
                                        <p:cTn id="24" dur="1" fill="hold">
                                          <p:stCondLst>
                                            <p:cond delay="0"/>
                                          </p:stCondLst>
                                        </p:cTn>
                                        <p:tgtEl>
                                          <p:spTgt spid="8"/>
                                        </p:tgtEl>
                                        <p:attrNameLst>
                                          <p:attrName>style.visibility</p:attrName>
                                        </p:attrNameLst>
                                      </p:cBhvr>
                                      <p:to>
                                        <p:strVal val="visible"/>
                                      </p:to>
                                    </p:set>
                                    <p:anim calcmode="lin" valueType="num">
                                      <p:cBhvr additive="base">
                                        <p:cTn id="21" dur="900" fill="hold"/>
                                        <p:tgtEl>
                                          <p:spTgt spid="8"/>
                                        </p:tgtEl>
                                        <p:attrNameLst>
                                          <p:attrName>ppt_y</p:attrName>
                                        </p:attrNameLst>
                                      </p:cBhvr>
                                      <p:tavLst>
                                        <p:tav tm="0">
                                          <p:val>
                                            <p:strVal val="#ppt_y+0.03"/>
                                          </p:val>
                                        </p:tav>
                                        <p:tav tm="100000">
                                          <p:val>
                                            <p:strVal val="#ppt_y"/>
                                          </p:val>
                                        </p:tav>
                                      </p:tavLst>
                                    </p:anim>
                                    <p:animEffect transition="in" filter="fade">
                                      <p:cBhvr>
                                        <p:cTn id="22" dur="900"/>
                                        <p:tgtEl>
                                          <p:spTgt spid="8"/>
                                        </p:tgtEl>
                                      </p:cBhvr>
                                    </p:animEffect>
                                  </p:childTnLst>
                                </p:cTn>
                              </p:par>
                              <p:par>
                                <p:cTn id="27" presetID="2" presetClass="entr" presetSubtype="4" fill="hold" decel="100000" nodeType="withEffect">
                                  <p:stCondLst>
                                    <p:cond delay="560"/>
                                  </p:stCondLst>
                                  <p:childTnLst>
                                    <p:set>
                                      <p:cBhvr>
                                        <p:cTn id="28" dur="1" fill="hold">
                                          <p:stCondLst>
                                            <p:cond delay="0"/>
                                          </p:stCondLst>
                                        </p:cTn>
                                        <p:tgtEl>
                                          <p:spTgt spid="9"/>
                                        </p:tgtEl>
                                        <p:attrNameLst>
                                          <p:attrName>style.visibility</p:attrName>
                                        </p:attrNameLst>
                                      </p:cBhvr>
                                      <p:to>
                                        <p:strVal val="visible"/>
                                      </p:to>
                                    </p:set>
                                    <p:anim calcmode="lin" valueType="num">
                                      <p:cBhvr additive="base">
                                        <p:cTn id="25" dur="900" fill="hold"/>
                                        <p:tgtEl>
                                          <p:spTgt spid="9"/>
                                        </p:tgtEl>
                                        <p:attrNameLst>
                                          <p:attrName>ppt_y</p:attrName>
                                        </p:attrNameLst>
                                      </p:cBhvr>
                                      <p:tavLst>
                                        <p:tav tm="0">
                                          <p:val>
                                            <p:strVal val="#ppt_y+0.03"/>
                                          </p:val>
                                        </p:tav>
                                        <p:tav tm="100000">
                                          <p:val>
                                            <p:strVal val="#ppt_y"/>
                                          </p:val>
                                        </p:tav>
                                      </p:tavLst>
                                    </p:anim>
                                    <p:animEffect transition="in" filter="fade">
                                      <p:cBhvr>
                                        <p:cTn id="26" dur="900"/>
                                        <p:tgtEl>
                                          <p:spTgt spid="9"/>
                                        </p:tgtEl>
                                      </p:cBhvr>
                                    </p:animEffect>
                                  </p:childTnLst>
                                </p:cTn>
                              </p:par>
                              <p:par>
                                <p:cTn id="31" presetID="2" presetClass="entr" presetSubtype="4" fill="hold" decel="100000" nodeType="withEffect">
                                  <p:stCondLst>
                                    <p:cond delay="640"/>
                                  </p:stCondLst>
                                  <p:childTnLst>
                                    <p:set>
                                      <p:cBhvr>
                                        <p:cTn id="32" dur="1" fill="hold">
                                          <p:stCondLst>
                                            <p:cond delay="0"/>
                                          </p:stCondLst>
                                        </p:cTn>
                                        <p:tgtEl>
                                          <p:spTgt spid="10"/>
                                        </p:tgtEl>
                                        <p:attrNameLst>
                                          <p:attrName>style.visibility</p:attrName>
                                        </p:attrNameLst>
                                      </p:cBhvr>
                                      <p:to>
                                        <p:strVal val="visible"/>
                                      </p:to>
                                    </p:set>
                                    <p:anim calcmode="lin" valueType="num">
                                      <p:cBhvr additive="base">
                                        <p:cTn id="29" dur="900" fill="hold"/>
                                        <p:tgtEl>
                                          <p:spTgt spid="10"/>
                                        </p:tgtEl>
                                        <p:attrNameLst>
                                          <p:attrName>ppt_y</p:attrName>
                                        </p:attrNameLst>
                                      </p:cBhvr>
                                      <p:tavLst>
                                        <p:tav tm="0">
                                          <p:val>
                                            <p:strVal val="#ppt_y+0.03"/>
                                          </p:val>
                                        </p:tav>
                                        <p:tav tm="100000">
                                          <p:val>
                                            <p:strVal val="#ppt_y"/>
                                          </p:val>
                                        </p:tav>
                                      </p:tavLst>
                                    </p:anim>
                                    <p:animEffect transition="in" filter="fade">
                                      <p:cBhvr>
                                        <p:cTn id="30" dur="900"/>
                                        <p:tgtEl>
                                          <p:spTgt spid="10"/>
                                        </p:tgtEl>
                                      </p:cBhvr>
                                    </p:animEffect>
                                  </p:childTnLst>
                                </p:cTn>
                              </p:par>
                              <p:par>
                                <p:cTn id="35" presetID="2" presetClass="entr" presetSubtype="4" fill="hold" decel="100000" nodeType="withEffect">
                                  <p:stCondLst>
                                    <p:cond delay="700"/>
                                  </p:stCondLst>
                                  <p:childTnLst>
                                    <p:set>
                                      <p:cBhvr>
                                        <p:cTn id="36" dur="1" fill="hold">
                                          <p:stCondLst>
                                            <p:cond delay="0"/>
                                          </p:stCondLst>
                                        </p:cTn>
                                        <p:tgtEl>
                                          <p:spTgt spid="11"/>
                                        </p:tgtEl>
                                        <p:attrNameLst>
                                          <p:attrName>style.visibility</p:attrName>
                                        </p:attrNameLst>
                                      </p:cBhvr>
                                      <p:to>
                                        <p:strVal val="visible"/>
                                      </p:to>
                                    </p:set>
                                    <p:anim calcmode="lin" valueType="num">
                                      <p:cBhvr additive="base">
                                        <p:cTn id="33" dur="900" fill="hold"/>
                                        <p:tgtEl>
                                          <p:spTgt spid="11"/>
                                        </p:tgtEl>
                                        <p:attrNameLst>
                                          <p:attrName>ppt_y</p:attrName>
                                        </p:attrNameLst>
                                      </p:cBhvr>
                                      <p:tavLst>
                                        <p:tav tm="0">
                                          <p:val>
                                            <p:strVal val="#ppt_y+0.03"/>
                                          </p:val>
                                        </p:tav>
                                        <p:tav tm="100000">
                                          <p:val>
                                            <p:strVal val="#ppt_y"/>
                                          </p:val>
                                        </p:tav>
                                      </p:tavLst>
                                    </p:anim>
                                    <p:animEffect transition="in" filter="fade">
                                      <p:cBhvr>
                                        <p:cTn id="34" dur="900"/>
                                        <p:tgtEl>
                                          <p:spTgt spid="11"/>
                                        </p:tgtEl>
                                      </p:cBhvr>
                                    </p:animEffect>
                                  </p:childTnLst>
                                </p:cTn>
                              </p:par>
                              <p:par>
                                <p:cTn id="39" presetID="2" presetClass="entr" presetSubtype="4" fill="hold" decel="100000" nodeType="withEffect">
                                  <p:stCondLst>
                                    <p:cond delay="780"/>
                                  </p:stCondLst>
                                  <p:childTnLst>
                                    <p:set>
                                      <p:cBhvr>
                                        <p:cTn id="40" dur="1" fill="hold">
                                          <p:stCondLst>
                                            <p:cond delay="0"/>
                                          </p:stCondLst>
                                        </p:cTn>
                                        <p:tgtEl>
                                          <p:spTgt spid="12"/>
                                        </p:tgtEl>
                                        <p:attrNameLst>
                                          <p:attrName>style.visibility</p:attrName>
                                        </p:attrNameLst>
                                      </p:cBhvr>
                                      <p:to>
                                        <p:strVal val="visible"/>
                                      </p:to>
                                    </p:set>
                                    <p:anim calcmode="lin" valueType="num">
                                      <p:cBhvr additive="base">
                                        <p:cTn id="37" dur="900" fill="hold"/>
                                        <p:tgtEl>
                                          <p:spTgt spid="12"/>
                                        </p:tgtEl>
                                        <p:attrNameLst>
                                          <p:attrName>ppt_y</p:attrName>
                                        </p:attrNameLst>
                                      </p:cBhvr>
                                      <p:tavLst>
                                        <p:tav tm="0">
                                          <p:val>
                                            <p:strVal val="#ppt_y+0.03"/>
                                          </p:val>
                                        </p:tav>
                                        <p:tav tm="100000">
                                          <p:val>
                                            <p:strVal val="#ppt_y"/>
                                          </p:val>
                                        </p:tav>
                                      </p:tavLst>
                                    </p:anim>
                                    <p:animEffect transition="in" filter="fade">
                                      <p:cBhvr>
                                        <p:cTn id="38" dur="900"/>
                                        <p:tgtEl>
                                          <p:spTgt spid="12"/>
                                        </p:tgtEl>
                                      </p:cBhvr>
                                    </p:animEffect>
                                  </p:childTnLst>
                                </p:cTn>
                              </p:par>
                              <p:par>
                                <p:cTn id="43" presetID="2" presetClass="entr" presetSubtype="4" fill="hold" decel="100000" nodeType="withEffect">
                                  <p:stCondLst>
                                    <p:cond delay="840"/>
                                  </p:stCondLst>
                                  <p:childTnLst>
                                    <p:set>
                                      <p:cBhvr>
                                        <p:cTn id="44" dur="1" fill="hold">
                                          <p:stCondLst>
                                            <p:cond delay="0"/>
                                          </p:stCondLst>
                                        </p:cTn>
                                        <p:tgtEl>
                                          <p:spTgt spid="13"/>
                                        </p:tgtEl>
                                        <p:attrNameLst>
                                          <p:attrName>style.visibility</p:attrName>
                                        </p:attrNameLst>
                                      </p:cBhvr>
                                      <p:to>
                                        <p:strVal val="visible"/>
                                      </p:to>
                                    </p:set>
                                    <p:anim calcmode="lin" valueType="num">
                                      <p:cBhvr additive="base">
                                        <p:cTn id="41" dur="900" fill="hold"/>
                                        <p:tgtEl>
                                          <p:spTgt spid="13"/>
                                        </p:tgtEl>
                                        <p:attrNameLst>
                                          <p:attrName>ppt_y</p:attrName>
                                        </p:attrNameLst>
                                      </p:cBhvr>
                                      <p:tavLst>
                                        <p:tav tm="0">
                                          <p:val>
                                            <p:strVal val="#ppt_y+0.03"/>
                                          </p:val>
                                        </p:tav>
                                        <p:tav tm="100000">
                                          <p:val>
                                            <p:strVal val="#ppt_y"/>
                                          </p:val>
                                        </p:tav>
                                      </p:tavLst>
                                    </p:anim>
                                    <p:animEffect transition="in" filter="fade">
                                      <p:cBhvr>
                                        <p:cTn id="42" dur="900"/>
                                        <p:tgtEl>
                                          <p:spTgt spid="13"/>
                                        </p:tgtEl>
                                      </p:cBhvr>
                                    </p:animEffect>
                                  </p:childTnLst>
                                </p:cTn>
                              </p:par>
                              <p:par>
                                <p:cTn id="47" presetID="2" presetClass="entr" presetSubtype="4" fill="hold" decel="100000" nodeType="withEffect">
                                  <p:stCondLst>
                                    <p:cond delay="1000"/>
                                  </p:stCondLst>
                                  <p:childTnLst>
                                    <p:set>
                                      <p:cBhvr>
                                        <p:cTn id="48" dur="1" fill="hold">
                                          <p:stCondLst>
                                            <p:cond delay="0"/>
                                          </p:stCondLst>
                                        </p:cTn>
                                        <p:tgtEl>
                                          <p:spTgt spid="14"/>
                                        </p:tgtEl>
                                        <p:attrNameLst>
                                          <p:attrName>style.visibility</p:attrName>
                                        </p:attrNameLst>
                                      </p:cBhvr>
                                      <p:to>
                                        <p:strVal val="visible"/>
                                      </p:to>
                                    </p:set>
                                    <p:anim calcmode="lin" valueType="num">
                                      <p:cBhvr additive="base">
                                        <p:cTn id="45" dur="900" fill="hold"/>
                                        <p:tgtEl>
                                          <p:spTgt spid="14"/>
                                        </p:tgtEl>
                                        <p:attrNameLst>
                                          <p:attrName>ppt_y</p:attrName>
                                        </p:attrNameLst>
                                      </p:cBhvr>
                                      <p:tavLst>
                                        <p:tav tm="0">
                                          <p:val>
                                            <p:strVal val="#ppt_y+0.03"/>
                                          </p:val>
                                        </p:tav>
                                        <p:tav tm="100000">
                                          <p:val>
                                            <p:strVal val="#ppt_y"/>
                                          </p:val>
                                        </p:tav>
                                      </p:tavLst>
                                    </p:anim>
                                    <p:animEffect transition="in" filter="fade">
                                      <p:cBhvr>
                                        <p:cTn id="46" dur="9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ground" descr="Layer 3 · The full commercial cycle slide background"/>
          <p:cNvPicPr>
            <a:picLocks noChangeAspect="1"/>
          </p:cNvPicPr>
          <p:nvPr/>
        </p:nvPicPr>
        <p:blipFill>
          <a:blip r:embed="rId2"/>
          <a:stretch>
            <a:fillRect/>
          </a:stretch>
        </p:blipFill>
        <p:spPr>
          <a:xfrm>
            <a:off x="0" y="0"/>
            <a:ext cx="12192000" cy="6858000"/>
          </a:xfrm>
          <a:prstGeom prst="rect">
            <a:avLst/>
          </a:prstGeom>
        </p:spPr>
      </p:pic>
      <p:pic>
        <p:nvPicPr>
          <p:cNvPr id="3" name="00 fade · Illustrative value curve · des" descr="Illustrative value curve · designed"/>
          <p:cNvPicPr>
            <a:picLocks noChangeAspect="1"/>
          </p:cNvPicPr>
          <p:nvPr/>
        </p:nvPicPr>
        <p:blipFill>
          <a:blip r:embed="rId3"/>
          <a:stretch>
            <a:fillRect/>
          </a:stretch>
        </p:blipFill>
        <p:spPr>
          <a:xfrm>
            <a:off x="8140700" y="558800"/>
            <a:ext cx="3390900" cy="546100"/>
          </a:xfrm>
          <a:prstGeom prst="rect">
            <a:avLst/>
          </a:prstGeom>
        </p:spPr>
      </p:pic>
      <p:pic>
        <p:nvPicPr>
          <p:cNvPr id="4" name="01 fade · 10Layer 3 · The full commercia" descr="10Layer 3 · The full commercial cycle"/>
          <p:cNvPicPr>
            <a:picLocks noChangeAspect="1"/>
          </p:cNvPicPr>
          <p:nvPr/>
        </p:nvPicPr>
        <p:blipFill>
          <a:blip r:embed="rId4"/>
          <a:stretch>
            <a:fillRect/>
          </a:stretch>
        </p:blipFill>
        <p:spPr>
          <a:xfrm>
            <a:off x="660400" y="609600"/>
            <a:ext cx="10871200" cy="444500"/>
          </a:xfrm>
          <a:prstGeom prst="rect">
            <a:avLst/>
          </a:prstGeom>
        </p:spPr>
      </p:pic>
      <p:pic>
        <p:nvPicPr>
          <p:cNvPr id="5" name="02 up · In transit until the profit is" descr="In transit until the profit is booked."/>
          <p:cNvPicPr>
            <a:picLocks noChangeAspect="1"/>
          </p:cNvPicPr>
          <p:nvPr/>
        </p:nvPicPr>
        <p:blipFill>
          <a:blip r:embed="rId5"/>
          <a:stretch>
            <a:fillRect/>
          </a:stretch>
        </p:blipFill>
        <p:spPr>
          <a:xfrm>
            <a:off x="660400" y="977900"/>
            <a:ext cx="9829800" cy="838200"/>
          </a:xfrm>
          <a:prstGeom prst="rect">
            <a:avLst/>
          </a:prstGeom>
        </p:spPr>
      </p:pic>
      <p:pic>
        <p:nvPicPr>
          <p:cNvPr id="6" name="03 up · The trace follows the value fr" descr="The trace follows the value from farm to ledger, not just from dock to dock."/>
          <p:cNvPicPr>
            <a:picLocks noChangeAspect="1"/>
          </p:cNvPicPr>
          <p:nvPr/>
        </p:nvPicPr>
        <p:blipFill>
          <a:blip r:embed="rId6"/>
          <a:stretch>
            <a:fillRect/>
          </a:stretch>
        </p:blipFill>
        <p:spPr>
          <a:xfrm>
            <a:off x="660400" y="1631950"/>
            <a:ext cx="8686800" cy="558800"/>
          </a:xfrm>
          <a:prstGeom prst="rect">
            <a:avLst/>
          </a:prstGeom>
        </p:spPr>
      </p:pic>
      <p:pic>
        <p:nvPicPr>
          <p:cNvPr id="7" name="04 draw · graphic" descr=""/>
          <p:cNvPicPr>
            <a:picLocks noChangeAspect="1"/>
          </p:cNvPicPr>
          <p:nvPr/>
        </p:nvPicPr>
        <p:blipFill>
          <a:blip r:embed="rId7"/>
          <a:stretch>
            <a:fillRect/>
          </a:stretch>
        </p:blipFill>
        <p:spPr>
          <a:xfrm>
            <a:off x="666750" y="2387600"/>
            <a:ext cx="10858500" cy="3517900"/>
          </a:xfrm>
          <a:prstGeom prst="rect">
            <a:avLst/>
          </a:prstGeom>
        </p:spPr>
      </p:pic>
      <p:pic>
        <p:nvPicPr>
          <p:cNvPr id="8" name="05 up · Kinetic transit On the truck, " descr="Kinetic transit On the truck, burning fuel and thermal life. Routing turns at-risk stock back into sales. Thermal + Decision Reserve"/>
          <p:cNvPicPr>
            <a:picLocks noChangeAspect="1"/>
          </p:cNvPicPr>
          <p:nvPr/>
        </p:nvPicPr>
        <p:blipFill>
          <a:blip r:embed="rId8"/>
          <a:stretch>
            <a:fillRect/>
          </a:stretch>
        </p:blipFill>
        <p:spPr>
          <a:xfrm>
            <a:off x="666750" y="2101850"/>
            <a:ext cx="2946400" cy="4013200"/>
          </a:xfrm>
          <a:prstGeom prst="rect">
            <a:avLst/>
          </a:prstGeom>
        </p:spPr>
      </p:pic>
      <p:pic>
        <p:nvPicPr>
          <p:cNvPr id="9" name="06 up · Static transit On the shelf, b" descr="Static transit On the shelf, burning shelf life while it waits for customers. Commercial Reserve"/>
          <p:cNvPicPr>
            <a:picLocks noChangeAspect="1"/>
          </p:cNvPicPr>
          <p:nvPr/>
        </p:nvPicPr>
        <p:blipFill>
          <a:blip r:embed="rId9"/>
          <a:stretch>
            <a:fillRect/>
          </a:stretch>
        </p:blipFill>
        <p:spPr>
          <a:xfrm>
            <a:off x="3302000" y="2101850"/>
            <a:ext cx="2946400" cy="4013200"/>
          </a:xfrm>
          <a:prstGeom prst="rect">
            <a:avLst/>
          </a:prstGeom>
        </p:spPr>
      </p:pic>
      <p:pic>
        <p:nvPicPr>
          <p:cNvPr id="10" name="07 up · Consumer transit Into the cust" descr="Consumer transit Into the customer's cart: the moment value is realised. Value realised"/>
          <p:cNvPicPr>
            <a:picLocks noChangeAspect="1"/>
          </p:cNvPicPr>
          <p:nvPr/>
        </p:nvPicPr>
        <p:blipFill>
          <a:blip r:embed="rId10"/>
          <a:stretch>
            <a:fillRect/>
          </a:stretch>
        </p:blipFill>
        <p:spPr>
          <a:xfrm>
            <a:off x="5943600" y="2101850"/>
            <a:ext cx="2946400" cy="4013200"/>
          </a:xfrm>
          <a:prstGeom prst="rect">
            <a:avLst/>
          </a:prstGeom>
        </p:spPr>
      </p:pic>
      <p:pic>
        <p:nvPicPr>
          <p:cNvPr id="11" name="08 up · Consolidation POS data flows b" descr="Consolidation POS data flows back, profit hits the ledger, and demand triggers replenishment. Value Ledger"/>
          <p:cNvPicPr>
            <a:picLocks noChangeAspect="1"/>
          </p:cNvPicPr>
          <p:nvPr/>
        </p:nvPicPr>
        <p:blipFill>
          <a:blip r:embed="rId11"/>
          <a:stretch>
            <a:fillRect/>
          </a:stretch>
        </p:blipFill>
        <p:spPr>
          <a:xfrm>
            <a:off x="8578850" y="2101850"/>
            <a:ext cx="2946400" cy="401320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4" presetID="10" presetClass="entr" presetSubtype="0" fill="hold" decel="100000" nodeType="withEffect">
                                  <p:stCondLst>
                                    <p:cond delay="200"/>
                                  </p:stCondLst>
                                  <p:childTnLst>
                                    <p:set>
                                      <p:cBhvr>
                                        <p:cTn id="5" dur="1" fill="hold">
                                          <p:stCondLst>
                                            <p:cond delay="0"/>
                                          </p:stCondLst>
                                        </p:cTn>
                                        <p:tgtEl>
                                          <p:spTgt spid="3"/>
                                        </p:tgtEl>
                                        <p:attrNameLst>
                                          <p:attrName>style.visibility</p:attrName>
                                        </p:attrNameLst>
                                      </p:cBhvr>
                                      <p:to>
                                        <p:strVal val="visible"/>
                                      </p:to>
                                    </p:set>
                                    <p:animEffect transition="in" filter="fade">
                                      <p:cBhvr>
                                        <p:cTn id="3" dur="900"/>
                                        <p:tgtEl>
                                          <p:spTgt spid="3"/>
                                        </p:tgtEl>
                                      </p:cBhvr>
                                    </p:animEffect>
                                  </p:childTnLst>
                                </p:cTn>
                              </p:par>
                              <p:par>
                                <p:cTn id="7" presetID="10" presetClass="entr" presetSubtype="0" fill="hold" decel="100000" nodeType="withEffect">
                                  <p:stCondLst>
                                    <p:cond delay="0"/>
                                  </p:stCondLst>
                                  <p:childTnLst>
                                    <p:set>
                                      <p:cBhvr>
                                        <p:cTn id="8" dur="1" fill="hold">
                                          <p:stCondLst>
                                            <p:cond delay="0"/>
                                          </p:stCondLst>
                                        </p:cTn>
                                        <p:tgtEl>
                                          <p:spTgt spid="4"/>
                                        </p:tgtEl>
                                        <p:attrNameLst>
                                          <p:attrName>style.visibility</p:attrName>
                                        </p:attrNameLst>
                                      </p:cBhvr>
                                      <p:to>
                                        <p:strVal val="visible"/>
                                      </p:to>
                                    </p:set>
                                    <p:animEffect transition="in" filter="fade">
                                      <p:cBhvr>
                                        <p:cTn id="6" dur="900"/>
                                        <p:tgtEl>
                                          <p:spTgt spid="4"/>
                                        </p:tgtEl>
                                      </p:cBhvr>
                                    </p:animEffect>
                                  </p:childTnLst>
                                </p:cTn>
                              </p:par>
                              <p:par>
                                <p:cTn id="11" presetID="2" presetClass="entr" presetSubtype="4" fill="hold" decel="100000" nodeType="withEffect">
                                  <p:stCondLst>
                                    <p:cond delay="120"/>
                                  </p:stCondLst>
                                  <p:childTnLst>
                                    <p:set>
                                      <p:cBhvr>
                                        <p:cTn id="12" dur="1" fill="hold">
                                          <p:stCondLst>
                                            <p:cond delay="0"/>
                                          </p:stCondLst>
                                        </p:cTn>
                                        <p:tgtEl>
                                          <p:spTgt spid="5"/>
                                        </p:tgtEl>
                                        <p:attrNameLst>
                                          <p:attrName>style.visibility</p:attrName>
                                        </p:attrNameLst>
                                      </p:cBhvr>
                                      <p:to>
                                        <p:strVal val="visible"/>
                                      </p:to>
                                    </p:set>
                                    <p:anim calcmode="lin" valueType="num">
                                      <p:cBhvr additive="base">
                                        <p:cTn id="9" dur="900" fill="hold"/>
                                        <p:tgtEl>
                                          <p:spTgt spid="5"/>
                                        </p:tgtEl>
                                        <p:attrNameLst>
                                          <p:attrName>ppt_y</p:attrName>
                                        </p:attrNameLst>
                                      </p:cBhvr>
                                      <p:tavLst>
                                        <p:tav tm="0">
                                          <p:val>
                                            <p:strVal val="#ppt_y+0.03"/>
                                          </p:val>
                                        </p:tav>
                                        <p:tav tm="100000">
                                          <p:val>
                                            <p:strVal val="#ppt_y"/>
                                          </p:val>
                                        </p:tav>
                                      </p:tavLst>
                                    </p:anim>
                                    <p:animEffect transition="in" filter="fade">
                                      <p:cBhvr>
                                        <p:cTn id="10" dur="900"/>
                                        <p:tgtEl>
                                          <p:spTgt spid="5"/>
                                        </p:tgtEl>
                                      </p:cBhvr>
                                    </p:animEffect>
                                  </p:childTnLst>
                                </p:cTn>
                              </p:par>
                              <p:par>
                                <p:cTn id="15" presetID="2" presetClass="entr" presetSubtype="4" fill="hold" decel="100000" nodeType="withEffect">
                                  <p:stCondLst>
                                    <p:cond delay="250"/>
                                  </p:stCondLst>
                                  <p:childTnLst>
                                    <p:set>
                                      <p:cBhvr>
                                        <p:cTn id="16" dur="1" fill="hold">
                                          <p:stCondLst>
                                            <p:cond delay="0"/>
                                          </p:stCondLst>
                                        </p:cTn>
                                        <p:tgtEl>
                                          <p:spTgt spid="6"/>
                                        </p:tgtEl>
                                        <p:attrNameLst>
                                          <p:attrName>style.visibility</p:attrName>
                                        </p:attrNameLst>
                                      </p:cBhvr>
                                      <p:to>
                                        <p:strVal val="visible"/>
                                      </p:to>
                                    </p:set>
                                    <p:anim calcmode="lin" valueType="num">
                                      <p:cBhvr additive="base">
                                        <p:cTn id="13" dur="900" fill="hold"/>
                                        <p:tgtEl>
                                          <p:spTgt spid="6"/>
                                        </p:tgtEl>
                                        <p:attrNameLst>
                                          <p:attrName>ppt_y</p:attrName>
                                        </p:attrNameLst>
                                      </p:cBhvr>
                                      <p:tavLst>
                                        <p:tav tm="0">
                                          <p:val>
                                            <p:strVal val="#ppt_y+0.03"/>
                                          </p:val>
                                        </p:tav>
                                        <p:tav tm="100000">
                                          <p:val>
                                            <p:strVal val="#ppt_y"/>
                                          </p:val>
                                        </p:tav>
                                      </p:tavLst>
                                    </p:anim>
                                    <p:animEffect transition="in" filter="fade">
                                      <p:cBhvr>
                                        <p:cTn id="14" dur="900"/>
                                        <p:tgtEl>
                                          <p:spTgt spid="6"/>
                                        </p:tgtEl>
                                      </p:cBhvr>
                                    </p:animEffect>
                                  </p:childTnLst>
                                </p:cTn>
                              </p:par>
                              <p:par>
                                <p:cTn id="18" presetID="22" presetClass="entr" presetSubtype="8" fill="hold" decel="100000" nodeType="withEffect">
                                  <p:stCondLst>
                                    <p:cond delay="700"/>
                                  </p:stCondLst>
                                  <p:childTnLst>
                                    <p:set>
                                      <p:cBhvr>
                                        <p:cTn id="19" dur="1" fill="hold">
                                          <p:stCondLst>
                                            <p:cond delay="0"/>
                                          </p:stCondLst>
                                        </p:cTn>
                                        <p:tgtEl>
                                          <p:spTgt spid="7"/>
                                        </p:tgtEl>
                                        <p:attrNameLst>
                                          <p:attrName>style.visibility</p:attrName>
                                        </p:attrNameLst>
                                      </p:cBhvr>
                                      <p:to>
                                        <p:strVal val="visible"/>
                                      </p:to>
                                    </p:set>
                                    <p:animEffect transition="in" filter="wipe(left)">
                                      <p:cBhvr>
                                        <p:cTn id="17" dur="3000"/>
                                        <p:tgtEl>
                                          <p:spTgt spid="7"/>
                                        </p:tgtEl>
                                      </p:cBhvr>
                                    </p:animEffect>
                                  </p:childTnLst>
                                </p:cTn>
                              </p:par>
                              <p:par>
                                <p:cTn id="22" presetID="2" presetClass="entr" presetSubtype="4" fill="hold" decel="100000" nodeType="withEffect">
                                  <p:stCondLst>
                                    <p:cond delay="400"/>
                                  </p:stCondLst>
                                  <p:childTnLst>
                                    <p:set>
                                      <p:cBhvr>
                                        <p:cTn id="23" dur="1" fill="hold">
                                          <p:stCondLst>
                                            <p:cond delay="0"/>
                                          </p:stCondLst>
                                        </p:cTn>
                                        <p:tgtEl>
                                          <p:spTgt spid="8"/>
                                        </p:tgtEl>
                                        <p:attrNameLst>
                                          <p:attrName>style.visibility</p:attrName>
                                        </p:attrNameLst>
                                      </p:cBhvr>
                                      <p:to>
                                        <p:strVal val="visible"/>
                                      </p:to>
                                    </p:set>
                                    <p:anim calcmode="lin" valueType="num">
                                      <p:cBhvr additive="base">
                                        <p:cTn id="20" dur="900" fill="hold"/>
                                        <p:tgtEl>
                                          <p:spTgt spid="8"/>
                                        </p:tgtEl>
                                        <p:attrNameLst>
                                          <p:attrName>ppt_y</p:attrName>
                                        </p:attrNameLst>
                                      </p:cBhvr>
                                      <p:tavLst>
                                        <p:tav tm="0">
                                          <p:val>
                                            <p:strVal val="#ppt_y+0.03"/>
                                          </p:val>
                                        </p:tav>
                                        <p:tav tm="100000">
                                          <p:val>
                                            <p:strVal val="#ppt_y"/>
                                          </p:val>
                                        </p:tav>
                                      </p:tavLst>
                                    </p:anim>
                                    <p:animEffect transition="in" filter="fade">
                                      <p:cBhvr>
                                        <p:cTn id="21" dur="900"/>
                                        <p:tgtEl>
                                          <p:spTgt spid="8"/>
                                        </p:tgtEl>
                                      </p:cBhvr>
                                    </p:animEffect>
                                  </p:childTnLst>
                                </p:cTn>
                              </p:par>
                              <p:par>
                                <p:cTn id="26" presetID="2" presetClass="entr" presetSubtype="4" fill="hold" decel="100000" nodeType="withEffect">
                                  <p:stCondLst>
                                    <p:cond delay="550"/>
                                  </p:stCondLst>
                                  <p:childTnLst>
                                    <p:set>
                                      <p:cBhvr>
                                        <p:cTn id="27" dur="1" fill="hold">
                                          <p:stCondLst>
                                            <p:cond delay="0"/>
                                          </p:stCondLst>
                                        </p:cTn>
                                        <p:tgtEl>
                                          <p:spTgt spid="9"/>
                                        </p:tgtEl>
                                        <p:attrNameLst>
                                          <p:attrName>style.visibility</p:attrName>
                                        </p:attrNameLst>
                                      </p:cBhvr>
                                      <p:to>
                                        <p:strVal val="visible"/>
                                      </p:to>
                                    </p:set>
                                    <p:anim calcmode="lin" valueType="num">
                                      <p:cBhvr additive="base">
                                        <p:cTn id="24" dur="900" fill="hold"/>
                                        <p:tgtEl>
                                          <p:spTgt spid="9"/>
                                        </p:tgtEl>
                                        <p:attrNameLst>
                                          <p:attrName>ppt_y</p:attrName>
                                        </p:attrNameLst>
                                      </p:cBhvr>
                                      <p:tavLst>
                                        <p:tav tm="0">
                                          <p:val>
                                            <p:strVal val="#ppt_y+0.03"/>
                                          </p:val>
                                        </p:tav>
                                        <p:tav tm="100000">
                                          <p:val>
                                            <p:strVal val="#ppt_y"/>
                                          </p:val>
                                        </p:tav>
                                      </p:tavLst>
                                    </p:anim>
                                    <p:animEffect transition="in" filter="fade">
                                      <p:cBhvr>
                                        <p:cTn id="25" dur="900"/>
                                        <p:tgtEl>
                                          <p:spTgt spid="9"/>
                                        </p:tgtEl>
                                      </p:cBhvr>
                                    </p:animEffect>
                                  </p:childTnLst>
                                </p:cTn>
                              </p:par>
                              <p:par>
                                <p:cTn id="30" presetID="2" presetClass="entr" presetSubtype="4" fill="hold" decel="100000" nodeType="withEffect">
                                  <p:stCondLst>
                                    <p:cond delay="700"/>
                                  </p:stCondLst>
                                  <p:childTnLst>
                                    <p:set>
                                      <p:cBhvr>
                                        <p:cTn id="31" dur="1" fill="hold">
                                          <p:stCondLst>
                                            <p:cond delay="0"/>
                                          </p:stCondLst>
                                        </p:cTn>
                                        <p:tgtEl>
                                          <p:spTgt spid="10"/>
                                        </p:tgtEl>
                                        <p:attrNameLst>
                                          <p:attrName>style.visibility</p:attrName>
                                        </p:attrNameLst>
                                      </p:cBhvr>
                                      <p:to>
                                        <p:strVal val="visible"/>
                                      </p:to>
                                    </p:set>
                                    <p:anim calcmode="lin" valueType="num">
                                      <p:cBhvr additive="base">
                                        <p:cTn id="28" dur="900" fill="hold"/>
                                        <p:tgtEl>
                                          <p:spTgt spid="10"/>
                                        </p:tgtEl>
                                        <p:attrNameLst>
                                          <p:attrName>ppt_y</p:attrName>
                                        </p:attrNameLst>
                                      </p:cBhvr>
                                      <p:tavLst>
                                        <p:tav tm="0">
                                          <p:val>
                                            <p:strVal val="#ppt_y+0.03"/>
                                          </p:val>
                                        </p:tav>
                                        <p:tav tm="100000">
                                          <p:val>
                                            <p:strVal val="#ppt_y"/>
                                          </p:val>
                                        </p:tav>
                                      </p:tavLst>
                                    </p:anim>
                                    <p:animEffect transition="in" filter="fade">
                                      <p:cBhvr>
                                        <p:cTn id="29" dur="900"/>
                                        <p:tgtEl>
                                          <p:spTgt spid="10"/>
                                        </p:tgtEl>
                                      </p:cBhvr>
                                    </p:animEffect>
                                  </p:childTnLst>
                                </p:cTn>
                              </p:par>
                              <p:par>
                                <p:cTn id="34" presetID="2" presetClass="entr" presetSubtype="4" fill="hold" decel="100000" nodeType="withEffect">
                                  <p:stCondLst>
                                    <p:cond delay="850"/>
                                  </p:stCondLst>
                                  <p:childTnLst>
                                    <p:set>
                                      <p:cBhvr>
                                        <p:cTn id="35" dur="1" fill="hold">
                                          <p:stCondLst>
                                            <p:cond delay="0"/>
                                          </p:stCondLst>
                                        </p:cTn>
                                        <p:tgtEl>
                                          <p:spTgt spid="11"/>
                                        </p:tgtEl>
                                        <p:attrNameLst>
                                          <p:attrName>style.visibility</p:attrName>
                                        </p:attrNameLst>
                                      </p:cBhvr>
                                      <p:to>
                                        <p:strVal val="visible"/>
                                      </p:to>
                                    </p:set>
                                    <p:anim calcmode="lin" valueType="num">
                                      <p:cBhvr additive="base">
                                        <p:cTn id="32" dur="900" fill="hold"/>
                                        <p:tgtEl>
                                          <p:spTgt spid="11"/>
                                        </p:tgtEl>
                                        <p:attrNameLst>
                                          <p:attrName>ppt_y</p:attrName>
                                        </p:attrNameLst>
                                      </p:cBhvr>
                                      <p:tavLst>
                                        <p:tav tm="0">
                                          <p:val>
                                            <p:strVal val="#ppt_y+0.03"/>
                                          </p:val>
                                        </p:tav>
                                        <p:tav tm="100000">
                                          <p:val>
                                            <p:strVal val="#ppt_y"/>
                                          </p:val>
                                        </p:tav>
                                      </p:tavLst>
                                    </p:anim>
                                    <p:animEffect transition="in" filter="fade">
                                      <p:cBhvr>
                                        <p:cTn id="33" dur="9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ground" descr="Layer 4 · Decision Reserve slide background"/>
          <p:cNvPicPr>
            <a:picLocks noChangeAspect="1"/>
          </p:cNvPicPr>
          <p:nvPr/>
        </p:nvPicPr>
        <p:blipFill>
          <a:blip r:embed="rId2"/>
          <a:stretch>
            <a:fillRect/>
          </a:stretch>
        </p:blipFill>
        <p:spPr>
          <a:xfrm>
            <a:off x="0" y="0"/>
            <a:ext cx="12192000" cy="6858000"/>
          </a:xfrm>
          <a:prstGeom prst="rect">
            <a:avLst/>
          </a:prstGeom>
        </p:spPr>
      </p:pic>
      <p:pic>
        <p:nvPicPr>
          <p:cNvPr id="3" name="00 fade · Example scenario" descr="Example scenario"/>
          <p:cNvPicPr>
            <a:picLocks noChangeAspect="1"/>
          </p:cNvPicPr>
          <p:nvPr/>
        </p:nvPicPr>
        <p:blipFill>
          <a:blip r:embed="rId3"/>
          <a:stretch>
            <a:fillRect/>
          </a:stretch>
        </p:blipFill>
        <p:spPr>
          <a:xfrm>
            <a:off x="9620250" y="558800"/>
            <a:ext cx="1911350" cy="546100"/>
          </a:xfrm>
          <a:prstGeom prst="rect">
            <a:avLst/>
          </a:prstGeom>
        </p:spPr>
      </p:pic>
      <p:pic>
        <p:nvPicPr>
          <p:cNvPr id="4" name="01 fade · 11Layer 4 · Decision Reserve" descr="11Layer 4 · Decision Reserve"/>
          <p:cNvPicPr>
            <a:picLocks noChangeAspect="1"/>
          </p:cNvPicPr>
          <p:nvPr/>
        </p:nvPicPr>
        <p:blipFill>
          <a:blip r:embed="rId4"/>
          <a:stretch>
            <a:fillRect/>
          </a:stretch>
        </p:blipFill>
        <p:spPr>
          <a:xfrm>
            <a:off x="660400" y="609600"/>
            <a:ext cx="10871200" cy="444500"/>
          </a:xfrm>
          <a:prstGeom prst="rect">
            <a:avLst/>
          </a:prstGeom>
        </p:spPr>
      </p:pic>
      <p:pic>
        <p:nvPicPr>
          <p:cNvPr id="5" name="02 up · The window to act, and the mov" descr="The window to act, and the move to make."/>
          <p:cNvPicPr>
            <a:picLocks noChangeAspect="1"/>
          </p:cNvPicPr>
          <p:nvPr/>
        </p:nvPicPr>
        <p:blipFill>
          <a:blip r:embed="rId5"/>
          <a:stretch>
            <a:fillRect/>
          </a:stretch>
        </p:blipFill>
        <p:spPr>
          <a:xfrm>
            <a:off x="660400" y="977900"/>
            <a:ext cx="9829800" cy="838200"/>
          </a:xfrm>
          <a:prstGeom prst="rect">
            <a:avLst/>
          </a:prstGeom>
        </p:spPr>
      </p:pic>
      <p:pic>
        <p:nvPicPr>
          <p:cNvPr id="6" name="03 up · min( Ctransport + Cfood‑loss +" descr="min( Ctransport + Cfood‑loss + Cdelay )"/>
          <p:cNvPicPr>
            <a:picLocks noChangeAspect="1"/>
          </p:cNvPicPr>
          <p:nvPr/>
        </p:nvPicPr>
        <p:blipFill>
          <a:blip r:embed="rId6"/>
          <a:stretch>
            <a:fillRect/>
          </a:stretch>
        </p:blipFill>
        <p:spPr>
          <a:xfrm>
            <a:off x="660400" y="1860550"/>
            <a:ext cx="4876800" cy="1066800"/>
          </a:xfrm>
          <a:prstGeom prst="rect">
            <a:avLst/>
          </a:prstGeom>
        </p:spPr>
      </p:pic>
      <p:pic>
        <p:nvPicPr>
          <p:cNvPr id="7" name="04 fade · Subject to" descr="Subject to"/>
          <p:cNvPicPr>
            <a:picLocks noChangeAspect="1"/>
          </p:cNvPicPr>
          <p:nvPr/>
        </p:nvPicPr>
        <p:blipFill>
          <a:blip r:embed="rId7"/>
          <a:stretch>
            <a:fillRect/>
          </a:stretch>
        </p:blipFill>
        <p:spPr>
          <a:xfrm>
            <a:off x="660400" y="2832100"/>
            <a:ext cx="4876800" cy="438150"/>
          </a:xfrm>
          <a:prstGeom prst="rect">
            <a:avLst/>
          </a:prstGeom>
        </p:spPr>
      </p:pic>
      <p:pic>
        <p:nvPicPr>
          <p:cNvPr id="8" name="05 left · ETA ≤ remaining thermal reserv" descr="ETA ≤ remaining thermal reserve"/>
          <p:cNvPicPr>
            <a:picLocks noChangeAspect="1"/>
          </p:cNvPicPr>
          <p:nvPr/>
        </p:nvPicPr>
        <p:blipFill>
          <a:blip r:embed="rId8"/>
          <a:stretch>
            <a:fillRect/>
          </a:stretch>
        </p:blipFill>
        <p:spPr>
          <a:xfrm>
            <a:off x="660400" y="3086100"/>
            <a:ext cx="4876800" cy="762000"/>
          </a:xfrm>
          <a:prstGeom prst="rect">
            <a:avLst/>
          </a:prstGeom>
        </p:spPr>
      </p:pic>
      <p:pic>
        <p:nvPicPr>
          <p:cNvPr id="9" name="06 left · Quantity ≤ available capacity" descr="Quantity ≤ available capacity"/>
          <p:cNvPicPr>
            <a:picLocks noChangeAspect="1"/>
          </p:cNvPicPr>
          <p:nvPr/>
        </p:nvPicPr>
        <p:blipFill>
          <a:blip r:embed="rId9"/>
          <a:stretch>
            <a:fillRect/>
          </a:stretch>
        </p:blipFill>
        <p:spPr>
          <a:xfrm>
            <a:off x="660400" y="3536950"/>
            <a:ext cx="4876800" cy="762000"/>
          </a:xfrm>
          <a:prstGeom prst="rect">
            <a:avLst/>
          </a:prstGeom>
        </p:spPr>
      </p:pic>
      <p:pic>
        <p:nvPicPr>
          <p:cNvPr id="10" name="07 left · Storage temperature compatible" descr="Storage temperature compatible"/>
          <p:cNvPicPr>
            <a:picLocks noChangeAspect="1"/>
          </p:cNvPicPr>
          <p:nvPr/>
        </p:nvPicPr>
        <p:blipFill>
          <a:blip r:embed="rId10"/>
          <a:stretch>
            <a:fillRect/>
          </a:stretch>
        </p:blipFill>
        <p:spPr>
          <a:xfrm>
            <a:off x="660400" y="3987800"/>
            <a:ext cx="4876800" cy="762000"/>
          </a:xfrm>
          <a:prstGeom prst="rect">
            <a:avLst/>
          </a:prstGeom>
        </p:spPr>
      </p:pic>
      <p:pic>
        <p:nvPicPr>
          <p:cNvPr id="11" name="08 up · AI CorroboratesExplainsNever i" descr="AI CorroboratesExplainsNever invents a number"/>
          <p:cNvPicPr>
            <a:picLocks noChangeAspect="1"/>
          </p:cNvPicPr>
          <p:nvPr/>
        </p:nvPicPr>
        <p:blipFill>
          <a:blip r:embed="rId11"/>
          <a:stretch>
            <a:fillRect/>
          </a:stretch>
        </p:blipFill>
        <p:spPr>
          <a:xfrm>
            <a:off x="660400" y="4629150"/>
            <a:ext cx="4876800" cy="679450"/>
          </a:xfrm>
          <a:prstGeom prst="rect">
            <a:avLst/>
          </a:prstGeom>
        </p:spPr>
      </p:pic>
      <p:pic>
        <p:nvPicPr>
          <p:cNvPr id="12" name="09 up · Reefer Compressor failing Ther" descr="Reefer Compressor failing Thermal reserve 45 min"/>
          <p:cNvPicPr>
            <a:picLocks noChangeAspect="1"/>
          </p:cNvPicPr>
          <p:nvPr/>
        </p:nvPicPr>
        <p:blipFill>
          <a:blip r:embed="rId12"/>
          <a:stretch>
            <a:fillRect/>
          </a:stretch>
        </p:blipFill>
        <p:spPr>
          <a:xfrm>
            <a:off x="5689600" y="1860550"/>
            <a:ext cx="5842000" cy="793750"/>
          </a:xfrm>
          <a:prstGeom prst="rect">
            <a:avLst/>
          </a:prstGeom>
        </p:spPr>
      </p:pic>
      <p:pic>
        <p:nvPicPr>
          <p:cNvPr id="13" name="10 fade · DestinationETAFits 45 min" descr="DestinationETAFits 45 min"/>
          <p:cNvPicPr>
            <a:picLocks noChangeAspect="1"/>
          </p:cNvPicPr>
          <p:nvPr/>
        </p:nvPicPr>
        <p:blipFill>
          <a:blip r:embed="rId13"/>
          <a:stretch>
            <a:fillRect/>
          </a:stretch>
        </p:blipFill>
        <p:spPr>
          <a:xfrm>
            <a:off x="5689600" y="2508250"/>
            <a:ext cx="5842000" cy="527050"/>
          </a:xfrm>
          <a:prstGeom prst="rect">
            <a:avLst/>
          </a:prstGeom>
        </p:spPr>
      </p:pic>
      <p:pic>
        <p:nvPicPr>
          <p:cNvPr id="14" name="11 right · HypermarketPlanned route 90 mi" descr="HypermarketPlanned route 90 min✗ spoils"/>
          <p:cNvPicPr>
            <a:picLocks noChangeAspect="1"/>
          </p:cNvPicPr>
          <p:nvPr/>
        </p:nvPicPr>
        <p:blipFill>
          <a:blip r:embed="rId14"/>
          <a:stretch>
            <a:fillRect/>
          </a:stretch>
        </p:blipFill>
        <p:spPr>
          <a:xfrm>
            <a:off x="5689600" y="2724150"/>
            <a:ext cx="5842000" cy="1098550"/>
          </a:xfrm>
          <a:prstGeom prst="rect">
            <a:avLst/>
          </a:prstGeom>
        </p:spPr>
      </p:pic>
      <p:pic>
        <p:nvPicPr>
          <p:cNvPr id="15" name="12 fade · ✗ spoils" descr="✗ spoils"/>
          <p:cNvPicPr>
            <a:picLocks noChangeAspect="1"/>
          </p:cNvPicPr>
          <p:nvPr/>
        </p:nvPicPr>
        <p:blipFill>
          <a:blip r:embed="rId15"/>
          <a:stretch>
            <a:fillRect/>
          </a:stretch>
        </p:blipFill>
        <p:spPr>
          <a:xfrm>
            <a:off x="9969500" y="3048000"/>
            <a:ext cx="1390650" cy="450850"/>
          </a:xfrm>
          <a:prstGeom prst="rect">
            <a:avLst/>
          </a:prstGeom>
        </p:spPr>
      </p:pic>
      <p:pic>
        <p:nvPicPr>
          <p:cNvPr id="16" name="13 fade · ✓ fits" descr="✓ fits"/>
          <p:cNvPicPr>
            <a:picLocks noChangeAspect="1"/>
          </p:cNvPicPr>
          <p:nvPr/>
        </p:nvPicPr>
        <p:blipFill>
          <a:blip r:embed="rId16"/>
          <a:stretch>
            <a:fillRect/>
          </a:stretch>
        </p:blipFill>
        <p:spPr>
          <a:xfrm>
            <a:off x="9969500" y="3924300"/>
            <a:ext cx="1390650" cy="450850"/>
          </a:xfrm>
          <a:prstGeom prst="rect">
            <a:avLst/>
          </a:prstGeom>
        </p:spPr>
      </p:pic>
      <p:pic>
        <p:nvPicPr>
          <p:cNvPr id="17" name="14 up · OptimizedREROUTEDecision reser" descr="OptimizedREROUTEDecision reserve ≈ 25 min to commit. The optimizer picks; the AI only explains why."/>
          <p:cNvPicPr>
            <a:picLocks noChangeAspect="1"/>
          </p:cNvPicPr>
          <p:nvPr/>
        </p:nvPicPr>
        <p:blipFill>
          <a:blip r:embed="rId17"/>
          <a:stretch>
            <a:fillRect/>
          </a:stretch>
        </p:blipFill>
        <p:spPr>
          <a:xfrm>
            <a:off x="5689600" y="4616450"/>
            <a:ext cx="5842000" cy="1282700"/>
          </a:xfrm>
          <a:prstGeom prst="rect">
            <a:avLst/>
          </a:prstGeom>
        </p:spPr>
      </p:pic>
      <p:pic>
        <p:nvPicPr>
          <p:cNvPr id="18" name="15 right · Nearby buyerRe-routed 20 min✓ " descr="Nearby buyerRe-routed 20 min✓ fits"/>
          <p:cNvPicPr>
            <a:picLocks noChangeAspect="1"/>
          </p:cNvPicPr>
          <p:nvPr/>
        </p:nvPicPr>
        <p:blipFill>
          <a:blip r:embed="rId18"/>
          <a:stretch>
            <a:fillRect/>
          </a:stretch>
        </p:blipFill>
        <p:spPr>
          <a:xfrm>
            <a:off x="5689600" y="3600450"/>
            <a:ext cx="5842000" cy="109855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4" presetID="10" presetClass="entr" presetSubtype="0" fill="hold" decel="100000" nodeType="withEffect">
                                  <p:stCondLst>
                                    <p:cond delay="200"/>
                                  </p:stCondLst>
                                  <p:childTnLst>
                                    <p:set>
                                      <p:cBhvr>
                                        <p:cTn id="5" dur="1" fill="hold">
                                          <p:stCondLst>
                                            <p:cond delay="0"/>
                                          </p:stCondLst>
                                        </p:cTn>
                                        <p:tgtEl>
                                          <p:spTgt spid="3"/>
                                        </p:tgtEl>
                                        <p:attrNameLst>
                                          <p:attrName>style.visibility</p:attrName>
                                        </p:attrNameLst>
                                      </p:cBhvr>
                                      <p:to>
                                        <p:strVal val="visible"/>
                                      </p:to>
                                    </p:set>
                                    <p:animEffect transition="in" filter="fade">
                                      <p:cBhvr>
                                        <p:cTn id="3" dur="900"/>
                                        <p:tgtEl>
                                          <p:spTgt spid="3"/>
                                        </p:tgtEl>
                                      </p:cBhvr>
                                    </p:animEffect>
                                  </p:childTnLst>
                                </p:cTn>
                              </p:par>
                              <p:par>
                                <p:cTn id="7" presetID="10" presetClass="entr" presetSubtype="0" fill="hold" decel="100000" nodeType="withEffect">
                                  <p:stCondLst>
                                    <p:cond delay="0"/>
                                  </p:stCondLst>
                                  <p:childTnLst>
                                    <p:set>
                                      <p:cBhvr>
                                        <p:cTn id="8" dur="1" fill="hold">
                                          <p:stCondLst>
                                            <p:cond delay="0"/>
                                          </p:stCondLst>
                                        </p:cTn>
                                        <p:tgtEl>
                                          <p:spTgt spid="4"/>
                                        </p:tgtEl>
                                        <p:attrNameLst>
                                          <p:attrName>style.visibility</p:attrName>
                                        </p:attrNameLst>
                                      </p:cBhvr>
                                      <p:to>
                                        <p:strVal val="visible"/>
                                      </p:to>
                                    </p:set>
                                    <p:animEffect transition="in" filter="fade">
                                      <p:cBhvr>
                                        <p:cTn id="6" dur="900"/>
                                        <p:tgtEl>
                                          <p:spTgt spid="4"/>
                                        </p:tgtEl>
                                      </p:cBhvr>
                                    </p:animEffect>
                                  </p:childTnLst>
                                </p:cTn>
                              </p:par>
                              <p:par>
                                <p:cTn id="11" presetID="2" presetClass="entr" presetSubtype="4" fill="hold" decel="100000" nodeType="withEffect">
                                  <p:stCondLst>
                                    <p:cond delay="120"/>
                                  </p:stCondLst>
                                  <p:childTnLst>
                                    <p:set>
                                      <p:cBhvr>
                                        <p:cTn id="12" dur="1" fill="hold">
                                          <p:stCondLst>
                                            <p:cond delay="0"/>
                                          </p:stCondLst>
                                        </p:cTn>
                                        <p:tgtEl>
                                          <p:spTgt spid="5"/>
                                        </p:tgtEl>
                                        <p:attrNameLst>
                                          <p:attrName>style.visibility</p:attrName>
                                        </p:attrNameLst>
                                      </p:cBhvr>
                                      <p:to>
                                        <p:strVal val="visible"/>
                                      </p:to>
                                    </p:set>
                                    <p:anim calcmode="lin" valueType="num">
                                      <p:cBhvr additive="base">
                                        <p:cTn id="9" dur="900" fill="hold"/>
                                        <p:tgtEl>
                                          <p:spTgt spid="5"/>
                                        </p:tgtEl>
                                        <p:attrNameLst>
                                          <p:attrName>ppt_y</p:attrName>
                                        </p:attrNameLst>
                                      </p:cBhvr>
                                      <p:tavLst>
                                        <p:tav tm="0">
                                          <p:val>
                                            <p:strVal val="#ppt_y+0.03"/>
                                          </p:val>
                                        </p:tav>
                                        <p:tav tm="100000">
                                          <p:val>
                                            <p:strVal val="#ppt_y"/>
                                          </p:val>
                                        </p:tav>
                                      </p:tavLst>
                                    </p:anim>
                                    <p:animEffect transition="in" filter="fade">
                                      <p:cBhvr>
                                        <p:cTn id="10" dur="900"/>
                                        <p:tgtEl>
                                          <p:spTgt spid="5"/>
                                        </p:tgtEl>
                                      </p:cBhvr>
                                    </p:animEffect>
                                  </p:childTnLst>
                                </p:cTn>
                              </p:par>
                              <p:par>
                                <p:cTn id="15" presetID="2" presetClass="entr" presetSubtype="4" fill="hold" decel="100000" nodeType="withEffect">
                                  <p:stCondLst>
                                    <p:cond delay="320"/>
                                  </p:stCondLst>
                                  <p:childTnLst>
                                    <p:set>
                                      <p:cBhvr>
                                        <p:cTn id="16" dur="1" fill="hold">
                                          <p:stCondLst>
                                            <p:cond delay="0"/>
                                          </p:stCondLst>
                                        </p:cTn>
                                        <p:tgtEl>
                                          <p:spTgt spid="6"/>
                                        </p:tgtEl>
                                        <p:attrNameLst>
                                          <p:attrName>style.visibility</p:attrName>
                                        </p:attrNameLst>
                                      </p:cBhvr>
                                      <p:to>
                                        <p:strVal val="visible"/>
                                      </p:to>
                                    </p:set>
                                    <p:anim calcmode="lin" valueType="num">
                                      <p:cBhvr additive="base">
                                        <p:cTn id="13" dur="900" fill="hold"/>
                                        <p:tgtEl>
                                          <p:spTgt spid="6"/>
                                        </p:tgtEl>
                                        <p:attrNameLst>
                                          <p:attrName>ppt_y</p:attrName>
                                        </p:attrNameLst>
                                      </p:cBhvr>
                                      <p:tavLst>
                                        <p:tav tm="0">
                                          <p:val>
                                            <p:strVal val="#ppt_y+0.03"/>
                                          </p:val>
                                        </p:tav>
                                        <p:tav tm="100000">
                                          <p:val>
                                            <p:strVal val="#ppt_y"/>
                                          </p:val>
                                        </p:tav>
                                      </p:tavLst>
                                    </p:anim>
                                    <p:animEffect transition="in" filter="fade">
                                      <p:cBhvr>
                                        <p:cTn id="14" dur="900"/>
                                        <p:tgtEl>
                                          <p:spTgt spid="6"/>
                                        </p:tgtEl>
                                      </p:cBhvr>
                                    </p:animEffect>
                                  </p:childTnLst>
                                </p:cTn>
                              </p:par>
                              <p:par>
                                <p:cTn id="18" presetID="10" presetClass="entr" presetSubtype="0" fill="hold" decel="100000" nodeType="withEffect">
                                  <p:stCondLst>
                                    <p:cond delay="500"/>
                                  </p:stCondLst>
                                  <p:childTnLst>
                                    <p:set>
                                      <p:cBhvr>
                                        <p:cTn id="19" dur="1" fill="hold">
                                          <p:stCondLst>
                                            <p:cond delay="0"/>
                                          </p:stCondLst>
                                        </p:cTn>
                                        <p:tgtEl>
                                          <p:spTgt spid="7"/>
                                        </p:tgtEl>
                                        <p:attrNameLst>
                                          <p:attrName>style.visibility</p:attrName>
                                        </p:attrNameLst>
                                      </p:cBhvr>
                                      <p:to>
                                        <p:strVal val="visible"/>
                                      </p:to>
                                    </p:set>
                                    <p:animEffect transition="in" filter="fade">
                                      <p:cBhvr>
                                        <p:cTn id="17" dur="900"/>
                                        <p:tgtEl>
                                          <p:spTgt spid="7"/>
                                        </p:tgtEl>
                                      </p:cBhvr>
                                    </p:animEffect>
                                  </p:childTnLst>
                                </p:cTn>
                              </p:par>
                              <p:par>
                                <p:cTn id="22" presetID="2" presetClass="entr" presetSubtype="8" fill="hold" decel="100000" nodeType="withEffect">
                                  <p:stCondLst>
                                    <p:cond delay="600"/>
                                  </p:stCondLst>
                                  <p:childTnLst>
                                    <p:set>
                                      <p:cBhvr>
                                        <p:cTn id="23" dur="1" fill="hold">
                                          <p:stCondLst>
                                            <p:cond delay="0"/>
                                          </p:stCondLst>
                                        </p:cTn>
                                        <p:tgtEl>
                                          <p:spTgt spid="8"/>
                                        </p:tgtEl>
                                        <p:attrNameLst>
                                          <p:attrName>style.visibility</p:attrName>
                                        </p:attrNameLst>
                                      </p:cBhvr>
                                      <p:to>
                                        <p:strVal val="visible"/>
                                      </p:to>
                                    </p:set>
                                    <p:anim calcmode="lin" valueType="num">
                                      <p:cBhvr additive="base">
                                        <p:cTn id="20" dur="900" fill="hold"/>
                                        <p:tgtEl>
                                          <p:spTgt spid="8"/>
                                        </p:tgtEl>
                                        <p:attrNameLst>
                                          <p:attrName>ppt_x</p:attrName>
                                        </p:attrNameLst>
                                      </p:cBhvr>
                                      <p:tavLst>
                                        <p:tav tm="0">
                                          <p:val>
                                            <p:strVal val="#ppt_x-0.025"/>
                                          </p:val>
                                        </p:tav>
                                        <p:tav tm="100000">
                                          <p:val>
                                            <p:strVal val="#ppt_x"/>
                                          </p:val>
                                        </p:tav>
                                      </p:tavLst>
                                    </p:anim>
                                    <p:animEffect transition="in" filter="fade">
                                      <p:cBhvr>
                                        <p:cTn id="21" dur="900"/>
                                        <p:tgtEl>
                                          <p:spTgt spid="8"/>
                                        </p:tgtEl>
                                      </p:cBhvr>
                                    </p:animEffect>
                                  </p:childTnLst>
                                </p:cTn>
                              </p:par>
                              <p:par>
                                <p:cTn id="26" presetID="2" presetClass="entr" presetSubtype="8" fill="hold" decel="100000" nodeType="withEffect">
                                  <p:stCondLst>
                                    <p:cond delay="720"/>
                                  </p:stCondLst>
                                  <p:childTnLst>
                                    <p:set>
                                      <p:cBhvr>
                                        <p:cTn id="27" dur="1" fill="hold">
                                          <p:stCondLst>
                                            <p:cond delay="0"/>
                                          </p:stCondLst>
                                        </p:cTn>
                                        <p:tgtEl>
                                          <p:spTgt spid="9"/>
                                        </p:tgtEl>
                                        <p:attrNameLst>
                                          <p:attrName>style.visibility</p:attrName>
                                        </p:attrNameLst>
                                      </p:cBhvr>
                                      <p:to>
                                        <p:strVal val="visible"/>
                                      </p:to>
                                    </p:set>
                                    <p:anim calcmode="lin" valueType="num">
                                      <p:cBhvr additive="base">
                                        <p:cTn id="24" dur="900" fill="hold"/>
                                        <p:tgtEl>
                                          <p:spTgt spid="9"/>
                                        </p:tgtEl>
                                        <p:attrNameLst>
                                          <p:attrName>ppt_x</p:attrName>
                                        </p:attrNameLst>
                                      </p:cBhvr>
                                      <p:tavLst>
                                        <p:tav tm="0">
                                          <p:val>
                                            <p:strVal val="#ppt_x-0.025"/>
                                          </p:val>
                                        </p:tav>
                                        <p:tav tm="100000">
                                          <p:val>
                                            <p:strVal val="#ppt_x"/>
                                          </p:val>
                                        </p:tav>
                                      </p:tavLst>
                                    </p:anim>
                                    <p:animEffect transition="in" filter="fade">
                                      <p:cBhvr>
                                        <p:cTn id="25" dur="900"/>
                                        <p:tgtEl>
                                          <p:spTgt spid="9"/>
                                        </p:tgtEl>
                                      </p:cBhvr>
                                    </p:animEffect>
                                  </p:childTnLst>
                                </p:cTn>
                              </p:par>
                              <p:par>
                                <p:cTn id="30" presetID="2" presetClass="entr" presetSubtype="8" fill="hold" decel="100000" nodeType="withEffect">
                                  <p:stCondLst>
                                    <p:cond delay="840"/>
                                  </p:stCondLst>
                                  <p:childTnLst>
                                    <p:set>
                                      <p:cBhvr>
                                        <p:cTn id="31" dur="1" fill="hold">
                                          <p:stCondLst>
                                            <p:cond delay="0"/>
                                          </p:stCondLst>
                                        </p:cTn>
                                        <p:tgtEl>
                                          <p:spTgt spid="10"/>
                                        </p:tgtEl>
                                        <p:attrNameLst>
                                          <p:attrName>style.visibility</p:attrName>
                                        </p:attrNameLst>
                                      </p:cBhvr>
                                      <p:to>
                                        <p:strVal val="visible"/>
                                      </p:to>
                                    </p:set>
                                    <p:anim calcmode="lin" valueType="num">
                                      <p:cBhvr additive="base">
                                        <p:cTn id="28" dur="900" fill="hold"/>
                                        <p:tgtEl>
                                          <p:spTgt spid="10"/>
                                        </p:tgtEl>
                                        <p:attrNameLst>
                                          <p:attrName>ppt_x</p:attrName>
                                        </p:attrNameLst>
                                      </p:cBhvr>
                                      <p:tavLst>
                                        <p:tav tm="0">
                                          <p:val>
                                            <p:strVal val="#ppt_x-0.025"/>
                                          </p:val>
                                        </p:tav>
                                        <p:tav tm="100000">
                                          <p:val>
                                            <p:strVal val="#ppt_x"/>
                                          </p:val>
                                        </p:tav>
                                      </p:tavLst>
                                    </p:anim>
                                    <p:animEffect transition="in" filter="fade">
                                      <p:cBhvr>
                                        <p:cTn id="29" dur="900"/>
                                        <p:tgtEl>
                                          <p:spTgt spid="10"/>
                                        </p:tgtEl>
                                      </p:cBhvr>
                                    </p:animEffect>
                                  </p:childTnLst>
                                </p:cTn>
                              </p:par>
                              <p:par>
                                <p:cTn id="34" presetID="2" presetClass="entr" presetSubtype="4" fill="hold" decel="100000" nodeType="withEffect">
                                  <p:stCondLst>
                                    <p:cond delay="1000"/>
                                  </p:stCondLst>
                                  <p:childTnLst>
                                    <p:set>
                                      <p:cBhvr>
                                        <p:cTn id="35" dur="1" fill="hold">
                                          <p:stCondLst>
                                            <p:cond delay="0"/>
                                          </p:stCondLst>
                                        </p:cTn>
                                        <p:tgtEl>
                                          <p:spTgt spid="11"/>
                                        </p:tgtEl>
                                        <p:attrNameLst>
                                          <p:attrName>style.visibility</p:attrName>
                                        </p:attrNameLst>
                                      </p:cBhvr>
                                      <p:to>
                                        <p:strVal val="visible"/>
                                      </p:to>
                                    </p:set>
                                    <p:anim calcmode="lin" valueType="num">
                                      <p:cBhvr additive="base">
                                        <p:cTn id="32" dur="900" fill="hold"/>
                                        <p:tgtEl>
                                          <p:spTgt spid="11"/>
                                        </p:tgtEl>
                                        <p:attrNameLst>
                                          <p:attrName>ppt_y</p:attrName>
                                        </p:attrNameLst>
                                      </p:cBhvr>
                                      <p:tavLst>
                                        <p:tav tm="0">
                                          <p:val>
                                            <p:strVal val="#ppt_y+0.03"/>
                                          </p:val>
                                        </p:tav>
                                        <p:tav tm="100000">
                                          <p:val>
                                            <p:strVal val="#ppt_y"/>
                                          </p:val>
                                        </p:tav>
                                      </p:tavLst>
                                    </p:anim>
                                    <p:animEffect transition="in" filter="fade">
                                      <p:cBhvr>
                                        <p:cTn id="33" dur="900"/>
                                        <p:tgtEl>
                                          <p:spTgt spid="11"/>
                                        </p:tgtEl>
                                      </p:cBhvr>
                                    </p:animEffect>
                                  </p:childTnLst>
                                </p:cTn>
                              </p:par>
                              <p:par>
                                <p:cTn id="38" presetID="2" presetClass="entr" presetSubtype="4" fill="hold" decel="100000" nodeType="withEffect">
                                  <p:stCondLst>
                                    <p:cond delay="400"/>
                                  </p:stCondLst>
                                  <p:childTnLst>
                                    <p:set>
                                      <p:cBhvr>
                                        <p:cTn id="39" dur="1" fill="hold">
                                          <p:stCondLst>
                                            <p:cond delay="0"/>
                                          </p:stCondLst>
                                        </p:cTn>
                                        <p:tgtEl>
                                          <p:spTgt spid="12"/>
                                        </p:tgtEl>
                                        <p:attrNameLst>
                                          <p:attrName>style.visibility</p:attrName>
                                        </p:attrNameLst>
                                      </p:cBhvr>
                                      <p:to>
                                        <p:strVal val="visible"/>
                                      </p:to>
                                    </p:set>
                                    <p:anim calcmode="lin" valueType="num">
                                      <p:cBhvr additive="base">
                                        <p:cTn id="36" dur="900" fill="hold"/>
                                        <p:tgtEl>
                                          <p:spTgt spid="12"/>
                                        </p:tgtEl>
                                        <p:attrNameLst>
                                          <p:attrName>ppt_y</p:attrName>
                                        </p:attrNameLst>
                                      </p:cBhvr>
                                      <p:tavLst>
                                        <p:tav tm="0">
                                          <p:val>
                                            <p:strVal val="#ppt_y+0.03"/>
                                          </p:val>
                                        </p:tav>
                                        <p:tav tm="100000">
                                          <p:val>
                                            <p:strVal val="#ppt_y"/>
                                          </p:val>
                                        </p:tav>
                                      </p:tavLst>
                                    </p:anim>
                                    <p:animEffect transition="in" filter="fade">
                                      <p:cBhvr>
                                        <p:cTn id="37" dur="900"/>
                                        <p:tgtEl>
                                          <p:spTgt spid="12"/>
                                        </p:tgtEl>
                                      </p:cBhvr>
                                    </p:animEffect>
                                  </p:childTnLst>
                                </p:cTn>
                              </p:par>
                              <p:par>
                                <p:cTn id="41" presetID="10" presetClass="entr" presetSubtype="0" fill="hold" decel="100000" nodeType="withEffect">
                                  <p:stCondLst>
                                    <p:cond delay="500"/>
                                  </p:stCondLst>
                                  <p:childTnLst>
                                    <p:set>
                                      <p:cBhvr>
                                        <p:cTn id="42" dur="1" fill="hold">
                                          <p:stCondLst>
                                            <p:cond delay="0"/>
                                          </p:stCondLst>
                                        </p:cTn>
                                        <p:tgtEl>
                                          <p:spTgt spid="13"/>
                                        </p:tgtEl>
                                        <p:attrNameLst>
                                          <p:attrName>style.visibility</p:attrName>
                                        </p:attrNameLst>
                                      </p:cBhvr>
                                      <p:to>
                                        <p:strVal val="visible"/>
                                      </p:to>
                                    </p:set>
                                    <p:animEffect transition="in" filter="fade">
                                      <p:cBhvr>
                                        <p:cTn id="40" dur="900"/>
                                        <p:tgtEl>
                                          <p:spTgt spid="13"/>
                                        </p:tgtEl>
                                      </p:cBhvr>
                                    </p:animEffect>
                                  </p:childTnLst>
                                </p:cTn>
                              </p:par>
                              <p:par>
                                <p:cTn id="45" presetID="2" presetClass="entr" presetSubtype="2" fill="hold" decel="100000" nodeType="withEffect">
                                  <p:stCondLst>
                                    <p:cond delay="700"/>
                                  </p:stCondLst>
                                  <p:childTnLst>
                                    <p:set>
                                      <p:cBhvr>
                                        <p:cTn id="46" dur="1" fill="hold">
                                          <p:stCondLst>
                                            <p:cond delay="0"/>
                                          </p:stCondLst>
                                        </p:cTn>
                                        <p:tgtEl>
                                          <p:spTgt spid="14"/>
                                        </p:tgtEl>
                                        <p:attrNameLst>
                                          <p:attrName>style.visibility</p:attrName>
                                        </p:attrNameLst>
                                      </p:cBhvr>
                                      <p:to>
                                        <p:strVal val="visible"/>
                                      </p:to>
                                    </p:set>
                                    <p:anim calcmode="lin" valueType="num">
                                      <p:cBhvr additive="base">
                                        <p:cTn id="43" dur="900" fill="hold"/>
                                        <p:tgtEl>
                                          <p:spTgt spid="14"/>
                                        </p:tgtEl>
                                        <p:attrNameLst>
                                          <p:attrName>ppt_x</p:attrName>
                                        </p:attrNameLst>
                                      </p:cBhvr>
                                      <p:tavLst>
                                        <p:tav tm="0">
                                          <p:val>
                                            <p:strVal val="#ppt_x+0.025"/>
                                          </p:val>
                                        </p:tav>
                                        <p:tav tm="100000">
                                          <p:val>
                                            <p:strVal val="#ppt_x"/>
                                          </p:val>
                                        </p:tav>
                                      </p:tavLst>
                                    </p:anim>
                                    <p:animEffect transition="in" filter="fade">
                                      <p:cBhvr>
                                        <p:cTn id="44" dur="900"/>
                                        <p:tgtEl>
                                          <p:spTgt spid="14"/>
                                        </p:tgtEl>
                                      </p:cBhvr>
                                    </p:animEffect>
                                  </p:childTnLst>
                                </p:cTn>
                              </p:par>
                              <p:par>
                                <p:cTn id="48" presetID="10" presetClass="entr" presetSubtype="0" fill="hold" decel="100000" nodeType="withEffect">
                                  <p:stCondLst>
                                    <p:cond delay="1300"/>
                                  </p:stCondLst>
                                  <p:childTnLst>
                                    <p:set>
                                      <p:cBhvr>
                                        <p:cTn id="49" dur="1" fill="hold">
                                          <p:stCondLst>
                                            <p:cond delay="0"/>
                                          </p:stCondLst>
                                        </p:cTn>
                                        <p:tgtEl>
                                          <p:spTgt spid="15"/>
                                        </p:tgtEl>
                                        <p:attrNameLst>
                                          <p:attrName>style.visibility</p:attrName>
                                        </p:attrNameLst>
                                      </p:cBhvr>
                                      <p:to>
                                        <p:strVal val="visible"/>
                                      </p:to>
                                    </p:set>
                                    <p:animEffect transition="in" filter="fade">
                                      <p:cBhvr>
                                        <p:cTn id="47" dur="900"/>
                                        <p:tgtEl>
                                          <p:spTgt spid="15"/>
                                        </p:tgtEl>
                                      </p:cBhvr>
                                    </p:animEffect>
                                  </p:childTnLst>
                                </p:cTn>
                              </p:par>
                              <p:par>
                                <p:cTn id="51" presetID="10" presetClass="entr" presetSubtype="0" fill="hold" decel="100000" nodeType="withEffect">
                                  <p:stCondLst>
                                    <p:cond delay="1500"/>
                                  </p:stCondLst>
                                  <p:childTnLst>
                                    <p:set>
                                      <p:cBhvr>
                                        <p:cTn id="52" dur="1" fill="hold">
                                          <p:stCondLst>
                                            <p:cond delay="0"/>
                                          </p:stCondLst>
                                        </p:cTn>
                                        <p:tgtEl>
                                          <p:spTgt spid="16"/>
                                        </p:tgtEl>
                                        <p:attrNameLst>
                                          <p:attrName>style.visibility</p:attrName>
                                        </p:attrNameLst>
                                      </p:cBhvr>
                                      <p:to>
                                        <p:strVal val="visible"/>
                                      </p:to>
                                    </p:set>
                                    <p:animEffect transition="in" filter="fade">
                                      <p:cBhvr>
                                        <p:cTn id="50" dur="900"/>
                                        <p:tgtEl>
                                          <p:spTgt spid="16"/>
                                        </p:tgtEl>
                                      </p:cBhvr>
                                    </p:animEffect>
                                  </p:childTnLst>
                                </p:cTn>
                              </p:par>
                              <p:par>
                                <p:cTn id="55" presetID="2" presetClass="entr" presetSubtype="4" fill="hold" decel="100000" nodeType="withEffect">
                                  <p:stCondLst>
                                    <p:cond delay="2400"/>
                                  </p:stCondLst>
                                  <p:childTnLst>
                                    <p:set>
                                      <p:cBhvr>
                                        <p:cTn id="56" dur="1" fill="hold">
                                          <p:stCondLst>
                                            <p:cond delay="0"/>
                                          </p:stCondLst>
                                        </p:cTn>
                                        <p:tgtEl>
                                          <p:spTgt spid="17"/>
                                        </p:tgtEl>
                                        <p:attrNameLst>
                                          <p:attrName>style.visibility</p:attrName>
                                        </p:attrNameLst>
                                      </p:cBhvr>
                                      <p:to>
                                        <p:strVal val="visible"/>
                                      </p:to>
                                    </p:set>
                                    <p:anim calcmode="lin" valueType="num">
                                      <p:cBhvr additive="base">
                                        <p:cTn id="53" dur="900" fill="hold"/>
                                        <p:tgtEl>
                                          <p:spTgt spid="17"/>
                                        </p:tgtEl>
                                        <p:attrNameLst>
                                          <p:attrName>ppt_y</p:attrName>
                                        </p:attrNameLst>
                                      </p:cBhvr>
                                      <p:tavLst>
                                        <p:tav tm="0">
                                          <p:val>
                                            <p:strVal val="#ppt_y+0.03"/>
                                          </p:val>
                                        </p:tav>
                                        <p:tav tm="100000">
                                          <p:val>
                                            <p:strVal val="#ppt_y"/>
                                          </p:val>
                                        </p:tav>
                                      </p:tavLst>
                                    </p:anim>
                                    <p:animEffect transition="in" filter="fade">
                                      <p:cBhvr>
                                        <p:cTn id="54" dur="900"/>
                                        <p:tgtEl>
                                          <p:spTgt spid="17"/>
                                        </p:tgtEl>
                                      </p:cBhvr>
                                    </p:animEffect>
                                  </p:childTnLst>
                                </p:cTn>
                              </p:par>
                              <p:par>
                                <p:cTn id="59" presetID="2" presetClass="entr" presetSubtype="2" fill="hold" decel="100000" nodeType="withEffect">
                                  <p:stCondLst>
                                    <p:cond delay="700"/>
                                  </p:stCondLst>
                                  <p:childTnLst>
                                    <p:set>
                                      <p:cBhvr>
                                        <p:cTn id="60" dur="1" fill="hold">
                                          <p:stCondLst>
                                            <p:cond delay="0"/>
                                          </p:stCondLst>
                                        </p:cTn>
                                        <p:tgtEl>
                                          <p:spTgt spid="18"/>
                                        </p:tgtEl>
                                        <p:attrNameLst>
                                          <p:attrName>style.visibility</p:attrName>
                                        </p:attrNameLst>
                                      </p:cBhvr>
                                      <p:to>
                                        <p:strVal val="visible"/>
                                      </p:to>
                                    </p:set>
                                    <p:anim calcmode="lin" valueType="num">
                                      <p:cBhvr additive="base">
                                        <p:cTn id="57" dur="900" fill="hold"/>
                                        <p:tgtEl>
                                          <p:spTgt spid="18"/>
                                        </p:tgtEl>
                                        <p:attrNameLst>
                                          <p:attrName>ppt_x</p:attrName>
                                        </p:attrNameLst>
                                      </p:cBhvr>
                                      <p:tavLst>
                                        <p:tav tm="0">
                                          <p:val>
                                            <p:strVal val="#ppt_x+0.025"/>
                                          </p:val>
                                        </p:tav>
                                        <p:tav tm="100000">
                                          <p:val>
                                            <p:strVal val="#ppt_x"/>
                                          </p:val>
                                        </p:tav>
                                      </p:tavLst>
                                    </p:anim>
                                    <p:animEffect transition="in" filter="fade">
                                      <p:cBhvr>
                                        <p:cTn id="58" dur="90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ground" descr="AI where it earns its place slide background"/>
          <p:cNvPicPr>
            <a:picLocks noChangeAspect="1"/>
          </p:cNvPicPr>
          <p:nvPr/>
        </p:nvPicPr>
        <p:blipFill>
          <a:blip r:embed="rId2"/>
          <a:stretch>
            <a:fillRect/>
          </a:stretch>
        </p:blipFill>
        <p:spPr>
          <a:xfrm>
            <a:off x="0" y="0"/>
            <a:ext cx="12192000" cy="6858000"/>
          </a:xfrm>
          <a:prstGeom prst="rect">
            <a:avLst/>
          </a:prstGeom>
        </p:spPr>
      </p:pic>
      <p:pic>
        <p:nvPicPr>
          <p:cNvPr id="3" name="00 fade · 12AI where it earns its place" descr="12AI where it earns its place"/>
          <p:cNvPicPr>
            <a:picLocks noChangeAspect="1"/>
          </p:cNvPicPr>
          <p:nvPr/>
        </p:nvPicPr>
        <p:blipFill>
          <a:blip r:embed="rId3"/>
          <a:stretch>
            <a:fillRect/>
          </a:stretch>
        </p:blipFill>
        <p:spPr>
          <a:xfrm>
            <a:off x="660400" y="609600"/>
            <a:ext cx="10871200" cy="444500"/>
          </a:xfrm>
          <a:prstGeom prst="rect">
            <a:avLst/>
          </a:prstGeom>
        </p:spPr>
      </p:pic>
      <p:pic>
        <p:nvPicPr>
          <p:cNvPr id="4" name="01 up · Two AI layers. Neither may inv" descr="Two AI layers. Neither may invent a number."/>
          <p:cNvPicPr>
            <a:picLocks noChangeAspect="1"/>
          </p:cNvPicPr>
          <p:nvPr/>
        </p:nvPicPr>
        <p:blipFill>
          <a:blip r:embed="rId4"/>
          <a:stretch>
            <a:fillRect/>
          </a:stretch>
        </p:blipFill>
        <p:spPr>
          <a:xfrm>
            <a:off x="660400" y="977900"/>
            <a:ext cx="9829800" cy="730250"/>
          </a:xfrm>
          <a:prstGeom prst="rect">
            <a:avLst/>
          </a:prstGeom>
        </p:spPr>
      </p:pic>
      <p:pic>
        <p:nvPicPr>
          <p:cNvPr id="5" name="02 up · System 1 · local · offlinePred" descr="System 1 · local · offlinePredicted Laya Answers typed questions in a single pass: condition, recommended action, urgency, needs human review. Open source (Apache-2.0), runs on the laptop. Base model:"/>
          <p:cNvPicPr>
            <a:picLocks noChangeAspect="1"/>
          </p:cNvPicPr>
          <p:nvPr/>
        </p:nvPicPr>
        <p:blipFill>
          <a:blip r:embed="rId5"/>
          <a:stretch>
            <a:fillRect/>
          </a:stretch>
        </p:blipFill>
        <p:spPr>
          <a:xfrm>
            <a:off x="660400" y="1752600"/>
            <a:ext cx="5473700" cy="3524250"/>
          </a:xfrm>
          <a:prstGeom prst="rect">
            <a:avLst/>
          </a:prstGeom>
        </p:spPr>
      </p:pic>
      <p:pic>
        <p:nvPicPr>
          <p:cNvPr id="6" name="03 up · System 2 · cloud · OpenRouterA" descr="System 2 · cloud · OpenRouterAI-explained DeepSeek V4.1 Flash Turns the calculated facts into plain language for the operator. May rank only feasible options, and move the spoilage estimate only withi"/>
          <p:cNvPicPr>
            <a:picLocks noChangeAspect="1"/>
          </p:cNvPicPr>
          <p:nvPr/>
        </p:nvPicPr>
        <p:blipFill>
          <a:blip r:embed="rId6"/>
          <a:stretch>
            <a:fillRect/>
          </a:stretch>
        </p:blipFill>
        <p:spPr>
          <a:xfrm>
            <a:off x="6057900" y="1752600"/>
            <a:ext cx="5473700" cy="3524250"/>
          </a:xfrm>
          <a:prstGeom prst="rect">
            <a:avLst/>
          </a:prstGeom>
        </p:spPr>
      </p:pic>
      <p:pic>
        <p:nvPicPr>
          <p:cNvPr id="7" name="04 up · Plain code, not AI Spoilage pr" descr="Plain code, not AI Spoilage priorAnomaly detectionDemand baseline"/>
          <p:cNvPicPr>
            <a:picLocks noChangeAspect="1"/>
          </p:cNvPicPr>
          <p:nvPr/>
        </p:nvPicPr>
        <p:blipFill>
          <a:blip r:embed="rId7"/>
          <a:stretch>
            <a:fillRect/>
          </a:stretch>
        </p:blipFill>
        <p:spPr>
          <a:xfrm>
            <a:off x="660400" y="5194300"/>
            <a:ext cx="10871200" cy="67945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4" presetID="10" presetClass="entr" presetSubtype="0" fill="hold" decel="10000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3" dur="900"/>
                                        <p:tgtEl>
                                          <p:spTgt spid="3"/>
                                        </p:tgtEl>
                                      </p:cBhvr>
                                    </p:animEffect>
                                  </p:childTnLst>
                                </p:cTn>
                              </p:par>
                              <p:par>
                                <p:cTn id="8" presetID="2" presetClass="entr" presetSubtype="4" fill="hold" decel="100000" nodeType="withEffect">
                                  <p:stCondLst>
                                    <p:cond delay="120"/>
                                  </p:stCondLst>
                                  <p:childTnLst>
                                    <p:set>
                                      <p:cBhvr>
                                        <p:cTn id="9" dur="1" fill="hold">
                                          <p:stCondLst>
                                            <p:cond delay="0"/>
                                          </p:stCondLst>
                                        </p:cTn>
                                        <p:tgtEl>
                                          <p:spTgt spid="4"/>
                                        </p:tgtEl>
                                        <p:attrNameLst>
                                          <p:attrName>style.visibility</p:attrName>
                                        </p:attrNameLst>
                                      </p:cBhvr>
                                      <p:to>
                                        <p:strVal val="visible"/>
                                      </p:to>
                                    </p:set>
                                    <p:anim calcmode="lin" valueType="num">
                                      <p:cBhvr additive="base">
                                        <p:cTn id="6" dur="900" fill="hold"/>
                                        <p:tgtEl>
                                          <p:spTgt spid="4"/>
                                        </p:tgtEl>
                                        <p:attrNameLst>
                                          <p:attrName>ppt_y</p:attrName>
                                        </p:attrNameLst>
                                      </p:cBhvr>
                                      <p:tavLst>
                                        <p:tav tm="0">
                                          <p:val>
                                            <p:strVal val="#ppt_y+0.03"/>
                                          </p:val>
                                        </p:tav>
                                        <p:tav tm="100000">
                                          <p:val>
                                            <p:strVal val="#ppt_y"/>
                                          </p:val>
                                        </p:tav>
                                      </p:tavLst>
                                    </p:anim>
                                    <p:animEffect transition="in" filter="fade">
                                      <p:cBhvr>
                                        <p:cTn id="7" dur="900"/>
                                        <p:tgtEl>
                                          <p:spTgt spid="4"/>
                                        </p:tgtEl>
                                      </p:cBhvr>
                                    </p:animEffect>
                                  </p:childTnLst>
                                </p:cTn>
                              </p:par>
                              <p:par>
                                <p:cTn id="12" presetID="2" presetClass="entr" presetSubtype="4" fill="hold" decel="100000" nodeType="withEffect">
                                  <p:stCondLst>
                                    <p:cond delay="320"/>
                                  </p:stCondLst>
                                  <p:childTnLst>
                                    <p:set>
                                      <p:cBhvr>
                                        <p:cTn id="13" dur="1" fill="hold">
                                          <p:stCondLst>
                                            <p:cond delay="0"/>
                                          </p:stCondLst>
                                        </p:cTn>
                                        <p:tgtEl>
                                          <p:spTgt spid="5"/>
                                        </p:tgtEl>
                                        <p:attrNameLst>
                                          <p:attrName>style.visibility</p:attrName>
                                        </p:attrNameLst>
                                      </p:cBhvr>
                                      <p:to>
                                        <p:strVal val="visible"/>
                                      </p:to>
                                    </p:set>
                                    <p:anim calcmode="lin" valueType="num">
                                      <p:cBhvr additive="base">
                                        <p:cTn id="10" dur="900" fill="hold"/>
                                        <p:tgtEl>
                                          <p:spTgt spid="5"/>
                                        </p:tgtEl>
                                        <p:attrNameLst>
                                          <p:attrName>ppt_y</p:attrName>
                                        </p:attrNameLst>
                                      </p:cBhvr>
                                      <p:tavLst>
                                        <p:tav tm="0">
                                          <p:val>
                                            <p:strVal val="#ppt_y+0.03"/>
                                          </p:val>
                                        </p:tav>
                                        <p:tav tm="100000">
                                          <p:val>
                                            <p:strVal val="#ppt_y"/>
                                          </p:val>
                                        </p:tav>
                                      </p:tavLst>
                                    </p:anim>
                                    <p:animEffect transition="in" filter="fade">
                                      <p:cBhvr>
                                        <p:cTn id="11" dur="900"/>
                                        <p:tgtEl>
                                          <p:spTgt spid="5"/>
                                        </p:tgtEl>
                                      </p:cBhvr>
                                    </p:animEffect>
                                  </p:childTnLst>
                                </p:cTn>
                              </p:par>
                              <p:par>
                                <p:cTn id="16" presetID="2" presetClass="entr" presetSubtype="4" fill="hold" decel="100000" nodeType="withEffect">
                                  <p:stCondLst>
                                    <p:cond delay="480"/>
                                  </p:stCondLst>
                                  <p:childTnLst>
                                    <p:set>
                                      <p:cBhvr>
                                        <p:cTn id="17" dur="1" fill="hold">
                                          <p:stCondLst>
                                            <p:cond delay="0"/>
                                          </p:stCondLst>
                                        </p:cTn>
                                        <p:tgtEl>
                                          <p:spTgt spid="6"/>
                                        </p:tgtEl>
                                        <p:attrNameLst>
                                          <p:attrName>style.visibility</p:attrName>
                                        </p:attrNameLst>
                                      </p:cBhvr>
                                      <p:to>
                                        <p:strVal val="visible"/>
                                      </p:to>
                                    </p:set>
                                    <p:anim calcmode="lin" valueType="num">
                                      <p:cBhvr additive="base">
                                        <p:cTn id="14" dur="900" fill="hold"/>
                                        <p:tgtEl>
                                          <p:spTgt spid="6"/>
                                        </p:tgtEl>
                                        <p:attrNameLst>
                                          <p:attrName>ppt_y</p:attrName>
                                        </p:attrNameLst>
                                      </p:cBhvr>
                                      <p:tavLst>
                                        <p:tav tm="0">
                                          <p:val>
                                            <p:strVal val="#ppt_y+0.03"/>
                                          </p:val>
                                        </p:tav>
                                        <p:tav tm="100000">
                                          <p:val>
                                            <p:strVal val="#ppt_y"/>
                                          </p:val>
                                        </p:tav>
                                      </p:tavLst>
                                    </p:anim>
                                    <p:animEffect transition="in" filter="fade">
                                      <p:cBhvr>
                                        <p:cTn id="15" dur="900"/>
                                        <p:tgtEl>
                                          <p:spTgt spid="6"/>
                                        </p:tgtEl>
                                      </p:cBhvr>
                                    </p:animEffect>
                                  </p:childTnLst>
                                </p:cTn>
                              </p:par>
                              <p:par>
                                <p:cTn id="20" presetID="2" presetClass="entr" presetSubtype="4" fill="hold" decel="100000" nodeType="withEffect">
                                  <p:stCondLst>
                                    <p:cond delay="750"/>
                                  </p:stCondLst>
                                  <p:childTnLst>
                                    <p:set>
                                      <p:cBhvr>
                                        <p:cTn id="21" dur="1" fill="hold">
                                          <p:stCondLst>
                                            <p:cond delay="0"/>
                                          </p:stCondLst>
                                        </p:cTn>
                                        <p:tgtEl>
                                          <p:spTgt spid="7"/>
                                        </p:tgtEl>
                                        <p:attrNameLst>
                                          <p:attrName>style.visibility</p:attrName>
                                        </p:attrNameLst>
                                      </p:cBhvr>
                                      <p:to>
                                        <p:strVal val="visible"/>
                                      </p:to>
                                    </p:set>
                                    <p:anim calcmode="lin" valueType="num">
                                      <p:cBhvr additive="base">
                                        <p:cTn id="18" dur="900" fill="hold"/>
                                        <p:tgtEl>
                                          <p:spTgt spid="7"/>
                                        </p:tgtEl>
                                        <p:attrNameLst>
                                          <p:attrName>ppt_y</p:attrName>
                                        </p:attrNameLst>
                                      </p:cBhvr>
                                      <p:tavLst>
                                        <p:tav tm="0">
                                          <p:val>
                                            <p:strVal val="#ppt_y+0.03"/>
                                          </p:val>
                                        </p:tav>
                                        <p:tav tm="100000">
                                          <p:val>
                                            <p:strVal val="#ppt_y"/>
                                          </p:val>
                                        </p:tav>
                                      </p:tavLst>
                                    </p:anim>
                                    <p:animEffect transition="in" filter="fade">
                                      <p:cBhvr>
                                        <p:cTn id="19" dur="9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ground" descr="From biology to liquidity slide background"/>
          <p:cNvPicPr>
            <a:picLocks noChangeAspect="1"/>
          </p:cNvPicPr>
          <p:nvPr/>
        </p:nvPicPr>
        <p:blipFill>
          <a:blip r:embed="rId2"/>
          <a:stretch>
            <a:fillRect/>
          </a:stretch>
        </p:blipFill>
        <p:spPr>
          <a:xfrm>
            <a:off x="0" y="0"/>
            <a:ext cx="12192000" cy="6858000"/>
          </a:xfrm>
          <a:prstGeom prst="rect">
            <a:avLst/>
          </a:prstGeom>
        </p:spPr>
      </p:pic>
      <p:pic>
        <p:nvPicPr>
          <p:cNvPr id="3" name="00 fade · 13The shift, in full" descr="13The shift, in full"/>
          <p:cNvPicPr>
            <a:picLocks noChangeAspect="1"/>
          </p:cNvPicPr>
          <p:nvPr/>
        </p:nvPicPr>
        <p:blipFill>
          <a:blip r:embed="rId3"/>
          <a:stretch>
            <a:fillRect/>
          </a:stretch>
        </p:blipFill>
        <p:spPr>
          <a:xfrm>
            <a:off x="660400" y="609600"/>
            <a:ext cx="10871200" cy="444500"/>
          </a:xfrm>
          <a:prstGeom prst="rect">
            <a:avLst/>
          </a:prstGeom>
        </p:spPr>
      </p:pic>
      <p:pic>
        <p:nvPicPr>
          <p:cNvPr id="4" name="01 up · From managing biology to manag" descr="From managing biology to managing liquidity."/>
          <p:cNvPicPr>
            <a:picLocks noChangeAspect="1"/>
          </p:cNvPicPr>
          <p:nvPr/>
        </p:nvPicPr>
        <p:blipFill>
          <a:blip r:embed="rId4"/>
          <a:stretch>
            <a:fillRect/>
          </a:stretch>
        </p:blipFill>
        <p:spPr>
          <a:xfrm>
            <a:off x="660400" y="977900"/>
            <a:ext cx="9829800" cy="742950"/>
          </a:xfrm>
          <a:prstGeom prst="rect">
            <a:avLst/>
          </a:prstGeom>
        </p:spPr>
      </p:pic>
      <p:pic>
        <p:nvPicPr>
          <p:cNvPr id="5" name="02 up · Dimension Legacy supply chain " descr="Dimension Legacy supply chain Thermal Trace The goal Delay spoilage (defensive) Maximise yield (offensive) Asset view A degrading physical object An asset with a live, priced value Inventory rule FEFO"/>
          <p:cNvPicPr>
            <a:picLocks noChangeAspect="1"/>
          </p:cNvPicPr>
          <p:nvPr/>
        </p:nvPicPr>
        <p:blipFill>
          <a:blip r:embed="rId5"/>
          <a:stretch>
            <a:fillRect/>
          </a:stretch>
        </p:blipFill>
        <p:spPr>
          <a:xfrm>
            <a:off x="660400" y="1689100"/>
            <a:ext cx="10871200" cy="332105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4" presetID="10" presetClass="entr" presetSubtype="0" fill="hold" decel="10000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3" dur="900"/>
                                        <p:tgtEl>
                                          <p:spTgt spid="3"/>
                                        </p:tgtEl>
                                      </p:cBhvr>
                                    </p:animEffect>
                                  </p:childTnLst>
                                </p:cTn>
                              </p:par>
                              <p:par>
                                <p:cTn id="8" presetID="2" presetClass="entr" presetSubtype="4" fill="hold" decel="100000" nodeType="withEffect">
                                  <p:stCondLst>
                                    <p:cond delay="120"/>
                                  </p:stCondLst>
                                  <p:childTnLst>
                                    <p:set>
                                      <p:cBhvr>
                                        <p:cTn id="9" dur="1" fill="hold">
                                          <p:stCondLst>
                                            <p:cond delay="0"/>
                                          </p:stCondLst>
                                        </p:cTn>
                                        <p:tgtEl>
                                          <p:spTgt spid="4"/>
                                        </p:tgtEl>
                                        <p:attrNameLst>
                                          <p:attrName>style.visibility</p:attrName>
                                        </p:attrNameLst>
                                      </p:cBhvr>
                                      <p:to>
                                        <p:strVal val="visible"/>
                                      </p:to>
                                    </p:set>
                                    <p:anim calcmode="lin" valueType="num">
                                      <p:cBhvr additive="base">
                                        <p:cTn id="6" dur="900" fill="hold"/>
                                        <p:tgtEl>
                                          <p:spTgt spid="4"/>
                                        </p:tgtEl>
                                        <p:attrNameLst>
                                          <p:attrName>ppt_y</p:attrName>
                                        </p:attrNameLst>
                                      </p:cBhvr>
                                      <p:tavLst>
                                        <p:tav tm="0">
                                          <p:val>
                                            <p:strVal val="#ppt_y+0.03"/>
                                          </p:val>
                                        </p:tav>
                                        <p:tav tm="100000">
                                          <p:val>
                                            <p:strVal val="#ppt_y"/>
                                          </p:val>
                                        </p:tav>
                                      </p:tavLst>
                                    </p:anim>
                                    <p:animEffect transition="in" filter="fade">
                                      <p:cBhvr>
                                        <p:cTn id="7" dur="900"/>
                                        <p:tgtEl>
                                          <p:spTgt spid="4"/>
                                        </p:tgtEl>
                                      </p:cBhvr>
                                    </p:animEffect>
                                  </p:childTnLst>
                                </p:cTn>
                              </p:par>
                              <p:par>
                                <p:cTn id="12" presetID="2" presetClass="entr" presetSubtype="4" fill="hold" decel="100000" nodeType="withEffect">
                                  <p:stCondLst>
                                    <p:cond delay="300"/>
                                  </p:stCondLst>
                                  <p:childTnLst>
                                    <p:set>
                                      <p:cBhvr>
                                        <p:cTn id="13" dur="1" fill="hold">
                                          <p:stCondLst>
                                            <p:cond delay="0"/>
                                          </p:stCondLst>
                                        </p:cTn>
                                        <p:tgtEl>
                                          <p:spTgt spid="5"/>
                                        </p:tgtEl>
                                        <p:attrNameLst>
                                          <p:attrName>style.visibility</p:attrName>
                                        </p:attrNameLst>
                                      </p:cBhvr>
                                      <p:to>
                                        <p:strVal val="visible"/>
                                      </p:to>
                                    </p:set>
                                    <p:anim calcmode="lin" valueType="num">
                                      <p:cBhvr additive="base">
                                        <p:cTn id="10" dur="900" fill="hold"/>
                                        <p:tgtEl>
                                          <p:spTgt spid="5"/>
                                        </p:tgtEl>
                                        <p:attrNameLst>
                                          <p:attrName>ppt_y</p:attrName>
                                        </p:attrNameLst>
                                      </p:cBhvr>
                                      <p:tavLst>
                                        <p:tav tm="0">
                                          <p:val>
                                            <p:strVal val="#ppt_y+0.03"/>
                                          </p:val>
                                        </p:tav>
                                        <p:tav tm="100000">
                                          <p:val>
                                            <p:strVal val="#ppt_y"/>
                                          </p:val>
                                        </p:tav>
                                      </p:tavLst>
                                    </p:anim>
                                    <p:animEffect transition="in" filter="fade">
                                      <p:cBhvr>
                                        <p:cTn id="11" dur="9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ground" descr="Business model slide background"/>
          <p:cNvPicPr>
            <a:picLocks noChangeAspect="1"/>
          </p:cNvPicPr>
          <p:nvPr/>
        </p:nvPicPr>
        <p:blipFill>
          <a:blip r:embed="rId2"/>
          <a:stretch>
            <a:fillRect/>
          </a:stretch>
        </p:blipFill>
        <p:spPr>
          <a:xfrm>
            <a:off x="0" y="0"/>
            <a:ext cx="12192000" cy="6858000"/>
          </a:xfrm>
          <a:prstGeom prst="rect">
            <a:avLst/>
          </a:prstGeom>
        </p:spPr>
      </p:pic>
      <p:pic>
        <p:nvPicPr>
          <p:cNvPr id="3" name="00 fade · Hypotheses to validate · not m" descr="Hypotheses to validate · not market prices"/>
          <p:cNvPicPr>
            <a:picLocks noChangeAspect="1"/>
          </p:cNvPicPr>
          <p:nvPr/>
        </p:nvPicPr>
        <p:blipFill>
          <a:blip r:embed="rId3"/>
          <a:stretch>
            <a:fillRect/>
          </a:stretch>
        </p:blipFill>
        <p:spPr>
          <a:xfrm>
            <a:off x="7594600" y="558800"/>
            <a:ext cx="3937000" cy="546100"/>
          </a:xfrm>
          <a:prstGeom prst="rect">
            <a:avLst/>
          </a:prstGeom>
        </p:spPr>
      </p:pic>
      <p:pic>
        <p:nvPicPr>
          <p:cNvPr id="4" name="01 fade · 14Business model" descr="14Business model"/>
          <p:cNvPicPr>
            <a:picLocks noChangeAspect="1"/>
          </p:cNvPicPr>
          <p:nvPr/>
        </p:nvPicPr>
        <p:blipFill>
          <a:blip r:embed="rId4"/>
          <a:stretch>
            <a:fillRect/>
          </a:stretch>
        </p:blipFill>
        <p:spPr>
          <a:xfrm>
            <a:off x="660400" y="609600"/>
            <a:ext cx="10871200" cy="444500"/>
          </a:xfrm>
          <a:prstGeom prst="rect">
            <a:avLst/>
          </a:prstGeom>
        </p:spPr>
      </p:pic>
      <p:pic>
        <p:nvPicPr>
          <p:cNvPr id="5" name="02 up · Priced against verified value." descr="Priced against verified value."/>
          <p:cNvPicPr>
            <a:picLocks noChangeAspect="1"/>
          </p:cNvPicPr>
          <p:nvPr/>
        </p:nvPicPr>
        <p:blipFill>
          <a:blip r:embed="rId5"/>
          <a:stretch>
            <a:fillRect/>
          </a:stretch>
        </p:blipFill>
        <p:spPr>
          <a:xfrm>
            <a:off x="660400" y="977900"/>
            <a:ext cx="9829800" cy="838200"/>
          </a:xfrm>
          <a:prstGeom prst="rect">
            <a:avLst/>
          </a:prstGeom>
        </p:spPr>
      </p:pic>
      <p:pic>
        <p:nvPicPr>
          <p:cNvPr id="6" name="03 up · QAR 100–175K Pilot · 12–16 wee" descr="QAR 100–175K Pilot · 12–16 weeks 3–5 facilities, one anchor customer: a cold-chain operator or hypermarket."/>
          <p:cNvPicPr>
            <a:picLocks noChangeAspect="1"/>
          </p:cNvPicPr>
          <p:nvPr/>
        </p:nvPicPr>
        <p:blipFill>
          <a:blip r:embed="rId6"/>
          <a:stretch>
            <a:fillRect/>
          </a:stretch>
        </p:blipFill>
        <p:spPr>
          <a:xfrm>
            <a:off x="660400" y="1809750"/>
            <a:ext cx="3708400" cy="2305050"/>
          </a:xfrm>
          <a:prstGeom prst="rect">
            <a:avLst/>
          </a:prstGeom>
        </p:spPr>
      </p:pic>
      <p:pic>
        <p:nvPicPr>
          <p:cNvPr id="7" name="04 up · QAR 120–240K / yr Enterprise s" descr="QAR 120–240K / yr Enterprise subscription Plus implementation fees for heavy installs."/>
          <p:cNvPicPr>
            <a:picLocks noChangeAspect="1"/>
          </p:cNvPicPr>
          <p:nvPr/>
        </p:nvPicPr>
        <p:blipFill>
          <a:blip r:embed="rId7"/>
          <a:stretch>
            <a:fillRect/>
          </a:stretch>
        </p:blipFill>
        <p:spPr>
          <a:xfrm>
            <a:off x="4241800" y="1809750"/>
            <a:ext cx="3708400" cy="2305050"/>
          </a:xfrm>
          <a:prstGeom prst="rect">
            <a:avLst/>
          </a:prstGeom>
        </p:spPr>
      </p:pic>
      <p:pic>
        <p:nvPicPr>
          <p:cNvPr id="8" name="05 up · ≥ 3× The value test Avoided lo" descr="≥ 3× The value test Avoided loss must be at least 3× the fee: QAR 540K of benefit to justify a QAR 180K fee."/>
          <p:cNvPicPr>
            <a:picLocks noChangeAspect="1"/>
          </p:cNvPicPr>
          <p:nvPr/>
        </p:nvPicPr>
        <p:blipFill>
          <a:blip r:embed="rId8"/>
          <a:stretch>
            <a:fillRect/>
          </a:stretch>
        </p:blipFill>
        <p:spPr>
          <a:xfrm>
            <a:off x="7823200" y="1809750"/>
            <a:ext cx="3708400" cy="2305050"/>
          </a:xfrm>
          <a:prstGeom prst="rect">
            <a:avLst/>
          </a:prstGeom>
        </p:spPr>
      </p:pic>
      <p:pic>
        <p:nvPicPr>
          <p:cNvPr id="9" name="06 up · Month-12 target: QAR 300–500K " descr="Month-12 target: QAR 300–500K contracted ARR. A target, not a forecast."/>
          <p:cNvPicPr>
            <a:picLocks noChangeAspect="1"/>
          </p:cNvPicPr>
          <p:nvPr/>
        </p:nvPicPr>
        <p:blipFill>
          <a:blip r:embed="rId9"/>
          <a:stretch>
            <a:fillRect/>
          </a:stretch>
        </p:blipFill>
        <p:spPr>
          <a:xfrm>
            <a:off x="660400" y="4057650"/>
            <a:ext cx="10871200" cy="88265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4" presetID="10" presetClass="entr" presetSubtype="0" fill="hold" decel="100000" nodeType="withEffect">
                                  <p:stCondLst>
                                    <p:cond delay="200"/>
                                  </p:stCondLst>
                                  <p:childTnLst>
                                    <p:set>
                                      <p:cBhvr>
                                        <p:cTn id="5" dur="1" fill="hold">
                                          <p:stCondLst>
                                            <p:cond delay="0"/>
                                          </p:stCondLst>
                                        </p:cTn>
                                        <p:tgtEl>
                                          <p:spTgt spid="3"/>
                                        </p:tgtEl>
                                        <p:attrNameLst>
                                          <p:attrName>style.visibility</p:attrName>
                                        </p:attrNameLst>
                                      </p:cBhvr>
                                      <p:to>
                                        <p:strVal val="visible"/>
                                      </p:to>
                                    </p:set>
                                    <p:animEffect transition="in" filter="fade">
                                      <p:cBhvr>
                                        <p:cTn id="3" dur="900"/>
                                        <p:tgtEl>
                                          <p:spTgt spid="3"/>
                                        </p:tgtEl>
                                      </p:cBhvr>
                                    </p:animEffect>
                                  </p:childTnLst>
                                </p:cTn>
                              </p:par>
                              <p:par>
                                <p:cTn id="7" presetID="10" presetClass="entr" presetSubtype="0" fill="hold" decel="100000" nodeType="withEffect">
                                  <p:stCondLst>
                                    <p:cond delay="0"/>
                                  </p:stCondLst>
                                  <p:childTnLst>
                                    <p:set>
                                      <p:cBhvr>
                                        <p:cTn id="8" dur="1" fill="hold">
                                          <p:stCondLst>
                                            <p:cond delay="0"/>
                                          </p:stCondLst>
                                        </p:cTn>
                                        <p:tgtEl>
                                          <p:spTgt spid="4"/>
                                        </p:tgtEl>
                                        <p:attrNameLst>
                                          <p:attrName>style.visibility</p:attrName>
                                        </p:attrNameLst>
                                      </p:cBhvr>
                                      <p:to>
                                        <p:strVal val="visible"/>
                                      </p:to>
                                    </p:set>
                                    <p:animEffect transition="in" filter="fade">
                                      <p:cBhvr>
                                        <p:cTn id="6" dur="900"/>
                                        <p:tgtEl>
                                          <p:spTgt spid="4"/>
                                        </p:tgtEl>
                                      </p:cBhvr>
                                    </p:animEffect>
                                  </p:childTnLst>
                                </p:cTn>
                              </p:par>
                              <p:par>
                                <p:cTn id="11" presetID="2" presetClass="entr" presetSubtype="4" fill="hold" decel="100000" nodeType="withEffect">
                                  <p:stCondLst>
                                    <p:cond delay="120"/>
                                  </p:stCondLst>
                                  <p:childTnLst>
                                    <p:set>
                                      <p:cBhvr>
                                        <p:cTn id="12" dur="1" fill="hold">
                                          <p:stCondLst>
                                            <p:cond delay="0"/>
                                          </p:stCondLst>
                                        </p:cTn>
                                        <p:tgtEl>
                                          <p:spTgt spid="5"/>
                                        </p:tgtEl>
                                        <p:attrNameLst>
                                          <p:attrName>style.visibility</p:attrName>
                                        </p:attrNameLst>
                                      </p:cBhvr>
                                      <p:to>
                                        <p:strVal val="visible"/>
                                      </p:to>
                                    </p:set>
                                    <p:anim calcmode="lin" valueType="num">
                                      <p:cBhvr additive="base">
                                        <p:cTn id="9" dur="900" fill="hold"/>
                                        <p:tgtEl>
                                          <p:spTgt spid="5"/>
                                        </p:tgtEl>
                                        <p:attrNameLst>
                                          <p:attrName>ppt_y</p:attrName>
                                        </p:attrNameLst>
                                      </p:cBhvr>
                                      <p:tavLst>
                                        <p:tav tm="0">
                                          <p:val>
                                            <p:strVal val="#ppt_y+0.03"/>
                                          </p:val>
                                        </p:tav>
                                        <p:tav tm="100000">
                                          <p:val>
                                            <p:strVal val="#ppt_y"/>
                                          </p:val>
                                        </p:tav>
                                      </p:tavLst>
                                    </p:anim>
                                    <p:animEffect transition="in" filter="fade">
                                      <p:cBhvr>
                                        <p:cTn id="10" dur="900"/>
                                        <p:tgtEl>
                                          <p:spTgt spid="5"/>
                                        </p:tgtEl>
                                      </p:cBhvr>
                                    </p:animEffect>
                                  </p:childTnLst>
                                </p:cTn>
                              </p:par>
                              <p:par>
                                <p:cTn id="15" presetID="2" presetClass="entr" presetSubtype="4" fill="hold" decel="100000" nodeType="withEffect">
                                  <p:stCondLst>
                                    <p:cond delay="300"/>
                                  </p:stCondLst>
                                  <p:childTnLst>
                                    <p:set>
                                      <p:cBhvr>
                                        <p:cTn id="16" dur="1" fill="hold">
                                          <p:stCondLst>
                                            <p:cond delay="0"/>
                                          </p:stCondLst>
                                        </p:cTn>
                                        <p:tgtEl>
                                          <p:spTgt spid="6"/>
                                        </p:tgtEl>
                                        <p:attrNameLst>
                                          <p:attrName>style.visibility</p:attrName>
                                        </p:attrNameLst>
                                      </p:cBhvr>
                                      <p:to>
                                        <p:strVal val="visible"/>
                                      </p:to>
                                    </p:set>
                                    <p:anim calcmode="lin" valueType="num">
                                      <p:cBhvr additive="base">
                                        <p:cTn id="13" dur="900" fill="hold"/>
                                        <p:tgtEl>
                                          <p:spTgt spid="6"/>
                                        </p:tgtEl>
                                        <p:attrNameLst>
                                          <p:attrName>ppt_y</p:attrName>
                                        </p:attrNameLst>
                                      </p:cBhvr>
                                      <p:tavLst>
                                        <p:tav tm="0">
                                          <p:val>
                                            <p:strVal val="#ppt_y+0.03"/>
                                          </p:val>
                                        </p:tav>
                                        <p:tav tm="100000">
                                          <p:val>
                                            <p:strVal val="#ppt_y"/>
                                          </p:val>
                                        </p:tav>
                                      </p:tavLst>
                                    </p:anim>
                                    <p:animEffect transition="in" filter="fade">
                                      <p:cBhvr>
                                        <p:cTn id="14" dur="900"/>
                                        <p:tgtEl>
                                          <p:spTgt spid="6"/>
                                        </p:tgtEl>
                                      </p:cBhvr>
                                    </p:animEffect>
                                  </p:childTnLst>
                                </p:cTn>
                              </p:par>
                              <p:par>
                                <p:cTn id="19" presetID="2" presetClass="entr" presetSubtype="4" fill="hold" decel="100000" nodeType="withEffect">
                                  <p:stCondLst>
                                    <p:cond delay="450"/>
                                  </p:stCondLst>
                                  <p:childTnLst>
                                    <p:set>
                                      <p:cBhvr>
                                        <p:cTn id="20" dur="1" fill="hold">
                                          <p:stCondLst>
                                            <p:cond delay="0"/>
                                          </p:stCondLst>
                                        </p:cTn>
                                        <p:tgtEl>
                                          <p:spTgt spid="7"/>
                                        </p:tgtEl>
                                        <p:attrNameLst>
                                          <p:attrName>style.visibility</p:attrName>
                                        </p:attrNameLst>
                                      </p:cBhvr>
                                      <p:to>
                                        <p:strVal val="visible"/>
                                      </p:to>
                                    </p:set>
                                    <p:anim calcmode="lin" valueType="num">
                                      <p:cBhvr additive="base">
                                        <p:cTn id="17" dur="900" fill="hold"/>
                                        <p:tgtEl>
                                          <p:spTgt spid="7"/>
                                        </p:tgtEl>
                                        <p:attrNameLst>
                                          <p:attrName>ppt_y</p:attrName>
                                        </p:attrNameLst>
                                      </p:cBhvr>
                                      <p:tavLst>
                                        <p:tav tm="0">
                                          <p:val>
                                            <p:strVal val="#ppt_y+0.03"/>
                                          </p:val>
                                        </p:tav>
                                        <p:tav tm="100000">
                                          <p:val>
                                            <p:strVal val="#ppt_y"/>
                                          </p:val>
                                        </p:tav>
                                      </p:tavLst>
                                    </p:anim>
                                    <p:animEffect transition="in" filter="fade">
                                      <p:cBhvr>
                                        <p:cTn id="18" dur="900"/>
                                        <p:tgtEl>
                                          <p:spTgt spid="7"/>
                                        </p:tgtEl>
                                      </p:cBhvr>
                                    </p:animEffect>
                                  </p:childTnLst>
                                </p:cTn>
                              </p:par>
                              <p:par>
                                <p:cTn id="23" presetID="2" presetClass="entr" presetSubtype="4" fill="hold" decel="100000" nodeType="withEffect">
                                  <p:stCondLst>
                                    <p:cond delay="600"/>
                                  </p:stCondLst>
                                  <p:childTnLst>
                                    <p:set>
                                      <p:cBhvr>
                                        <p:cTn id="24" dur="1" fill="hold">
                                          <p:stCondLst>
                                            <p:cond delay="0"/>
                                          </p:stCondLst>
                                        </p:cTn>
                                        <p:tgtEl>
                                          <p:spTgt spid="8"/>
                                        </p:tgtEl>
                                        <p:attrNameLst>
                                          <p:attrName>style.visibility</p:attrName>
                                        </p:attrNameLst>
                                      </p:cBhvr>
                                      <p:to>
                                        <p:strVal val="visible"/>
                                      </p:to>
                                    </p:set>
                                    <p:anim calcmode="lin" valueType="num">
                                      <p:cBhvr additive="base">
                                        <p:cTn id="21" dur="900" fill="hold"/>
                                        <p:tgtEl>
                                          <p:spTgt spid="8"/>
                                        </p:tgtEl>
                                        <p:attrNameLst>
                                          <p:attrName>ppt_y</p:attrName>
                                        </p:attrNameLst>
                                      </p:cBhvr>
                                      <p:tavLst>
                                        <p:tav tm="0">
                                          <p:val>
                                            <p:strVal val="#ppt_y+0.03"/>
                                          </p:val>
                                        </p:tav>
                                        <p:tav tm="100000">
                                          <p:val>
                                            <p:strVal val="#ppt_y"/>
                                          </p:val>
                                        </p:tav>
                                      </p:tavLst>
                                    </p:anim>
                                    <p:animEffect transition="in" filter="fade">
                                      <p:cBhvr>
                                        <p:cTn id="22" dur="900"/>
                                        <p:tgtEl>
                                          <p:spTgt spid="8"/>
                                        </p:tgtEl>
                                      </p:cBhvr>
                                    </p:animEffect>
                                  </p:childTnLst>
                                </p:cTn>
                              </p:par>
                              <p:par>
                                <p:cTn id="27" presetID="2" presetClass="entr" presetSubtype="4" fill="hold" decel="100000" nodeType="withEffect">
                                  <p:stCondLst>
                                    <p:cond delay="800"/>
                                  </p:stCondLst>
                                  <p:childTnLst>
                                    <p:set>
                                      <p:cBhvr>
                                        <p:cTn id="28" dur="1" fill="hold">
                                          <p:stCondLst>
                                            <p:cond delay="0"/>
                                          </p:stCondLst>
                                        </p:cTn>
                                        <p:tgtEl>
                                          <p:spTgt spid="9"/>
                                        </p:tgtEl>
                                        <p:attrNameLst>
                                          <p:attrName>style.visibility</p:attrName>
                                        </p:attrNameLst>
                                      </p:cBhvr>
                                      <p:to>
                                        <p:strVal val="visible"/>
                                      </p:to>
                                    </p:set>
                                    <p:anim calcmode="lin" valueType="num">
                                      <p:cBhvr additive="base">
                                        <p:cTn id="25" dur="900" fill="hold"/>
                                        <p:tgtEl>
                                          <p:spTgt spid="9"/>
                                        </p:tgtEl>
                                        <p:attrNameLst>
                                          <p:attrName>ppt_y</p:attrName>
                                        </p:attrNameLst>
                                      </p:cBhvr>
                                      <p:tavLst>
                                        <p:tav tm="0">
                                          <p:val>
                                            <p:strVal val="#ppt_y+0.03"/>
                                          </p:val>
                                        </p:tav>
                                        <p:tav tm="100000">
                                          <p:val>
                                            <p:strVal val="#ppt_y"/>
                                          </p:val>
                                        </p:tav>
                                      </p:tavLst>
                                    </p:anim>
                                    <p:animEffect transition="in" filter="fade">
                                      <p:cBhvr>
                                        <p:cTn id="26" dur="9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ground" descr="The ask slide background"/>
          <p:cNvPicPr>
            <a:picLocks noChangeAspect="1"/>
          </p:cNvPicPr>
          <p:nvPr/>
        </p:nvPicPr>
        <p:blipFill>
          <a:blip r:embed="rId2"/>
          <a:stretch>
            <a:fillRect/>
          </a:stretch>
        </p:blipFill>
        <p:spPr>
          <a:xfrm>
            <a:off x="0" y="0"/>
            <a:ext cx="12192000" cy="6858000"/>
          </a:xfrm>
          <a:prstGeom prst="rect">
            <a:avLst/>
          </a:prstGeom>
        </p:spPr>
      </p:pic>
      <p:pic>
        <p:nvPicPr>
          <p:cNvPr id="3" name="00 fade · 15The ask" descr="15The ask"/>
          <p:cNvPicPr>
            <a:picLocks noChangeAspect="1"/>
          </p:cNvPicPr>
          <p:nvPr/>
        </p:nvPicPr>
        <p:blipFill>
          <a:blip r:embed="rId3"/>
          <a:stretch>
            <a:fillRect/>
          </a:stretch>
        </p:blipFill>
        <p:spPr>
          <a:xfrm>
            <a:off x="660400" y="609600"/>
            <a:ext cx="10871200" cy="444500"/>
          </a:xfrm>
          <a:prstGeom prst="rect">
            <a:avLst/>
          </a:prstGeom>
        </p:spPr>
      </p:pic>
      <p:pic>
        <p:nvPicPr>
          <p:cNvPr id="4" name="01 up · Twelve months to prove it in t" descr="Twelve months to prove it in the field."/>
          <p:cNvPicPr>
            <a:picLocks noChangeAspect="1"/>
          </p:cNvPicPr>
          <p:nvPr/>
        </p:nvPicPr>
        <p:blipFill>
          <a:blip r:embed="rId4"/>
          <a:stretch>
            <a:fillRect/>
          </a:stretch>
        </p:blipFill>
        <p:spPr>
          <a:xfrm>
            <a:off x="660400" y="977900"/>
            <a:ext cx="9829800" cy="838200"/>
          </a:xfrm>
          <a:prstGeom prst="rect">
            <a:avLst/>
          </a:prstGeom>
        </p:spPr>
      </p:pic>
      <p:pic>
        <p:nvPicPr>
          <p:cNvPr id="5" name="02 up · QAR 1,850,000" descr="QAR 1,850,000"/>
          <p:cNvPicPr>
            <a:picLocks noChangeAspect="1"/>
          </p:cNvPicPr>
          <p:nvPr/>
        </p:nvPicPr>
        <p:blipFill>
          <a:blip r:embed="rId5"/>
          <a:stretch>
            <a:fillRect/>
          </a:stretch>
        </p:blipFill>
        <p:spPr>
          <a:xfrm>
            <a:off x="660400" y="1784350"/>
            <a:ext cx="6350000" cy="971550"/>
          </a:xfrm>
          <a:prstGeom prst="rect">
            <a:avLst/>
          </a:prstGeom>
        </p:spPr>
      </p:pic>
      <p:pic>
        <p:nvPicPr>
          <p:cNvPr id="6" name="03 fade · ≈ US$508,000 · 12 months · pre" descr="≈ US$508,000 · 12 months · pre-seed or strategic round"/>
          <p:cNvPicPr>
            <a:picLocks noChangeAspect="1"/>
          </p:cNvPicPr>
          <p:nvPr/>
        </p:nvPicPr>
        <p:blipFill>
          <a:blip r:embed="rId6"/>
          <a:stretch>
            <a:fillRect/>
          </a:stretch>
        </p:blipFill>
        <p:spPr>
          <a:xfrm>
            <a:off x="660400" y="2559050"/>
            <a:ext cx="6350000" cy="488950"/>
          </a:xfrm>
          <a:prstGeom prst="rect">
            <a:avLst/>
          </a:prstGeom>
        </p:spPr>
      </p:pic>
      <p:pic>
        <p:nvPicPr>
          <p:cNvPr id="7" name="04 up · graphic" descr=""/>
          <p:cNvPicPr>
            <a:picLocks noChangeAspect="1"/>
          </p:cNvPicPr>
          <p:nvPr/>
        </p:nvPicPr>
        <p:blipFill>
          <a:blip r:embed="rId7"/>
          <a:stretch>
            <a:fillRect/>
          </a:stretch>
        </p:blipFill>
        <p:spPr>
          <a:xfrm>
            <a:off x="660400" y="2990850"/>
            <a:ext cx="6350000" cy="527050"/>
          </a:xfrm>
          <a:prstGeom prst="rect">
            <a:avLst/>
          </a:prstGeom>
        </p:spPr>
      </p:pic>
      <p:pic>
        <p:nvPicPr>
          <p:cNvPr id="8" name="05 up · Core five-person engineering t" descr="Core five-person engineering team55.1%"/>
          <p:cNvPicPr>
            <a:picLocks noChangeAspect="1"/>
          </p:cNvPicPr>
          <p:nvPr/>
        </p:nvPicPr>
        <p:blipFill>
          <a:blip r:embed="rId8"/>
          <a:stretch>
            <a:fillRect/>
          </a:stretch>
        </p:blipFill>
        <p:spPr>
          <a:xfrm>
            <a:off x="660400" y="3371850"/>
            <a:ext cx="6350000" cy="685800"/>
          </a:xfrm>
          <a:prstGeom prst="rect">
            <a:avLst/>
          </a:prstGeom>
        </p:spPr>
      </p:pic>
      <p:pic>
        <p:nvPicPr>
          <p:cNvPr id="9" name="06 up · Sensors, deployment, cloud, in" descr="Sensors, deployment, cloud, integration23.5%"/>
          <p:cNvPicPr>
            <a:picLocks noChangeAspect="1"/>
          </p:cNvPicPr>
          <p:nvPr/>
        </p:nvPicPr>
        <p:blipFill>
          <a:blip r:embed="rId9"/>
          <a:stretch>
            <a:fillRect/>
          </a:stretch>
        </p:blipFill>
        <p:spPr>
          <a:xfrm>
            <a:off x="660400" y="3746500"/>
            <a:ext cx="6350000" cy="685800"/>
          </a:xfrm>
          <a:prstGeom prst="rect">
            <a:avLst/>
          </a:prstGeom>
        </p:spPr>
      </p:pic>
      <p:pic>
        <p:nvPicPr>
          <p:cNvPr id="10" name="07 up · Validation, customers, legal10" descr="Validation, customers, legal10.8%"/>
          <p:cNvPicPr>
            <a:picLocks noChangeAspect="1"/>
          </p:cNvPicPr>
          <p:nvPr/>
        </p:nvPicPr>
        <p:blipFill>
          <a:blip r:embed="rId10"/>
          <a:stretch>
            <a:fillRect/>
          </a:stretch>
        </p:blipFill>
        <p:spPr>
          <a:xfrm>
            <a:off x="660400" y="4121150"/>
            <a:ext cx="6350000" cy="685800"/>
          </a:xfrm>
          <a:prstGeom prst="rect">
            <a:avLst/>
          </a:prstGeom>
        </p:spPr>
      </p:pic>
      <p:pic>
        <p:nvPicPr>
          <p:cNvPr id="11" name="08 up · Contingency reserve10.5%" descr="Contingency reserve10.5%"/>
          <p:cNvPicPr>
            <a:picLocks noChangeAspect="1"/>
          </p:cNvPicPr>
          <p:nvPr/>
        </p:nvPicPr>
        <p:blipFill>
          <a:blip r:embed="rId11"/>
          <a:stretch>
            <a:fillRect/>
          </a:stretch>
        </p:blipFill>
        <p:spPr>
          <a:xfrm>
            <a:off x="660400" y="4495800"/>
            <a:ext cx="6350000" cy="685800"/>
          </a:xfrm>
          <a:prstGeom prst="rect">
            <a:avLst/>
          </a:prstGeom>
        </p:spPr>
      </p:pic>
      <p:pic>
        <p:nvPicPr>
          <p:cNvPr id="12" name="09 right · What it buys in 12 months An a" descr="What it buys in 12 months An anchor customer live at 3–5 facilities Avoided loss measured at ≥ 3× the platform fee Commercial Reserve tested in controlled trials An annual contract and a second custom"/>
          <p:cNvPicPr>
            <a:picLocks noChangeAspect="1"/>
          </p:cNvPicPr>
          <p:nvPr/>
        </p:nvPicPr>
        <p:blipFill>
          <a:blip r:embed="rId12"/>
          <a:stretch>
            <a:fillRect/>
          </a:stretch>
        </p:blipFill>
        <p:spPr>
          <a:xfrm>
            <a:off x="7162800" y="1784350"/>
            <a:ext cx="4368800" cy="393700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4" presetID="10" presetClass="entr" presetSubtype="0" fill="hold" decel="10000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3" dur="900"/>
                                        <p:tgtEl>
                                          <p:spTgt spid="3"/>
                                        </p:tgtEl>
                                      </p:cBhvr>
                                    </p:animEffect>
                                  </p:childTnLst>
                                </p:cTn>
                              </p:par>
                              <p:par>
                                <p:cTn id="8" presetID="2" presetClass="entr" presetSubtype="4" fill="hold" decel="100000" nodeType="withEffect">
                                  <p:stCondLst>
                                    <p:cond delay="120"/>
                                  </p:stCondLst>
                                  <p:childTnLst>
                                    <p:set>
                                      <p:cBhvr>
                                        <p:cTn id="9" dur="1" fill="hold">
                                          <p:stCondLst>
                                            <p:cond delay="0"/>
                                          </p:stCondLst>
                                        </p:cTn>
                                        <p:tgtEl>
                                          <p:spTgt spid="4"/>
                                        </p:tgtEl>
                                        <p:attrNameLst>
                                          <p:attrName>style.visibility</p:attrName>
                                        </p:attrNameLst>
                                      </p:cBhvr>
                                      <p:to>
                                        <p:strVal val="visible"/>
                                      </p:to>
                                    </p:set>
                                    <p:anim calcmode="lin" valueType="num">
                                      <p:cBhvr additive="base">
                                        <p:cTn id="6" dur="900" fill="hold"/>
                                        <p:tgtEl>
                                          <p:spTgt spid="4"/>
                                        </p:tgtEl>
                                        <p:attrNameLst>
                                          <p:attrName>ppt_y</p:attrName>
                                        </p:attrNameLst>
                                      </p:cBhvr>
                                      <p:tavLst>
                                        <p:tav tm="0">
                                          <p:val>
                                            <p:strVal val="#ppt_y+0.03"/>
                                          </p:val>
                                        </p:tav>
                                        <p:tav tm="100000">
                                          <p:val>
                                            <p:strVal val="#ppt_y"/>
                                          </p:val>
                                        </p:tav>
                                      </p:tavLst>
                                    </p:anim>
                                    <p:animEffect transition="in" filter="fade">
                                      <p:cBhvr>
                                        <p:cTn id="7" dur="900"/>
                                        <p:tgtEl>
                                          <p:spTgt spid="4"/>
                                        </p:tgtEl>
                                      </p:cBhvr>
                                    </p:animEffect>
                                  </p:childTnLst>
                                </p:cTn>
                              </p:par>
                              <p:par>
                                <p:cTn id="12" presetID="2" presetClass="entr" presetSubtype="4" fill="hold" decel="100000" nodeType="withEffect">
                                  <p:stCondLst>
                                    <p:cond delay="300"/>
                                  </p:stCondLst>
                                  <p:childTnLst>
                                    <p:set>
                                      <p:cBhvr>
                                        <p:cTn id="13" dur="1" fill="hold">
                                          <p:stCondLst>
                                            <p:cond delay="0"/>
                                          </p:stCondLst>
                                        </p:cTn>
                                        <p:tgtEl>
                                          <p:spTgt spid="5"/>
                                        </p:tgtEl>
                                        <p:attrNameLst>
                                          <p:attrName>style.visibility</p:attrName>
                                        </p:attrNameLst>
                                      </p:cBhvr>
                                      <p:to>
                                        <p:strVal val="visible"/>
                                      </p:to>
                                    </p:set>
                                    <p:anim calcmode="lin" valueType="num">
                                      <p:cBhvr additive="base">
                                        <p:cTn id="10" dur="900" fill="hold"/>
                                        <p:tgtEl>
                                          <p:spTgt spid="5"/>
                                        </p:tgtEl>
                                        <p:attrNameLst>
                                          <p:attrName>ppt_y</p:attrName>
                                        </p:attrNameLst>
                                      </p:cBhvr>
                                      <p:tavLst>
                                        <p:tav tm="0">
                                          <p:val>
                                            <p:strVal val="#ppt_y+0.03"/>
                                          </p:val>
                                        </p:tav>
                                        <p:tav tm="100000">
                                          <p:val>
                                            <p:strVal val="#ppt_y"/>
                                          </p:val>
                                        </p:tav>
                                      </p:tavLst>
                                    </p:anim>
                                    <p:animEffect transition="in" filter="fade">
                                      <p:cBhvr>
                                        <p:cTn id="11" dur="900"/>
                                        <p:tgtEl>
                                          <p:spTgt spid="5"/>
                                        </p:tgtEl>
                                      </p:cBhvr>
                                    </p:animEffect>
                                  </p:childTnLst>
                                </p:cTn>
                              </p:par>
                              <p:par>
                                <p:cTn id="15" presetID="10" presetClass="entr" presetSubtype="0" fill="hold" decel="100000" nodeType="withEffect">
                                  <p:stCondLst>
                                    <p:cond delay="500"/>
                                  </p:stCondLst>
                                  <p:childTnLst>
                                    <p:set>
                                      <p:cBhvr>
                                        <p:cTn id="16" dur="1" fill="hold">
                                          <p:stCondLst>
                                            <p:cond delay="0"/>
                                          </p:stCondLst>
                                        </p:cTn>
                                        <p:tgtEl>
                                          <p:spTgt spid="6"/>
                                        </p:tgtEl>
                                        <p:attrNameLst>
                                          <p:attrName>style.visibility</p:attrName>
                                        </p:attrNameLst>
                                      </p:cBhvr>
                                      <p:to>
                                        <p:strVal val="visible"/>
                                      </p:to>
                                    </p:set>
                                    <p:animEffect transition="in" filter="fade">
                                      <p:cBhvr>
                                        <p:cTn id="14" dur="900"/>
                                        <p:tgtEl>
                                          <p:spTgt spid="6"/>
                                        </p:tgtEl>
                                      </p:cBhvr>
                                    </p:animEffect>
                                  </p:childTnLst>
                                </p:cTn>
                              </p:par>
                              <p:par>
                                <p:cTn id="19" presetID="2" presetClass="entr" presetSubtype="4" fill="hold" decel="100000" nodeType="withEffect">
                                  <p:stCondLst>
                                    <p:cond delay="700"/>
                                  </p:stCondLst>
                                  <p:childTnLst>
                                    <p:set>
                                      <p:cBhvr>
                                        <p:cTn id="20" dur="1" fill="hold">
                                          <p:stCondLst>
                                            <p:cond delay="0"/>
                                          </p:stCondLst>
                                        </p:cTn>
                                        <p:tgtEl>
                                          <p:spTgt spid="7"/>
                                        </p:tgtEl>
                                        <p:attrNameLst>
                                          <p:attrName>style.visibility</p:attrName>
                                        </p:attrNameLst>
                                      </p:cBhvr>
                                      <p:to>
                                        <p:strVal val="visible"/>
                                      </p:to>
                                    </p:set>
                                    <p:anim calcmode="lin" valueType="num">
                                      <p:cBhvr additive="base">
                                        <p:cTn id="17" dur="900" fill="hold"/>
                                        <p:tgtEl>
                                          <p:spTgt spid="7"/>
                                        </p:tgtEl>
                                        <p:attrNameLst>
                                          <p:attrName>ppt_y</p:attrName>
                                        </p:attrNameLst>
                                      </p:cBhvr>
                                      <p:tavLst>
                                        <p:tav tm="0">
                                          <p:val>
                                            <p:strVal val="#ppt_y+0.03"/>
                                          </p:val>
                                        </p:tav>
                                        <p:tav tm="100000">
                                          <p:val>
                                            <p:strVal val="#ppt_y"/>
                                          </p:val>
                                        </p:tav>
                                      </p:tavLst>
                                    </p:anim>
                                    <p:animEffect transition="in" filter="fade">
                                      <p:cBhvr>
                                        <p:cTn id="18" dur="900"/>
                                        <p:tgtEl>
                                          <p:spTgt spid="7"/>
                                        </p:tgtEl>
                                      </p:cBhvr>
                                    </p:animEffect>
                                  </p:childTnLst>
                                </p:cTn>
                              </p:par>
                              <p:par>
                                <p:cTn id="23" presetID="2" presetClass="entr" presetSubtype="4" fill="hold" decel="100000" nodeType="withEffect">
                                  <p:stCondLst>
                                    <p:cond delay="900"/>
                                  </p:stCondLst>
                                  <p:childTnLst>
                                    <p:set>
                                      <p:cBhvr>
                                        <p:cTn id="24" dur="1" fill="hold">
                                          <p:stCondLst>
                                            <p:cond delay="0"/>
                                          </p:stCondLst>
                                        </p:cTn>
                                        <p:tgtEl>
                                          <p:spTgt spid="8"/>
                                        </p:tgtEl>
                                        <p:attrNameLst>
                                          <p:attrName>style.visibility</p:attrName>
                                        </p:attrNameLst>
                                      </p:cBhvr>
                                      <p:to>
                                        <p:strVal val="visible"/>
                                      </p:to>
                                    </p:set>
                                    <p:anim calcmode="lin" valueType="num">
                                      <p:cBhvr additive="base">
                                        <p:cTn id="21" dur="900" fill="hold"/>
                                        <p:tgtEl>
                                          <p:spTgt spid="8"/>
                                        </p:tgtEl>
                                        <p:attrNameLst>
                                          <p:attrName>ppt_y</p:attrName>
                                        </p:attrNameLst>
                                      </p:cBhvr>
                                      <p:tavLst>
                                        <p:tav tm="0">
                                          <p:val>
                                            <p:strVal val="#ppt_y+0.03"/>
                                          </p:val>
                                        </p:tav>
                                        <p:tav tm="100000">
                                          <p:val>
                                            <p:strVal val="#ppt_y"/>
                                          </p:val>
                                        </p:tav>
                                      </p:tavLst>
                                    </p:anim>
                                    <p:animEffect transition="in" filter="fade">
                                      <p:cBhvr>
                                        <p:cTn id="22" dur="900"/>
                                        <p:tgtEl>
                                          <p:spTgt spid="8"/>
                                        </p:tgtEl>
                                      </p:cBhvr>
                                    </p:animEffect>
                                  </p:childTnLst>
                                </p:cTn>
                              </p:par>
                              <p:par>
                                <p:cTn id="27" presetID="2" presetClass="entr" presetSubtype="4" fill="hold" decel="100000" nodeType="withEffect">
                                  <p:stCondLst>
                                    <p:cond delay="1000"/>
                                  </p:stCondLst>
                                  <p:childTnLst>
                                    <p:set>
                                      <p:cBhvr>
                                        <p:cTn id="28" dur="1" fill="hold">
                                          <p:stCondLst>
                                            <p:cond delay="0"/>
                                          </p:stCondLst>
                                        </p:cTn>
                                        <p:tgtEl>
                                          <p:spTgt spid="9"/>
                                        </p:tgtEl>
                                        <p:attrNameLst>
                                          <p:attrName>style.visibility</p:attrName>
                                        </p:attrNameLst>
                                      </p:cBhvr>
                                      <p:to>
                                        <p:strVal val="visible"/>
                                      </p:to>
                                    </p:set>
                                    <p:anim calcmode="lin" valueType="num">
                                      <p:cBhvr additive="base">
                                        <p:cTn id="25" dur="900" fill="hold"/>
                                        <p:tgtEl>
                                          <p:spTgt spid="9"/>
                                        </p:tgtEl>
                                        <p:attrNameLst>
                                          <p:attrName>ppt_y</p:attrName>
                                        </p:attrNameLst>
                                      </p:cBhvr>
                                      <p:tavLst>
                                        <p:tav tm="0">
                                          <p:val>
                                            <p:strVal val="#ppt_y+0.03"/>
                                          </p:val>
                                        </p:tav>
                                        <p:tav tm="100000">
                                          <p:val>
                                            <p:strVal val="#ppt_y"/>
                                          </p:val>
                                        </p:tav>
                                      </p:tavLst>
                                    </p:anim>
                                    <p:animEffect transition="in" filter="fade">
                                      <p:cBhvr>
                                        <p:cTn id="26" dur="900"/>
                                        <p:tgtEl>
                                          <p:spTgt spid="9"/>
                                        </p:tgtEl>
                                      </p:cBhvr>
                                    </p:animEffect>
                                  </p:childTnLst>
                                </p:cTn>
                              </p:par>
                              <p:par>
                                <p:cTn id="31" presetID="2" presetClass="entr" presetSubtype="4" fill="hold" decel="100000" nodeType="withEffect">
                                  <p:stCondLst>
                                    <p:cond delay="1100"/>
                                  </p:stCondLst>
                                  <p:childTnLst>
                                    <p:set>
                                      <p:cBhvr>
                                        <p:cTn id="32" dur="1" fill="hold">
                                          <p:stCondLst>
                                            <p:cond delay="0"/>
                                          </p:stCondLst>
                                        </p:cTn>
                                        <p:tgtEl>
                                          <p:spTgt spid="10"/>
                                        </p:tgtEl>
                                        <p:attrNameLst>
                                          <p:attrName>style.visibility</p:attrName>
                                        </p:attrNameLst>
                                      </p:cBhvr>
                                      <p:to>
                                        <p:strVal val="visible"/>
                                      </p:to>
                                    </p:set>
                                    <p:anim calcmode="lin" valueType="num">
                                      <p:cBhvr additive="base">
                                        <p:cTn id="29" dur="900" fill="hold"/>
                                        <p:tgtEl>
                                          <p:spTgt spid="10"/>
                                        </p:tgtEl>
                                        <p:attrNameLst>
                                          <p:attrName>ppt_y</p:attrName>
                                        </p:attrNameLst>
                                      </p:cBhvr>
                                      <p:tavLst>
                                        <p:tav tm="0">
                                          <p:val>
                                            <p:strVal val="#ppt_y+0.03"/>
                                          </p:val>
                                        </p:tav>
                                        <p:tav tm="100000">
                                          <p:val>
                                            <p:strVal val="#ppt_y"/>
                                          </p:val>
                                        </p:tav>
                                      </p:tavLst>
                                    </p:anim>
                                    <p:animEffect transition="in" filter="fade">
                                      <p:cBhvr>
                                        <p:cTn id="30" dur="900"/>
                                        <p:tgtEl>
                                          <p:spTgt spid="10"/>
                                        </p:tgtEl>
                                      </p:cBhvr>
                                    </p:animEffect>
                                  </p:childTnLst>
                                </p:cTn>
                              </p:par>
                              <p:par>
                                <p:cTn id="35" presetID="2" presetClass="entr" presetSubtype="4" fill="hold" decel="100000" nodeType="withEffect">
                                  <p:stCondLst>
                                    <p:cond delay="1200"/>
                                  </p:stCondLst>
                                  <p:childTnLst>
                                    <p:set>
                                      <p:cBhvr>
                                        <p:cTn id="36" dur="1" fill="hold">
                                          <p:stCondLst>
                                            <p:cond delay="0"/>
                                          </p:stCondLst>
                                        </p:cTn>
                                        <p:tgtEl>
                                          <p:spTgt spid="11"/>
                                        </p:tgtEl>
                                        <p:attrNameLst>
                                          <p:attrName>style.visibility</p:attrName>
                                        </p:attrNameLst>
                                      </p:cBhvr>
                                      <p:to>
                                        <p:strVal val="visible"/>
                                      </p:to>
                                    </p:set>
                                    <p:anim calcmode="lin" valueType="num">
                                      <p:cBhvr additive="base">
                                        <p:cTn id="33" dur="900" fill="hold"/>
                                        <p:tgtEl>
                                          <p:spTgt spid="11"/>
                                        </p:tgtEl>
                                        <p:attrNameLst>
                                          <p:attrName>ppt_y</p:attrName>
                                        </p:attrNameLst>
                                      </p:cBhvr>
                                      <p:tavLst>
                                        <p:tav tm="0">
                                          <p:val>
                                            <p:strVal val="#ppt_y+0.03"/>
                                          </p:val>
                                        </p:tav>
                                        <p:tav tm="100000">
                                          <p:val>
                                            <p:strVal val="#ppt_y"/>
                                          </p:val>
                                        </p:tav>
                                      </p:tavLst>
                                    </p:anim>
                                    <p:animEffect transition="in" filter="fade">
                                      <p:cBhvr>
                                        <p:cTn id="34" dur="900"/>
                                        <p:tgtEl>
                                          <p:spTgt spid="11"/>
                                        </p:tgtEl>
                                      </p:cBhvr>
                                    </p:animEffect>
                                  </p:childTnLst>
                                </p:cTn>
                              </p:par>
                              <p:par>
                                <p:cTn id="39" presetID="2" presetClass="entr" presetSubtype="2" fill="hold" decel="100000" nodeType="withEffect">
                                  <p:stCondLst>
                                    <p:cond delay="600"/>
                                  </p:stCondLst>
                                  <p:childTnLst>
                                    <p:set>
                                      <p:cBhvr>
                                        <p:cTn id="40" dur="1" fill="hold">
                                          <p:stCondLst>
                                            <p:cond delay="0"/>
                                          </p:stCondLst>
                                        </p:cTn>
                                        <p:tgtEl>
                                          <p:spTgt spid="12"/>
                                        </p:tgtEl>
                                        <p:attrNameLst>
                                          <p:attrName>style.visibility</p:attrName>
                                        </p:attrNameLst>
                                      </p:cBhvr>
                                      <p:to>
                                        <p:strVal val="visible"/>
                                      </p:to>
                                    </p:set>
                                    <p:anim calcmode="lin" valueType="num">
                                      <p:cBhvr additive="base">
                                        <p:cTn id="37" dur="900" fill="hold"/>
                                        <p:tgtEl>
                                          <p:spTgt spid="12"/>
                                        </p:tgtEl>
                                        <p:attrNameLst>
                                          <p:attrName>ppt_x</p:attrName>
                                        </p:attrNameLst>
                                      </p:cBhvr>
                                      <p:tavLst>
                                        <p:tav tm="0">
                                          <p:val>
                                            <p:strVal val="#ppt_x+0.025"/>
                                          </p:val>
                                        </p:tav>
                                        <p:tav tm="100000">
                                          <p:val>
                                            <p:strVal val="#ppt_x"/>
                                          </p:val>
                                        </p:tav>
                                      </p:tavLst>
                                    </p:anim>
                                    <p:animEffect transition="in" filter="fade">
                                      <p:cBhvr>
                                        <p:cTn id="38" dur="9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ground" descr="The ask · How the money flows slide background"/>
          <p:cNvPicPr>
            <a:picLocks noChangeAspect="1"/>
          </p:cNvPicPr>
          <p:nvPr/>
        </p:nvPicPr>
        <p:blipFill>
          <a:blip r:embed="rId2"/>
          <a:stretch>
            <a:fillRect/>
          </a:stretch>
        </p:blipFill>
        <p:spPr>
          <a:xfrm>
            <a:off x="0" y="0"/>
            <a:ext cx="12192000" cy="6858000"/>
          </a:xfrm>
          <a:prstGeom prst="rect">
            <a:avLst/>
          </a:prstGeom>
        </p:spPr>
      </p:pic>
      <p:pic>
        <p:nvPicPr>
          <p:cNvPr id="3" name="00 fade · Pre-seed budget · QAR" descr="Pre-seed budget · QAR"/>
          <p:cNvPicPr>
            <a:picLocks noChangeAspect="1"/>
          </p:cNvPicPr>
          <p:nvPr/>
        </p:nvPicPr>
        <p:blipFill>
          <a:blip r:embed="rId3"/>
          <a:stretch>
            <a:fillRect/>
          </a:stretch>
        </p:blipFill>
        <p:spPr>
          <a:xfrm>
            <a:off x="9239250" y="558800"/>
            <a:ext cx="2292350" cy="546100"/>
          </a:xfrm>
          <a:prstGeom prst="rect">
            <a:avLst/>
          </a:prstGeom>
        </p:spPr>
      </p:pic>
      <p:pic>
        <p:nvPicPr>
          <p:cNvPr id="4" name="01 fade · 16The ask · How the money flow" descr="16The ask · How the money flows"/>
          <p:cNvPicPr>
            <a:picLocks noChangeAspect="1"/>
          </p:cNvPicPr>
          <p:nvPr/>
        </p:nvPicPr>
        <p:blipFill>
          <a:blip r:embed="rId4"/>
          <a:stretch>
            <a:fillRect/>
          </a:stretch>
        </p:blipFill>
        <p:spPr>
          <a:xfrm>
            <a:off x="660400" y="609600"/>
            <a:ext cx="10871200" cy="444500"/>
          </a:xfrm>
          <a:prstGeom prst="rect">
            <a:avLst/>
          </a:prstGeom>
        </p:spPr>
      </p:pic>
      <p:pic>
        <p:nvPicPr>
          <p:cNvPr id="5" name="02 up · Every riyal, from round to lin" descr="Every riyal, from round to line item."/>
          <p:cNvPicPr>
            <a:picLocks noChangeAspect="1"/>
          </p:cNvPicPr>
          <p:nvPr/>
        </p:nvPicPr>
        <p:blipFill>
          <a:blip r:embed="rId5"/>
          <a:stretch>
            <a:fillRect/>
          </a:stretch>
        </p:blipFill>
        <p:spPr>
          <a:xfrm>
            <a:off x="660400" y="977900"/>
            <a:ext cx="9829800" cy="755650"/>
          </a:xfrm>
          <a:prstGeom prst="rect">
            <a:avLst/>
          </a:prstGeom>
        </p:spPr>
      </p:pic>
      <p:pic>
        <p:nvPicPr>
          <p:cNvPr id="6" name="03 fade · graphic" descr=""/>
          <p:cNvPicPr>
            <a:picLocks noChangeAspect="1"/>
          </p:cNvPicPr>
          <p:nvPr/>
        </p:nvPicPr>
        <p:blipFill>
          <a:blip r:embed="rId6"/>
          <a:stretch>
            <a:fillRect/>
          </a:stretch>
        </p:blipFill>
        <p:spPr>
          <a:xfrm>
            <a:off x="2419350" y="1600200"/>
            <a:ext cx="2159000" cy="2463800"/>
          </a:xfrm>
          <a:prstGeom prst="rect">
            <a:avLst/>
          </a:prstGeom>
        </p:spPr>
      </p:pic>
      <p:pic>
        <p:nvPicPr>
          <p:cNvPr id="7" name="04 fade · graphic" descr=""/>
          <p:cNvPicPr>
            <a:picLocks noChangeAspect="1"/>
          </p:cNvPicPr>
          <p:nvPr/>
        </p:nvPicPr>
        <p:blipFill>
          <a:blip r:embed="rId7"/>
          <a:stretch>
            <a:fillRect/>
          </a:stretch>
        </p:blipFill>
        <p:spPr>
          <a:xfrm>
            <a:off x="6115050" y="1600200"/>
            <a:ext cx="1562100" cy="2266950"/>
          </a:xfrm>
          <a:prstGeom prst="rect">
            <a:avLst/>
          </a:prstGeom>
        </p:spPr>
      </p:pic>
      <p:pic>
        <p:nvPicPr>
          <p:cNvPr id="8" name="05 fade · graphic" descr=""/>
          <p:cNvPicPr>
            <a:picLocks noChangeAspect="1"/>
          </p:cNvPicPr>
          <p:nvPr/>
        </p:nvPicPr>
        <p:blipFill>
          <a:blip r:embed="rId8"/>
          <a:stretch>
            <a:fillRect/>
          </a:stretch>
        </p:blipFill>
        <p:spPr>
          <a:xfrm>
            <a:off x="2419350" y="3689350"/>
            <a:ext cx="2159000" cy="1206500"/>
          </a:xfrm>
          <a:prstGeom prst="rect">
            <a:avLst/>
          </a:prstGeom>
        </p:spPr>
      </p:pic>
      <p:pic>
        <p:nvPicPr>
          <p:cNvPr id="9" name="06 fade · graphic" descr=""/>
          <p:cNvPicPr>
            <a:picLocks noChangeAspect="1"/>
          </p:cNvPicPr>
          <p:nvPr/>
        </p:nvPicPr>
        <p:blipFill>
          <a:blip r:embed="rId9"/>
          <a:stretch>
            <a:fillRect/>
          </a:stretch>
        </p:blipFill>
        <p:spPr>
          <a:xfrm>
            <a:off x="6115050" y="3606800"/>
            <a:ext cx="1562100" cy="685800"/>
          </a:xfrm>
          <a:prstGeom prst="rect">
            <a:avLst/>
          </a:prstGeom>
        </p:spPr>
      </p:pic>
      <p:pic>
        <p:nvPicPr>
          <p:cNvPr id="10" name="07 fade · graphic" descr=""/>
          <p:cNvPicPr>
            <a:picLocks noChangeAspect="1"/>
          </p:cNvPicPr>
          <p:nvPr/>
        </p:nvPicPr>
        <p:blipFill>
          <a:blip r:embed="rId10"/>
          <a:stretch>
            <a:fillRect/>
          </a:stretch>
        </p:blipFill>
        <p:spPr>
          <a:xfrm>
            <a:off x="6115050" y="3949700"/>
            <a:ext cx="1562100" cy="527050"/>
          </a:xfrm>
          <a:prstGeom prst="rect">
            <a:avLst/>
          </a:prstGeom>
        </p:spPr>
      </p:pic>
      <p:pic>
        <p:nvPicPr>
          <p:cNvPr id="11" name="08 fade · graphic" descr=""/>
          <p:cNvPicPr>
            <a:picLocks noChangeAspect="1"/>
          </p:cNvPicPr>
          <p:nvPr/>
        </p:nvPicPr>
        <p:blipFill>
          <a:blip r:embed="rId11"/>
          <a:stretch>
            <a:fillRect/>
          </a:stretch>
        </p:blipFill>
        <p:spPr>
          <a:xfrm>
            <a:off x="6115050" y="4165600"/>
            <a:ext cx="1562100" cy="520700"/>
          </a:xfrm>
          <a:prstGeom prst="rect">
            <a:avLst/>
          </a:prstGeom>
        </p:spPr>
      </p:pic>
      <p:pic>
        <p:nvPicPr>
          <p:cNvPr id="12" name="09 fade · graphic" descr=""/>
          <p:cNvPicPr>
            <a:picLocks noChangeAspect="1"/>
          </p:cNvPicPr>
          <p:nvPr/>
        </p:nvPicPr>
        <p:blipFill>
          <a:blip r:embed="rId12"/>
          <a:stretch>
            <a:fillRect/>
          </a:stretch>
        </p:blipFill>
        <p:spPr>
          <a:xfrm>
            <a:off x="6115050" y="4356100"/>
            <a:ext cx="1562100" cy="539750"/>
          </a:xfrm>
          <a:prstGeom prst="rect">
            <a:avLst/>
          </a:prstGeom>
        </p:spPr>
      </p:pic>
      <p:pic>
        <p:nvPicPr>
          <p:cNvPr id="13" name="10 fade · graphic" descr=""/>
          <p:cNvPicPr>
            <a:picLocks noChangeAspect="1"/>
          </p:cNvPicPr>
          <p:nvPr/>
        </p:nvPicPr>
        <p:blipFill>
          <a:blip r:embed="rId13"/>
          <a:stretch>
            <a:fillRect/>
          </a:stretch>
        </p:blipFill>
        <p:spPr>
          <a:xfrm>
            <a:off x="2419350" y="4584700"/>
            <a:ext cx="2159000" cy="762000"/>
          </a:xfrm>
          <a:prstGeom prst="rect">
            <a:avLst/>
          </a:prstGeom>
        </p:spPr>
      </p:pic>
      <p:pic>
        <p:nvPicPr>
          <p:cNvPr id="14" name="11 fade · graphic" descr=""/>
          <p:cNvPicPr>
            <a:picLocks noChangeAspect="1"/>
          </p:cNvPicPr>
          <p:nvPr/>
        </p:nvPicPr>
        <p:blipFill>
          <a:blip r:embed="rId14"/>
          <a:stretch>
            <a:fillRect/>
          </a:stretch>
        </p:blipFill>
        <p:spPr>
          <a:xfrm>
            <a:off x="6115050" y="4635500"/>
            <a:ext cx="1562100" cy="450850"/>
          </a:xfrm>
          <a:prstGeom prst="rect">
            <a:avLst/>
          </a:prstGeom>
        </p:spPr>
      </p:pic>
      <p:pic>
        <p:nvPicPr>
          <p:cNvPr id="15" name="12 fade · graphic" descr=""/>
          <p:cNvPicPr>
            <a:picLocks noChangeAspect="1"/>
          </p:cNvPicPr>
          <p:nvPr/>
        </p:nvPicPr>
        <p:blipFill>
          <a:blip r:embed="rId15"/>
          <a:stretch>
            <a:fillRect/>
          </a:stretch>
        </p:blipFill>
        <p:spPr>
          <a:xfrm>
            <a:off x="6115050" y="4775200"/>
            <a:ext cx="1562100" cy="476250"/>
          </a:xfrm>
          <a:prstGeom prst="rect">
            <a:avLst/>
          </a:prstGeom>
        </p:spPr>
      </p:pic>
      <p:pic>
        <p:nvPicPr>
          <p:cNvPr id="16" name="13 fade · graphic" descr=""/>
          <p:cNvPicPr>
            <a:picLocks noChangeAspect="1"/>
          </p:cNvPicPr>
          <p:nvPr/>
        </p:nvPicPr>
        <p:blipFill>
          <a:blip r:embed="rId16"/>
          <a:stretch>
            <a:fillRect/>
          </a:stretch>
        </p:blipFill>
        <p:spPr>
          <a:xfrm>
            <a:off x="6115050" y="4908550"/>
            <a:ext cx="1562100" cy="520700"/>
          </a:xfrm>
          <a:prstGeom prst="rect">
            <a:avLst/>
          </a:prstGeom>
        </p:spPr>
      </p:pic>
      <p:pic>
        <p:nvPicPr>
          <p:cNvPr id="17" name="14 fade · graphic" descr=""/>
          <p:cNvPicPr>
            <a:picLocks noChangeAspect="1"/>
          </p:cNvPicPr>
          <p:nvPr/>
        </p:nvPicPr>
        <p:blipFill>
          <a:blip r:embed="rId17"/>
          <a:stretch>
            <a:fillRect/>
          </a:stretch>
        </p:blipFill>
        <p:spPr>
          <a:xfrm>
            <a:off x="2419350" y="4965700"/>
            <a:ext cx="2159000" cy="882650"/>
          </a:xfrm>
          <a:prstGeom prst="rect">
            <a:avLst/>
          </a:prstGeom>
        </p:spPr>
      </p:pic>
      <p:pic>
        <p:nvPicPr>
          <p:cNvPr id="18" name="15 fade · graphic" descr=""/>
          <p:cNvPicPr>
            <a:picLocks noChangeAspect="1"/>
          </p:cNvPicPr>
          <p:nvPr/>
        </p:nvPicPr>
        <p:blipFill>
          <a:blip r:embed="rId18"/>
          <a:stretch>
            <a:fillRect/>
          </a:stretch>
        </p:blipFill>
        <p:spPr>
          <a:xfrm>
            <a:off x="6115050" y="5162550"/>
            <a:ext cx="1562100" cy="685800"/>
          </a:xfrm>
          <a:prstGeom prst="rect">
            <a:avLst/>
          </a:prstGeom>
        </p:spPr>
      </p:pic>
      <p:pic>
        <p:nvPicPr>
          <p:cNvPr id="19" name="16 up · Engineering teamQAR 1,020,000" descr="Engineering teamQAR 1,020,000"/>
          <p:cNvPicPr>
            <a:picLocks noChangeAspect="1"/>
          </p:cNvPicPr>
          <p:nvPr/>
        </p:nvPicPr>
        <p:blipFill>
          <a:blip r:embed="rId19"/>
          <a:stretch>
            <a:fillRect/>
          </a:stretch>
        </p:blipFill>
        <p:spPr>
          <a:xfrm>
            <a:off x="4267200" y="1600200"/>
            <a:ext cx="2159000" cy="2266950"/>
          </a:xfrm>
          <a:prstGeom prst="rect">
            <a:avLst/>
          </a:prstGeom>
        </p:spPr>
      </p:pic>
      <p:pic>
        <p:nvPicPr>
          <p:cNvPr id="20" name="17 fade · graphic" descr=""/>
          <p:cNvPicPr>
            <a:picLocks noChangeAspect="1"/>
          </p:cNvPicPr>
          <p:nvPr/>
        </p:nvPicPr>
        <p:blipFill>
          <a:blip r:embed="rId20"/>
          <a:stretch>
            <a:fillRect/>
          </a:stretch>
        </p:blipFill>
        <p:spPr>
          <a:xfrm>
            <a:off x="7366000" y="1600200"/>
            <a:ext cx="412750" cy="2266950"/>
          </a:xfrm>
          <a:prstGeom prst="rect">
            <a:avLst/>
          </a:prstGeom>
        </p:spPr>
      </p:pic>
      <p:pic>
        <p:nvPicPr>
          <p:cNvPr id="21" name="18 up · Hardware &amp; platformQAR 435,000" descr="Hardware &amp; platformQAR 435,000"/>
          <p:cNvPicPr>
            <a:picLocks noChangeAspect="1"/>
          </p:cNvPicPr>
          <p:nvPr/>
        </p:nvPicPr>
        <p:blipFill>
          <a:blip r:embed="rId21"/>
          <a:stretch>
            <a:fillRect/>
          </a:stretch>
        </p:blipFill>
        <p:spPr>
          <a:xfrm>
            <a:off x="4267200" y="3689350"/>
            <a:ext cx="2159000" cy="1143000"/>
          </a:xfrm>
          <a:prstGeom prst="rect">
            <a:avLst/>
          </a:prstGeom>
        </p:spPr>
      </p:pic>
      <p:pic>
        <p:nvPicPr>
          <p:cNvPr id="22" name="19 fade · graphic" descr=""/>
          <p:cNvPicPr>
            <a:picLocks noChangeAspect="1"/>
          </p:cNvPicPr>
          <p:nvPr/>
        </p:nvPicPr>
        <p:blipFill>
          <a:blip r:embed="rId22"/>
          <a:stretch>
            <a:fillRect/>
          </a:stretch>
        </p:blipFill>
        <p:spPr>
          <a:xfrm>
            <a:off x="7366000" y="3606800"/>
            <a:ext cx="412750" cy="603250"/>
          </a:xfrm>
          <a:prstGeom prst="rect">
            <a:avLst/>
          </a:prstGeom>
        </p:spPr>
      </p:pic>
      <p:pic>
        <p:nvPicPr>
          <p:cNvPr id="23" name="20 fade · graphic" descr=""/>
          <p:cNvPicPr>
            <a:picLocks noChangeAspect="1"/>
          </p:cNvPicPr>
          <p:nvPr/>
        </p:nvPicPr>
        <p:blipFill>
          <a:blip r:embed="rId23"/>
          <a:stretch>
            <a:fillRect/>
          </a:stretch>
        </p:blipFill>
        <p:spPr>
          <a:xfrm>
            <a:off x="7366000" y="3949700"/>
            <a:ext cx="412750" cy="495300"/>
          </a:xfrm>
          <a:prstGeom prst="rect">
            <a:avLst/>
          </a:prstGeom>
        </p:spPr>
      </p:pic>
      <p:pic>
        <p:nvPicPr>
          <p:cNvPr id="24" name="21 fade · graphic" descr=""/>
          <p:cNvPicPr>
            <a:picLocks noChangeAspect="1"/>
          </p:cNvPicPr>
          <p:nvPr/>
        </p:nvPicPr>
        <p:blipFill>
          <a:blip r:embed="rId24"/>
          <a:stretch>
            <a:fillRect/>
          </a:stretch>
        </p:blipFill>
        <p:spPr>
          <a:xfrm>
            <a:off x="7366000" y="4184650"/>
            <a:ext cx="412750" cy="501650"/>
          </a:xfrm>
          <a:prstGeom prst="rect">
            <a:avLst/>
          </a:prstGeom>
        </p:spPr>
      </p:pic>
      <p:pic>
        <p:nvPicPr>
          <p:cNvPr id="25" name="22 fade · graphic" descr=""/>
          <p:cNvPicPr>
            <a:picLocks noChangeAspect="1"/>
          </p:cNvPicPr>
          <p:nvPr/>
        </p:nvPicPr>
        <p:blipFill>
          <a:blip r:embed="rId25"/>
          <a:stretch>
            <a:fillRect/>
          </a:stretch>
        </p:blipFill>
        <p:spPr>
          <a:xfrm>
            <a:off x="7366000" y="4419600"/>
            <a:ext cx="412750" cy="476250"/>
          </a:xfrm>
          <a:prstGeom prst="rect">
            <a:avLst/>
          </a:prstGeom>
        </p:spPr>
      </p:pic>
      <p:pic>
        <p:nvPicPr>
          <p:cNvPr id="26" name="23 up · Validation &amp; go-to-marketQAR 2" descr="Validation &amp; go-to-marketQAR 200,000"/>
          <p:cNvPicPr>
            <a:picLocks noChangeAspect="1"/>
          </p:cNvPicPr>
          <p:nvPr/>
        </p:nvPicPr>
        <p:blipFill>
          <a:blip r:embed="rId26"/>
          <a:stretch>
            <a:fillRect/>
          </a:stretch>
        </p:blipFill>
        <p:spPr>
          <a:xfrm>
            <a:off x="4267200" y="4648200"/>
            <a:ext cx="2159000" cy="698500"/>
          </a:xfrm>
          <a:prstGeom prst="rect">
            <a:avLst/>
          </a:prstGeom>
        </p:spPr>
      </p:pic>
      <p:pic>
        <p:nvPicPr>
          <p:cNvPr id="27" name="24 fade · graphic" descr=""/>
          <p:cNvPicPr>
            <a:picLocks noChangeAspect="1"/>
          </p:cNvPicPr>
          <p:nvPr/>
        </p:nvPicPr>
        <p:blipFill>
          <a:blip r:embed="rId27"/>
          <a:stretch>
            <a:fillRect/>
          </a:stretch>
        </p:blipFill>
        <p:spPr>
          <a:xfrm>
            <a:off x="7366000" y="4635500"/>
            <a:ext cx="412750" cy="431800"/>
          </a:xfrm>
          <a:prstGeom prst="rect">
            <a:avLst/>
          </a:prstGeom>
        </p:spPr>
      </p:pic>
      <p:pic>
        <p:nvPicPr>
          <p:cNvPr id="28" name="25 fade · graphic" descr=""/>
          <p:cNvPicPr>
            <a:picLocks noChangeAspect="1"/>
          </p:cNvPicPr>
          <p:nvPr/>
        </p:nvPicPr>
        <p:blipFill>
          <a:blip r:embed="rId28"/>
          <a:stretch>
            <a:fillRect/>
          </a:stretch>
        </p:blipFill>
        <p:spPr>
          <a:xfrm>
            <a:off x="7366000" y="4806950"/>
            <a:ext cx="412750" cy="444500"/>
          </a:xfrm>
          <a:prstGeom prst="rect">
            <a:avLst/>
          </a:prstGeom>
        </p:spPr>
      </p:pic>
      <p:pic>
        <p:nvPicPr>
          <p:cNvPr id="29" name="26 fade · graphic" descr=""/>
          <p:cNvPicPr>
            <a:picLocks noChangeAspect="1"/>
          </p:cNvPicPr>
          <p:nvPr/>
        </p:nvPicPr>
        <p:blipFill>
          <a:blip r:embed="rId29"/>
          <a:stretch>
            <a:fillRect/>
          </a:stretch>
        </p:blipFill>
        <p:spPr>
          <a:xfrm>
            <a:off x="7366000" y="4991100"/>
            <a:ext cx="412750" cy="438150"/>
          </a:xfrm>
          <a:prstGeom prst="rect">
            <a:avLst/>
          </a:prstGeom>
        </p:spPr>
      </p:pic>
      <p:pic>
        <p:nvPicPr>
          <p:cNvPr id="30" name="27 up · ContingencyQAR 195,000" descr="ContingencyQAR 195,000"/>
          <p:cNvPicPr>
            <a:picLocks noChangeAspect="1"/>
          </p:cNvPicPr>
          <p:nvPr/>
        </p:nvPicPr>
        <p:blipFill>
          <a:blip r:embed="rId30"/>
          <a:stretch>
            <a:fillRect/>
          </a:stretch>
        </p:blipFill>
        <p:spPr>
          <a:xfrm>
            <a:off x="4267200" y="5162550"/>
            <a:ext cx="2159000" cy="685800"/>
          </a:xfrm>
          <a:prstGeom prst="rect">
            <a:avLst/>
          </a:prstGeom>
        </p:spPr>
      </p:pic>
      <p:pic>
        <p:nvPicPr>
          <p:cNvPr id="31" name="28 fade · graphic" descr=""/>
          <p:cNvPicPr>
            <a:picLocks noChangeAspect="1"/>
          </p:cNvPicPr>
          <p:nvPr/>
        </p:nvPicPr>
        <p:blipFill>
          <a:blip r:embed="rId31"/>
          <a:stretch>
            <a:fillRect/>
          </a:stretch>
        </p:blipFill>
        <p:spPr>
          <a:xfrm>
            <a:off x="7366000" y="5162550"/>
            <a:ext cx="412750" cy="685800"/>
          </a:xfrm>
          <a:prstGeom prst="rect">
            <a:avLst/>
          </a:prstGeom>
        </p:spPr>
      </p:pic>
      <p:pic>
        <p:nvPicPr>
          <p:cNvPr id="32" name="29 fade · Core five-person team1,020,000" descr="Core five-person team1,020,00055.1%"/>
          <p:cNvPicPr>
            <a:picLocks noChangeAspect="1"/>
          </p:cNvPicPr>
          <p:nvPr/>
        </p:nvPicPr>
        <p:blipFill>
          <a:blip r:embed="rId32"/>
          <a:stretch>
            <a:fillRect/>
          </a:stretch>
        </p:blipFill>
        <p:spPr>
          <a:xfrm>
            <a:off x="7562850" y="2489200"/>
            <a:ext cx="3810000" cy="482600"/>
          </a:xfrm>
          <a:prstGeom prst="rect">
            <a:avLst/>
          </a:prstGeom>
        </p:spPr>
      </p:pic>
      <p:pic>
        <p:nvPicPr>
          <p:cNvPr id="33" name="30 fade · Sensors, edge equipment155,000" descr="Sensors, edge equipment155,0008.4%"/>
          <p:cNvPicPr>
            <a:picLocks noChangeAspect="1"/>
          </p:cNvPicPr>
          <p:nvPr/>
        </p:nvPicPr>
        <p:blipFill>
          <a:blip r:embed="rId33"/>
          <a:stretch>
            <a:fillRect/>
          </a:stretch>
        </p:blipFill>
        <p:spPr>
          <a:xfrm>
            <a:off x="7562850" y="3663950"/>
            <a:ext cx="3810000" cy="482600"/>
          </a:xfrm>
          <a:prstGeom prst="rect">
            <a:avLst/>
          </a:prstGeom>
        </p:spPr>
      </p:pic>
      <p:pic>
        <p:nvPicPr>
          <p:cNvPr id="34" name="31 fade · Deployment, calibration95,0005" descr="Deployment, calibration95,0005.1%"/>
          <p:cNvPicPr>
            <a:picLocks noChangeAspect="1"/>
          </p:cNvPicPr>
          <p:nvPr/>
        </p:nvPicPr>
        <p:blipFill>
          <a:blip r:embed="rId34"/>
          <a:stretch>
            <a:fillRect/>
          </a:stretch>
        </p:blipFill>
        <p:spPr>
          <a:xfrm>
            <a:off x="7562850" y="3949700"/>
            <a:ext cx="3810000" cy="482600"/>
          </a:xfrm>
          <a:prstGeom prst="rect">
            <a:avLst/>
          </a:prstGeom>
        </p:spPr>
      </p:pic>
      <p:pic>
        <p:nvPicPr>
          <p:cNvPr id="35" name="32 fade · Cloud, data, security100,0005." descr="Cloud, data, security100,0005.4%"/>
          <p:cNvPicPr>
            <a:picLocks noChangeAspect="1"/>
          </p:cNvPicPr>
          <p:nvPr/>
        </p:nvPicPr>
        <p:blipFill>
          <a:blip r:embed="rId35"/>
          <a:stretch>
            <a:fillRect/>
          </a:stretch>
        </p:blipFill>
        <p:spPr>
          <a:xfrm>
            <a:off x="7562850" y="4184650"/>
            <a:ext cx="3810000" cy="482600"/>
          </a:xfrm>
          <a:prstGeom prst="rect">
            <a:avLst/>
          </a:prstGeom>
        </p:spPr>
      </p:pic>
      <p:pic>
        <p:nvPicPr>
          <p:cNvPr id="36" name="33 fade · Enterprise integration85,0004." descr="Enterprise integration85,0004.6%"/>
          <p:cNvPicPr>
            <a:picLocks noChangeAspect="1"/>
          </p:cNvPicPr>
          <p:nvPr/>
        </p:nvPicPr>
        <p:blipFill>
          <a:blip r:embed="rId36"/>
          <a:stretch>
            <a:fillRect/>
          </a:stretch>
        </p:blipFill>
        <p:spPr>
          <a:xfrm>
            <a:off x="7562850" y="4413250"/>
            <a:ext cx="3810000" cy="482600"/>
          </a:xfrm>
          <a:prstGeom prst="rect">
            <a:avLst/>
          </a:prstGeom>
        </p:spPr>
      </p:pic>
      <p:pic>
        <p:nvPicPr>
          <p:cNvPr id="37" name="34 fade · Food-domain validation65,0003." descr="Food-domain validation65,0003.5%"/>
          <p:cNvPicPr>
            <a:picLocks noChangeAspect="1"/>
          </p:cNvPicPr>
          <p:nvPr/>
        </p:nvPicPr>
        <p:blipFill>
          <a:blip r:embed="rId37"/>
          <a:stretch>
            <a:fillRect/>
          </a:stretch>
        </p:blipFill>
        <p:spPr>
          <a:xfrm>
            <a:off x="7562850" y="4603750"/>
            <a:ext cx="3810000" cy="482600"/>
          </a:xfrm>
          <a:prstGeom prst="rect">
            <a:avLst/>
          </a:prstGeom>
        </p:spPr>
      </p:pic>
      <p:pic>
        <p:nvPicPr>
          <p:cNvPr id="38" name="35 fade · Customer development70,0003.8%" descr="Customer development70,0003.8%"/>
          <p:cNvPicPr>
            <a:picLocks noChangeAspect="1"/>
          </p:cNvPicPr>
          <p:nvPr/>
        </p:nvPicPr>
        <p:blipFill>
          <a:blip r:embed="rId38"/>
          <a:stretch>
            <a:fillRect/>
          </a:stretch>
        </p:blipFill>
        <p:spPr>
          <a:xfrm>
            <a:off x="7562850" y="4787900"/>
            <a:ext cx="3810000" cy="482600"/>
          </a:xfrm>
          <a:prstGeom prst="rect">
            <a:avLst/>
          </a:prstGeom>
        </p:spPr>
      </p:pic>
      <p:pic>
        <p:nvPicPr>
          <p:cNvPr id="39" name="36 fade · Legal, IP, readiness65,0003.5%" descr="Legal, IP, readiness65,0003.5%"/>
          <p:cNvPicPr>
            <a:picLocks noChangeAspect="1"/>
          </p:cNvPicPr>
          <p:nvPr/>
        </p:nvPicPr>
        <p:blipFill>
          <a:blip r:embed="rId39"/>
          <a:stretch>
            <a:fillRect/>
          </a:stretch>
        </p:blipFill>
        <p:spPr>
          <a:xfrm>
            <a:off x="7562850" y="4965700"/>
            <a:ext cx="3810000" cy="482600"/>
          </a:xfrm>
          <a:prstGeom prst="rect">
            <a:avLst/>
          </a:prstGeom>
        </p:spPr>
      </p:pic>
      <p:pic>
        <p:nvPicPr>
          <p:cNvPr id="40" name="37 fade · Contingency reserve195,00010.5" descr="Contingency reserve195,00010.5%"/>
          <p:cNvPicPr>
            <a:picLocks noChangeAspect="1"/>
          </p:cNvPicPr>
          <p:nvPr/>
        </p:nvPicPr>
        <p:blipFill>
          <a:blip r:embed="rId40"/>
          <a:stretch>
            <a:fillRect/>
          </a:stretch>
        </p:blipFill>
        <p:spPr>
          <a:xfrm>
            <a:off x="7562850" y="5264150"/>
            <a:ext cx="3810000" cy="482600"/>
          </a:xfrm>
          <a:prstGeom prst="rect">
            <a:avLst/>
          </a:prstGeom>
        </p:spPr>
      </p:pic>
      <p:pic>
        <p:nvPicPr>
          <p:cNvPr id="41" name="38 fade · PRE-SEED ROUNDQAR 1.85M≈ US$50" descr="PRE-SEED ROUNDQAR 1.85M≈ US$508K · 12 mo"/>
          <p:cNvPicPr>
            <a:picLocks noChangeAspect="1"/>
          </p:cNvPicPr>
          <p:nvPr/>
        </p:nvPicPr>
        <p:blipFill>
          <a:blip r:embed="rId41"/>
          <a:stretch>
            <a:fillRect/>
          </a:stretch>
        </p:blipFill>
        <p:spPr>
          <a:xfrm>
            <a:off x="825500" y="3340100"/>
            <a:ext cx="1568450" cy="92710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4" presetID="10" presetClass="entr" presetSubtype="0" fill="hold" decel="100000" nodeType="withEffect">
                                  <p:stCondLst>
                                    <p:cond delay="200"/>
                                  </p:stCondLst>
                                  <p:childTnLst>
                                    <p:set>
                                      <p:cBhvr>
                                        <p:cTn id="5" dur="1" fill="hold">
                                          <p:stCondLst>
                                            <p:cond delay="0"/>
                                          </p:stCondLst>
                                        </p:cTn>
                                        <p:tgtEl>
                                          <p:spTgt spid="3"/>
                                        </p:tgtEl>
                                        <p:attrNameLst>
                                          <p:attrName>style.visibility</p:attrName>
                                        </p:attrNameLst>
                                      </p:cBhvr>
                                      <p:to>
                                        <p:strVal val="visible"/>
                                      </p:to>
                                    </p:set>
                                    <p:animEffect transition="in" filter="fade">
                                      <p:cBhvr>
                                        <p:cTn id="3" dur="900"/>
                                        <p:tgtEl>
                                          <p:spTgt spid="3"/>
                                        </p:tgtEl>
                                      </p:cBhvr>
                                    </p:animEffect>
                                  </p:childTnLst>
                                </p:cTn>
                              </p:par>
                              <p:par>
                                <p:cTn id="7" presetID="10" presetClass="entr" presetSubtype="0" fill="hold" decel="100000" nodeType="withEffect">
                                  <p:stCondLst>
                                    <p:cond delay="0"/>
                                  </p:stCondLst>
                                  <p:childTnLst>
                                    <p:set>
                                      <p:cBhvr>
                                        <p:cTn id="8" dur="1" fill="hold">
                                          <p:stCondLst>
                                            <p:cond delay="0"/>
                                          </p:stCondLst>
                                        </p:cTn>
                                        <p:tgtEl>
                                          <p:spTgt spid="4"/>
                                        </p:tgtEl>
                                        <p:attrNameLst>
                                          <p:attrName>style.visibility</p:attrName>
                                        </p:attrNameLst>
                                      </p:cBhvr>
                                      <p:to>
                                        <p:strVal val="visible"/>
                                      </p:to>
                                    </p:set>
                                    <p:animEffect transition="in" filter="fade">
                                      <p:cBhvr>
                                        <p:cTn id="6" dur="900"/>
                                        <p:tgtEl>
                                          <p:spTgt spid="4"/>
                                        </p:tgtEl>
                                      </p:cBhvr>
                                    </p:animEffect>
                                  </p:childTnLst>
                                </p:cTn>
                              </p:par>
                              <p:par>
                                <p:cTn id="11" presetID="2" presetClass="entr" presetSubtype="4" fill="hold" decel="100000" nodeType="withEffect">
                                  <p:stCondLst>
                                    <p:cond delay="120"/>
                                  </p:stCondLst>
                                  <p:childTnLst>
                                    <p:set>
                                      <p:cBhvr>
                                        <p:cTn id="12" dur="1" fill="hold">
                                          <p:stCondLst>
                                            <p:cond delay="0"/>
                                          </p:stCondLst>
                                        </p:cTn>
                                        <p:tgtEl>
                                          <p:spTgt spid="5"/>
                                        </p:tgtEl>
                                        <p:attrNameLst>
                                          <p:attrName>style.visibility</p:attrName>
                                        </p:attrNameLst>
                                      </p:cBhvr>
                                      <p:to>
                                        <p:strVal val="visible"/>
                                      </p:to>
                                    </p:set>
                                    <p:anim calcmode="lin" valueType="num">
                                      <p:cBhvr additive="base">
                                        <p:cTn id="9" dur="900" fill="hold"/>
                                        <p:tgtEl>
                                          <p:spTgt spid="5"/>
                                        </p:tgtEl>
                                        <p:attrNameLst>
                                          <p:attrName>ppt_y</p:attrName>
                                        </p:attrNameLst>
                                      </p:cBhvr>
                                      <p:tavLst>
                                        <p:tav tm="0">
                                          <p:val>
                                            <p:strVal val="#ppt_y+0.03"/>
                                          </p:val>
                                        </p:tav>
                                        <p:tav tm="100000">
                                          <p:val>
                                            <p:strVal val="#ppt_y"/>
                                          </p:val>
                                        </p:tav>
                                      </p:tavLst>
                                    </p:anim>
                                    <p:animEffect transition="in" filter="fade">
                                      <p:cBhvr>
                                        <p:cTn id="10" dur="900"/>
                                        <p:tgtEl>
                                          <p:spTgt spid="5"/>
                                        </p:tgtEl>
                                      </p:cBhvr>
                                    </p:animEffect>
                                  </p:childTnLst>
                                </p:cTn>
                              </p:par>
                              <p:par>
                                <p:cTn id="14" presetID="10" presetClass="entr" presetSubtype="0" fill="hold" decel="100000" nodeType="withEffect">
                                  <p:stCondLst>
                                    <p:cond delay="400"/>
                                  </p:stCondLst>
                                  <p:childTnLst>
                                    <p:set>
                                      <p:cBhvr>
                                        <p:cTn id="15" dur="1" fill="hold">
                                          <p:stCondLst>
                                            <p:cond delay="0"/>
                                          </p:stCondLst>
                                        </p:cTn>
                                        <p:tgtEl>
                                          <p:spTgt spid="6"/>
                                        </p:tgtEl>
                                        <p:attrNameLst>
                                          <p:attrName>style.visibility</p:attrName>
                                        </p:attrNameLst>
                                      </p:cBhvr>
                                      <p:to>
                                        <p:strVal val="visible"/>
                                      </p:to>
                                    </p:set>
                                    <p:animEffect transition="in" filter="fade">
                                      <p:cBhvr>
                                        <p:cTn id="13" dur="900"/>
                                        <p:tgtEl>
                                          <p:spTgt spid="6"/>
                                        </p:tgtEl>
                                      </p:cBhvr>
                                    </p:animEffect>
                                  </p:childTnLst>
                                </p:cTn>
                              </p:par>
                              <p:par>
                                <p:cTn id="17" presetID="10" presetClass="entr" presetSubtype="0" fill="hold" decel="100000" nodeType="withEffect">
                                  <p:stCondLst>
                                    <p:cond delay="700"/>
                                  </p:stCondLst>
                                  <p:childTnLst>
                                    <p:set>
                                      <p:cBhvr>
                                        <p:cTn id="18" dur="1" fill="hold">
                                          <p:stCondLst>
                                            <p:cond delay="0"/>
                                          </p:stCondLst>
                                        </p:cTn>
                                        <p:tgtEl>
                                          <p:spTgt spid="7"/>
                                        </p:tgtEl>
                                        <p:attrNameLst>
                                          <p:attrName>style.visibility</p:attrName>
                                        </p:attrNameLst>
                                      </p:cBhvr>
                                      <p:to>
                                        <p:strVal val="visible"/>
                                      </p:to>
                                    </p:set>
                                    <p:animEffect transition="in" filter="fade">
                                      <p:cBhvr>
                                        <p:cTn id="16" dur="900"/>
                                        <p:tgtEl>
                                          <p:spTgt spid="7"/>
                                        </p:tgtEl>
                                      </p:cBhvr>
                                    </p:animEffect>
                                  </p:childTnLst>
                                </p:cTn>
                              </p:par>
                              <p:par>
                                <p:cTn id="20" presetID="10" presetClass="entr" presetSubtype="0" fill="hold" decel="100000" nodeType="withEffect">
                                  <p:stCondLst>
                                    <p:cond delay="520"/>
                                  </p:stCondLst>
                                  <p:childTnLst>
                                    <p:set>
                                      <p:cBhvr>
                                        <p:cTn id="21" dur="1" fill="hold">
                                          <p:stCondLst>
                                            <p:cond delay="0"/>
                                          </p:stCondLst>
                                        </p:cTn>
                                        <p:tgtEl>
                                          <p:spTgt spid="8"/>
                                        </p:tgtEl>
                                        <p:attrNameLst>
                                          <p:attrName>style.visibility</p:attrName>
                                        </p:attrNameLst>
                                      </p:cBhvr>
                                      <p:to>
                                        <p:strVal val="visible"/>
                                      </p:to>
                                    </p:set>
                                    <p:animEffect transition="in" filter="fade">
                                      <p:cBhvr>
                                        <p:cTn id="19" dur="900"/>
                                        <p:tgtEl>
                                          <p:spTgt spid="8"/>
                                        </p:tgtEl>
                                      </p:cBhvr>
                                    </p:animEffect>
                                  </p:childTnLst>
                                </p:cTn>
                              </p:par>
                              <p:par>
                                <p:cTn id="23" presetID="10" presetClass="entr" presetSubtype="0" fill="hold" decel="100000" nodeType="withEffect">
                                  <p:stCondLst>
                                    <p:cond delay="820"/>
                                  </p:stCondLst>
                                  <p:childTnLst>
                                    <p:set>
                                      <p:cBhvr>
                                        <p:cTn id="24" dur="1" fill="hold">
                                          <p:stCondLst>
                                            <p:cond delay="0"/>
                                          </p:stCondLst>
                                        </p:cTn>
                                        <p:tgtEl>
                                          <p:spTgt spid="9"/>
                                        </p:tgtEl>
                                        <p:attrNameLst>
                                          <p:attrName>style.visibility</p:attrName>
                                        </p:attrNameLst>
                                      </p:cBhvr>
                                      <p:to>
                                        <p:strVal val="visible"/>
                                      </p:to>
                                    </p:set>
                                    <p:animEffect transition="in" filter="fade">
                                      <p:cBhvr>
                                        <p:cTn id="22" dur="900"/>
                                        <p:tgtEl>
                                          <p:spTgt spid="9"/>
                                        </p:tgtEl>
                                      </p:cBhvr>
                                    </p:animEffect>
                                  </p:childTnLst>
                                </p:cTn>
                              </p:par>
                              <p:par>
                                <p:cTn id="26" presetID="10" presetClass="entr" presetSubtype="0" fill="hold" decel="100000" nodeType="withEffect">
                                  <p:stCondLst>
                                    <p:cond delay="820"/>
                                  </p:stCondLst>
                                  <p:childTnLst>
                                    <p:set>
                                      <p:cBhvr>
                                        <p:cTn id="27" dur="1" fill="hold">
                                          <p:stCondLst>
                                            <p:cond delay="0"/>
                                          </p:stCondLst>
                                        </p:cTn>
                                        <p:tgtEl>
                                          <p:spTgt spid="10"/>
                                        </p:tgtEl>
                                        <p:attrNameLst>
                                          <p:attrName>style.visibility</p:attrName>
                                        </p:attrNameLst>
                                      </p:cBhvr>
                                      <p:to>
                                        <p:strVal val="visible"/>
                                      </p:to>
                                    </p:set>
                                    <p:animEffect transition="in" filter="fade">
                                      <p:cBhvr>
                                        <p:cTn id="25" dur="900"/>
                                        <p:tgtEl>
                                          <p:spTgt spid="10"/>
                                        </p:tgtEl>
                                      </p:cBhvr>
                                    </p:animEffect>
                                  </p:childTnLst>
                                </p:cTn>
                              </p:par>
                              <p:par>
                                <p:cTn id="29" presetID="10" presetClass="entr" presetSubtype="0" fill="hold" decel="100000" nodeType="withEffect">
                                  <p:stCondLst>
                                    <p:cond delay="820"/>
                                  </p:stCondLst>
                                  <p:childTnLst>
                                    <p:set>
                                      <p:cBhvr>
                                        <p:cTn id="30" dur="1" fill="hold">
                                          <p:stCondLst>
                                            <p:cond delay="0"/>
                                          </p:stCondLst>
                                        </p:cTn>
                                        <p:tgtEl>
                                          <p:spTgt spid="11"/>
                                        </p:tgtEl>
                                        <p:attrNameLst>
                                          <p:attrName>style.visibility</p:attrName>
                                        </p:attrNameLst>
                                      </p:cBhvr>
                                      <p:to>
                                        <p:strVal val="visible"/>
                                      </p:to>
                                    </p:set>
                                    <p:animEffect transition="in" filter="fade">
                                      <p:cBhvr>
                                        <p:cTn id="28" dur="900"/>
                                        <p:tgtEl>
                                          <p:spTgt spid="11"/>
                                        </p:tgtEl>
                                      </p:cBhvr>
                                    </p:animEffect>
                                  </p:childTnLst>
                                </p:cTn>
                              </p:par>
                              <p:par>
                                <p:cTn id="32" presetID="10" presetClass="entr" presetSubtype="0" fill="hold" decel="100000" nodeType="withEffect">
                                  <p:stCondLst>
                                    <p:cond delay="820"/>
                                  </p:stCondLst>
                                  <p:childTnLst>
                                    <p:set>
                                      <p:cBhvr>
                                        <p:cTn id="33" dur="1" fill="hold">
                                          <p:stCondLst>
                                            <p:cond delay="0"/>
                                          </p:stCondLst>
                                        </p:cTn>
                                        <p:tgtEl>
                                          <p:spTgt spid="12"/>
                                        </p:tgtEl>
                                        <p:attrNameLst>
                                          <p:attrName>style.visibility</p:attrName>
                                        </p:attrNameLst>
                                      </p:cBhvr>
                                      <p:to>
                                        <p:strVal val="visible"/>
                                      </p:to>
                                    </p:set>
                                    <p:animEffect transition="in" filter="fade">
                                      <p:cBhvr>
                                        <p:cTn id="31" dur="900"/>
                                        <p:tgtEl>
                                          <p:spTgt spid="12"/>
                                        </p:tgtEl>
                                      </p:cBhvr>
                                    </p:animEffect>
                                  </p:childTnLst>
                                </p:cTn>
                              </p:par>
                              <p:par>
                                <p:cTn id="35" presetID="10" presetClass="entr" presetSubtype="0" fill="hold" decel="100000" nodeType="withEffect">
                                  <p:stCondLst>
                                    <p:cond delay="640"/>
                                  </p:stCondLst>
                                  <p:childTnLst>
                                    <p:set>
                                      <p:cBhvr>
                                        <p:cTn id="36" dur="1" fill="hold">
                                          <p:stCondLst>
                                            <p:cond delay="0"/>
                                          </p:stCondLst>
                                        </p:cTn>
                                        <p:tgtEl>
                                          <p:spTgt spid="13"/>
                                        </p:tgtEl>
                                        <p:attrNameLst>
                                          <p:attrName>style.visibility</p:attrName>
                                        </p:attrNameLst>
                                      </p:cBhvr>
                                      <p:to>
                                        <p:strVal val="visible"/>
                                      </p:to>
                                    </p:set>
                                    <p:animEffect transition="in" filter="fade">
                                      <p:cBhvr>
                                        <p:cTn id="34" dur="900"/>
                                        <p:tgtEl>
                                          <p:spTgt spid="13"/>
                                        </p:tgtEl>
                                      </p:cBhvr>
                                    </p:animEffect>
                                  </p:childTnLst>
                                </p:cTn>
                              </p:par>
                              <p:par>
                                <p:cTn id="38" presetID="10" presetClass="entr" presetSubtype="0" fill="hold" decel="100000" nodeType="withEffect">
                                  <p:stCondLst>
                                    <p:cond delay="940"/>
                                  </p:stCondLst>
                                  <p:childTnLst>
                                    <p:set>
                                      <p:cBhvr>
                                        <p:cTn id="39" dur="1" fill="hold">
                                          <p:stCondLst>
                                            <p:cond delay="0"/>
                                          </p:stCondLst>
                                        </p:cTn>
                                        <p:tgtEl>
                                          <p:spTgt spid="14"/>
                                        </p:tgtEl>
                                        <p:attrNameLst>
                                          <p:attrName>style.visibility</p:attrName>
                                        </p:attrNameLst>
                                      </p:cBhvr>
                                      <p:to>
                                        <p:strVal val="visible"/>
                                      </p:to>
                                    </p:set>
                                    <p:animEffect transition="in" filter="fade">
                                      <p:cBhvr>
                                        <p:cTn id="37" dur="900"/>
                                        <p:tgtEl>
                                          <p:spTgt spid="14"/>
                                        </p:tgtEl>
                                      </p:cBhvr>
                                    </p:animEffect>
                                  </p:childTnLst>
                                </p:cTn>
                              </p:par>
                              <p:par>
                                <p:cTn id="41" presetID="10" presetClass="entr" presetSubtype="0" fill="hold" decel="100000" nodeType="withEffect">
                                  <p:stCondLst>
                                    <p:cond delay="940"/>
                                  </p:stCondLst>
                                  <p:childTnLst>
                                    <p:set>
                                      <p:cBhvr>
                                        <p:cTn id="42" dur="1" fill="hold">
                                          <p:stCondLst>
                                            <p:cond delay="0"/>
                                          </p:stCondLst>
                                        </p:cTn>
                                        <p:tgtEl>
                                          <p:spTgt spid="15"/>
                                        </p:tgtEl>
                                        <p:attrNameLst>
                                          <p:attrName>style.visibility</p:attrName>
                                        </p:attrNameLst>
                                      </p:cBhvr>
                                      <p:to>
                                        <p:strVal val="visible"/>
                                      </p:to>
                                    </p:set>
                                    <p:animEffect transition="in" filter="fade">
                                      <p:cBhvr>
                                        <p:cTn id="40" dur="900"/>
                                        <p:tgtEl>
                                          <p:spTgt spid="15"/>
                                        </p:tgtEl>
                                      </p:cBhvr>
                                    </p:animEffect>
                                  </p:childTnLst>
                                </p:cTn>
                              </p:par>
                              <p:par>
                                <p:cTn id="44" presetID="10" presetClass="entr" presetSubtype="0" fill="hold" decel="100000" nodeType="withEffect">
                                  <p:stCondLst>
                                    <p:cond delay="940"/>
                                  </p:stCondLst>
                                  <p:childTnLst>
                                    <p:set>
                                      <p:cBhvr>
                                        <p:cTn id="45" dur="1" fill="hold">
                                          <p:stCondLst>
                                            <p:cond delay="0"/>
                                          </p:stCondLst>
                                        </p:cTn>
                                        <p:tgtEl>
                                          <p:spTgt spid="16"/>
                                        </p:tgtEl>
                                        <p:attrNameLst>
                                          <p:attrName>style.visibility</p:attrName>
                                        </p:attrNameLst>
                                      </p:cBhvr>
                                      <p:to>
                                        <p:strVal val="visible"/>
                                      </p:to>
                                    </p:set>
                                    <p:animEffect transition="in" filter="fade">
                                      <p:cBhvr>
                                        <p:cTn id="43" dur="900"/>
                                        <p:tgtEl>
                                          <p:spTgt spid="16"/>
                                        </p:tgtEl>
                                      </p:cBhvr>
                                    </p:animEffect>
                                  </p:childTnLst>
                                </p:cTn>
                              </p:par>
                              <p:par>
                                <p:cTn id="47" presetID="10" presetClass="entr" presetSubtype="0" fill="hold" decel="100000" nodeType="withEffect">
                                  <p:stCondLst>
                                    <p:cond delay="760"/>
                                  </p:stCondLst>
                                  <p:childTnLst>
                                    <p:set>
                                      <p:cBhvr>
                                        <p:cTn id="48" dur="1" fill="hold">
                                          <p:stCondLst>
                                            <p:cond delay="0"/>
                                          </p:stCondLst>
                                        </p:cTn>
                                        <p:tgtEl>
                                          <p:spTgt spid="17"/>
                                        </p:tgtEl>
                                        <p:attrNameLst>
                                          <p:attrName>style.visibility</p:attrName>
                                        </p:attrNameLst>
                                      </p:cBhvr>
                                      <p:to>
                                        <p:strVal val="visible"/>
                                      </p:to>
                                    </p:set>
                                    <p:animEffect transition="in" filter="fade">
                                      <p:cBhvr>
                                        <p:cTn id="46" dur="900"/>
                                        <p:tgtEl>
                                          <p:spTgt spid="17"/>
                                        </p:tgtEl>
                                      </p:cBhvr>
                                    </p:animEffect>
                                  </p:childTnLst>
                                </p:cTn>
                              </p:par>
                              <p:par>
                                <p:cTn id="50" presetID="10" presetClass="entr" presetSubtype="0" fill="hold" decel="100000" nodeType="withEffect">
                                  <p:stCondLst>
                                    <p:cond delay="1060"/>
                                  </p:stCondLst>
                                  <p:childTnLst>
                                    <p:set>
                                      <p:cBhvr>
                                        <p:cTn id="51" dur="1" fill="hold">
                                          <p:stCondLst>
                                            <p:cond delay="0"/>
                                          </p:stCondLst>
                                        </p:cTn>
                                        <p:tgtEl>
                                          <p:spTgt spid="18"/>
                                        </p:tgtEl>
                                        <p:attrNameLst>
                                          <p:attrName>style.visibility</p:attrName>
                                        </p:attrNameLst>
                                      </p:cBhvr>
                                      <p:to>
                                        <p:strVal val="visible"/>
                                      </p:to>
                                    </p:set>
                                    <p:animEffect transition="in" filter="fade">
                                      <p:cBhvr>
                                        <p:cTn id="49" dur="900"/>
                                        <p:tgtEl>
                                          <p:spTgt spid="18"/>
                                        </p:tgtEl>
                                      </p:cBhvr>
                                    </p:animEffect>
                                  </p:childTnLst>
                                </p:cTn>
                              </p:par>
                              <p:par>
                                <p:cTn id="54" presetID="2" presetClass="entr" presetSubtype="4" fill="hold" decel="100000" nodeType="withEffect">
                                  <p:stCondLst>
                                    <p:cond delay="550"/>
                                  </p:stCondLst>
                                  <p:childTnLst>
                                    <p:set>
                                      <p:cBhvr>
                                        <p:cTn id="55" dur="1" fill="hold">
                                          <p:stCondLst>
                                            <p:cond delay="0"/>
                                          </p:stCondLst>
                                        </p:cTn>
                                        <p:tgtEl>
                                          <p:spTgt spid="19"/>
                                        </p:tgtEl>
                                        <p:attrNameLst>
                                          <p:attrName>style.visibility</p:attrName>
                                        </p:attrNameLst>
                                      </p:cBhvr>
                                      <p:to>
                                        <p:strVal val="visible"/>
                                      </p:to>
                                    </p:set>
                                    <p:anim calcmode="lin" valueType="num">
                                      <p:cBhvr additive="base">
                                        <p:cTn id="52" dur="900" fill="hold"/>
                                        <p:tgtEl>
                                          <p:spTgt spid="19"/>
                                        </p:tgtEl>
                                        <p:attrNameLst>
                                          <p:attrName>ppt_y</p:attrName>
                                        </p:attrNameLst>
                                      </p:cBhvr>
                                      <p:tavLst>
                                        <p:tav tm="0">
                                          <p:val>
                                            <p:strVal val="#ppt_y+0.03"/>
                                          </p:val>
                                        </p:tav>
                                        <p:tav tm="100000">
                                          <p:val>
                                            <p:strVal val="#ppt_y"/>
                                          </p:val>
                                        </p:tav>
                                      </p:tavLst>
                                    </p:anim>
                                    <p:animEffect transition="in" filter="fade">
                                      <p:cBhvr>
                                        <p:cTn id="53" dur="900"/>
                                        <p:tgtEl>
                                          <p:spTgt spid="19"/>
                                        </p:tgtEl>
                                      </p:cBhvr>
                                    </p:animEffect>
                                  </p:childTnLst>
                                </p:cTn>
                              </p:par>
                              <p:par>
                                <p:cTn id="57" presetID="10" presetClass="entr" presetSubtype="0" fill="hold" decel="100000" nodeType="withEffect">
                                  <p:stCondLst>
                                    <p:cond delay="850"/>
                                  </p:stCondLst>
                                  <p:childTnLst>
                                    <p:set>
                                      <p:cBhvr>
                                        <p:cTn id="58" dur="1" fill="hold">
                                          <p:stCondLst>
                                            <p:cond delay="0"/>
                                          </p:stCondLst>
                                        </p:cTn>
                                        <p:tgtEl>
                                          <p:spTgt spid="20"/>
                                        </p:tgtEl>
                                        <p:attrNameLst>
                                          <p:attrName>style.visibility</p:attrName>
                                        </p:attrNameLst>
                                      </p:cBhvr>
                                      <p:to>
                                        <p:strVal val="visible"/>
                                      </p:to>
                                    </p:set>
                                    <p:animEffect transition="in" filter="fade">
                                      <p:cBhvr>
                                        <p:cTn id="56" dur="900"/>
                                        <p:tgtEl>
                                          <p:spTgt spid="20"/>
                                        </p:tgtEl>
                                      </p:cBhvr>
                                    </p:animEffect>
                                  </p:childTnLst>
                                </p:cTn>
                              </p:par>
                              <p:par>
                                <p:cTn id="61" presetID="2" presetClass="entr" presetSubtype="4" fill="hold" decel="100000" nodeType="withEffect">
                                  <p:stCondLst>
                                    <p:cond delay="670"/>
                                  </p:stCondLst>
                                  <p:childTnLst>
                                    <p:set>
                                      <p:cBhvr>
                                        <p:cTn id="62" dur="1" fill="hold">
                                          <p:stCondLst>
                                            <p:cond delay="0"/>
                                          </p:stCondLst>
                                        </p:cTn>
                                        <p:tgtEl>
                                          <p:spTgt spid="21"/>
                                        </p:tgtEl>
                                        <p:attrNameLst>
                                          <p:attrName>style.visibility</p:attrName>
                                        </p:attrNameLst>
                                      </p:cBhvr>
                                      <p:to>
                                        <p:strVal val="visible"/>
                                      </p:to>
                                    </p:set>
                                    <p:anim calcmode="lin" valueType="num">
                                      <p:cBhvr additive="base">
                                        <p:cTn id="59" dur="900" fill="hold"/>
                                        <p:tgtEl>
                                          <p:spTgt spid="21"/>
                                        </p:tgtEl>
                                        <p:attrNameLst>
                                          <p:attrName>ppt_y</p:attrName>
                                        </p:attrNameLst>
                                      </p:cBhvr>
                                      <p:tavLst>
                                        <p:tav tm="0">
                                          <p:val>
                                            <p:strVal val="#ppt_y+0.03"/>
                                          </p:val>
                                        </p:tav>
                                        <p:tav tm="100000">
                                          <p:val>
                                            <p:strVal val="#ppt_y"/>
                                          </p:val>
                                        </p:tav>
                                      </p:tavLst>
                                    </p:anim>
                                    <p:animEffect transition="in" filter="fade">
                                      <p:cBhvr>
                                        <p:cTn id="60" dur="900"/>
                                        <p:tgtEl>
                                          <p:spTgt spid="21"/>
                                        </p:tgtEl>
                                      </p:cBhvr>
                                    </p:animEffect>
                                  </p:childTnLst>
                                </p:cTn>
                              </p:par>
                              <p:par>
                                <p:cTn id="64" presetID="10" presetClass="entr" presetSubtype="0" fill="hold" decel="100000" nodeType="withEffect">
                                  <p:stCondLst>
                                    <p:cond delay="970"/>
                                  </p:stCondLst>
                                  <p:childTnLst>
                                    <p:set>
                                      <p:cBhvr>
                                        <p:cTn id="65" dur="1" fill="hold">
                                          <p:stCondLst>
                                            <p:cond delay="0"/>
                                          </p:stCondLst>
                                        </p:cTn>
                                        <p:tgtEl>
                                          <p:spTgt spid="22"/>
                                        </p:tgtEl>
                                        <p:attrNameLst>
                                          <p:attrName>style.visibility</p:attrName>
                                        </p:attrNameLst>
                                      </p:cBhvr>
                                      <p:to>
                                        <p:strVal val="visible"/>
                                      </p:to>
                                    </p:set>
                                    <p:animEffect transition="in" filter="fade">
                                      <p:cBhvr>
                                        <p:cTn id="63" dur="900"/>
                                        <p:tgtEl>
                                          <p:spTgt spid="22"/>
                                        </p:tgtEl>
                                      </p:cBhvr>
                                    </p:animEffect>
                                  </p:childTnLst>
                                </p:cTn>
                              </p:par>
                              <p:par>
                                <p:cTn id="67" presetID="10" presetClass="entr" presetSubtype="0" fill="hold" decel="100000" nodeType="withEffect">
                                  <p:stCondLst>
                                    <p:cond delay="970"/>
                                  </p:stCondLst>
                                  <p:childTnLst>
                                    <p:set>
                                      <p:cBhvr>
                                        <p:cTn id="68" dur="1" fill="hold">
                                          <p:stCondLst>
                                            <p:cond delay="0"/>
                                          </p:stCondLst>
                                        </p:cTn>
                                        <p:tgtEl>
                                          <p:spTgt spid="23"/>
                                        </p:tgtEl>
                                        <p:attrNameLst>
                                          <p:attrName>style.visibility</p:attrName>
                                        </p:attrNameLst>
                                      </p:cBhvr>
                                      <p:to>
                                        <p:strVal val="visible"/>
                                      </p:to>
                                    </p:set>
                                    <p:animEffect transition="in" filter="fade">
                                      <p:cBhvr>
                                        <p:cTn id="66" dur="900"/>
                                        <p:tgtEl>
                                          <p:spTgt spid="23"/>
                                        </p:tgtEl>
                                      </p:cBhvr>
                                    </p:animEffect>
                                  </p:childTnLst>
                                </p:cTn>
                              </p:par>
                              <p:par>
                                <p:cTn id="70" presetID="10" presetClass="entr" presetSubtype="0" fill="hold" decel="100000" nodeType="withEffect">
                                  <p:stCondLst>
                                    <p:cond delay="970"/>
                                  </p:stCondLst>
                                  <p:childTnLst>
                                    <p:set>
                                      <p:cBhvr>
                                        <p:cTn id="71" dur="1" fill="hold">
                                          <p:stCondLst>
                                            <p:cond delay="0"/>
                                          </p:stCondLst>
                                        </p:cTn>
                                        <p:tgtEl>
                                          <p:spTgt spid="24"/>
                                        </p:tgtEl>
                                        <p:attrNameLst>
                                          <p:attrName>style.visibility</p:attrName>
                                        </p:attrNameLst>
                                      </p:cBhvr>
                                      <p:to>
                                        <p:strVal val="visible"/>
                                      </p:to>
                                    </p:set>
                                    <p:animEffect transition="in" filter="fade">
                                      <p:cBhvr>
                                        <p:cTn id="69" dur="900"/>
                                        <p:tgtEl>
                                          <p:spTgt spid="24"/>
                                        </p:tgtEl>
                                      </p:cBhvr>
                                    </p:animEffect>
                                  </p:childTnLst>
                                </p:cTn>
                              </p:par>
                              <p:par>
                                <p:cTn id="73" presetID="10" presetClass="entr" presetSubtype="0" fill="hold" decel="100000" nodeType="withEffect">
                                  <p:stCondLst>
                                    <p:cond delay="970"/>
                                  </p:stCondLst>
                                  <p:childTnLst>
                                    <p:set>
                                      <p:cBhvr>
                                        <p:cTn id="74" dur="1" fill="hold">
                                          <p:stCondLst>
                                            <p:cond delay="0"/>
                                          </p:stCondLst>
                                        </p:cTn>
                                        <p:tgtEl>
                                          <p:spTgt spid="25"/>
                                        </p:tgtEl>
                                        <p:attrNameLst>
                                          <p:attrName>style.visibility</p:attrName>
                                        </p:attrNameLst>
                                      </p:cBhvr>
                                      <p:to>
                                        <p:strVal val="visible"/>
                                      </p:to>
                                    </p:set>
                                    <p:animEffect transition="in" filter="fade">
                                      <p:cBhvr>
                                        <p:cTn id="72" dur="900"/>
                                        <p:tgtEl>
                                          <p:spTgt spid="25"/>
                                        </p:tgtEl>
                                      </p:cBhvr>
                                    </p:animEffect>
                                  </p:childTnLst>
                                </p:cTn>
                              </p:par>
                              <p:par>
                                <p:cTn id="77" presetID="2" presetClass="entr" presetSubtype="4" fill="hold" decel="100000" nodeType="withEffect">
                                  <p:stCondLst>
                                    <p:cond delay="790"/>
                                  </p:stCondLst>
                                  <p:childTnLst>
                                    <p:set>
                                      <p:cBhvr>
                                        <p:cTn id="78" dur="1" fill="hold">
                                          <p:stCondLst>
                                            <p:cond delay="0"/>
                                          </p:stCondLst>
                                        </p:cTn>
                                        <p:tgtEl>
                                          <p:spTgt spid="26"/>
                                        </p:tgtEl>
                                        <p:attrNameLst>
                                          <p:attrName>style.visibility</p:attrName>
                                        </p:attrNameLst>
                                      </p:cBhvr>
                                      <p:to>
                                        <p:strVal val="visible"/>
                                      </p:to>
                                    </p:set>
                                    <p:anim calcmode="lin" valueType="num">
                                      <p:cBhvr additive="base">
                                        <p:cTn id="75" dur="900" fill="hold"/>
                                        <p:tgtEl>
                                          <p:spTgt spid="26"/>
                                        </p:tgtEl>
                                        <p:attrNameLst>
                                          <p:attrName>ppt_y</p:attrName>
                                        </p:attrNameLst>
                                      </p:cBhvr>
                                      <p:tavLst>
                                        <p:tav tm="0">
                                          <p:val>
                                            <p:strVal val="#ppt_y+0.03"/>
                                          </p:val>
                                        </p:tav>
                                        <p:tav tm="100000">
                                          <p:val>
                                            <p:strVal val="#ppt_y"/>
                                          </p:val>
                                        </p:tav>
                                      </p:tavLst>
                                    </p:anim>
                                    <p:animEffect transition="in" filter="fade">
                                      <p:cBhvr>
                                        <p:cTn id="76" dur="900"/>
                                        <p:tgtEl>
                                          <p:spTgt spid="26"/>
                                        </p:tgtEl>
                                      </p:cBhvr>
                                    </p:animEffect>
                                  </p:childTnLst>
                                </p:cTn>
                              </p:par>
                              <p:par>
                                <p:cTn id="80" presetID="10" presetClass="entr" presetSubtype="0" fill="hold" decel="100000" nodeType="withEffect">
                                  <p:stCondLst>
                                    <p:cond delay="1090"/>
                                  </p:stCondLst>
                                  <p:childTnLst>
                                    <p:set>
                                      <p:cBhvr>
                                        <p:cTn id="81" dur="1" fill="hold">
                                          <p:stCondLst>
                                            <p:cond delay="0"/>
                                          </p:stCondLst>
                                        </p:cTn>
                                        <p:tgtEl>
                                          <p:spTgt spid="27"/>
                                        </p:tgtEl>
                                        <p:attrNameLst>
                                          <p:attrName>style.visibility</p:attrName>
                                        </p:attrNameLst>
                                      </p:cBhvr>
                                      <p:to>
                                        <p:strVal val="visible"/>
                                      </p:to>
                                    </p:set>
                                    <p:animEffect transition="in" filter="fade">
                                      <p:cBhvr>
                                        <p:cTn id="79" dur="900"/>
                                        <p:tgtEl>
                                          <p:spTgt spid="27"/>
                                        </p:tgtEl>
                                      </p:cBhvr>
                                    </p:animEffect>
                                  </p:childTnLst>
                                </p:cTn>
                              </p:par>
                              <p:par>
                                <p:cTn id="83" presetID="10" presetClass="entr" presetSubtype="0" fill="hold" decel="100000" nodeType="withEffect">
                                  <p:stCondLst>
                                    <p:cond delay="1090"/>
                                  </p:stCondLst>
                                  <p:childTnLst>
                                    <p:set>
                                      <p:cBhvr>
                                        <p:cTn id="84" dur="1" fill="hold">
                                          <p:stCondLst>
                                            <p:cond delay="0"/>
                                          </p:stCondLst>
                                        </p:cTn>
                                        <p:tgtEl>
                                          <p:spTgt spid="28"/>
                                        </p:tgtEl>
                                        <p:attrNameLst>
                                          <p:attrName>style.visibility</p:attrName>
                                        </p:attrNameLst>
                                      </p:cBhvr>
                                      <p:to>
                                        <p:strVal val="visible"/>
                                      </p:to>
                                    </p:set>
                                    <p:animEffect transition="in" filter="fade">
                                      <p:cBhvr>
                                        <p:cTn id="82" dur="900"/>
                                        <p:tgtEl>
                                          <p:spTgt spid="28"/>
                                        </p:tgtEl>
                                      </p:cBhvr>
                                    </p:animEffect>
                                  </p:childTnLst>
                                </p:cTn>
                              </p:par>
                              <p:par>
                                <p:cTn id="86" presetID="10" presetClass="entr" presetSubtype="0" fill="hold" decel="100000" nodeType="withEffect">
                                  <p:stCondLst>
                                    <p:cond delay="1090"/>
                                  </p:stCondLst>
                                  <p:childTnLst>
                                    <p:set>
                                      <p:cBhvr>
                                        <p:cTn id="87" dur="1" fill="hold">
                                          <p:stCondLst>
                                            <p:cond delay="0"/>
                                          </p:stCondLst>
                                        </p:cTn>
                                        <p:tgtEl>
                                          <p:spTgt spid="29"/>
                                        </p:tgtEl>
                                        <p:attrNameLst>
                                          <p:attrName>style.visibility</p:attrName>
                                        </p:attrNameLst>
                                      </p:cBhvr>
                                      <p:to>
                                        <p:strVal val="visible"/>
                                      </p:to>
                                    </p:set>
                                    <p:animEffect transition="in" filter="fade">
                                      <p:cBhvr>
                                        <p:cTn id="85" dur="900"/>
                                        <p:tgtEl>
                                          <p:spTgt spid="29"/>
                                        </p:tgtEl>
                                      </p:cBhvr>
                                    </p:animEffect>
                                  </p:childTnLst>
                                </p:cTn>
                              </p:par>
                              <p:par>
                                <p:cTn id="90" presetID="2" presetClass="entr" presetSubtype="4" fill="hold" decel="100000" nodeType="withEffect">
                                  <p:stCondLst>
                                    <p:cond delay="910"/>
                                  </p:stCondLst>
                                  <p:childTnLst>
                                    <p:set>
                                      <p:cBhvr>
                                        <p:cTn id="91" dur="1" fill="hold">
                                          <p:stCondLst>
                                            <p:cond delay="0"/>
                                          </p:stCondLst>
                                        </p:cTn>
                                        <p:tgtEl>
                                          <p:spTgt spid="30"/>
                                        </p:tgtEl>
                                        <p:attrNameLst>
                                          <p:attrName>style.visibility</p:attrName>
                                        </p:attrNameLst>
                                      </p:cBhvr>
                                      <p:to>
                                        <p:strVal val="visible"/>
                                      </p:to>
                                    </p:set>
                                    <p:anim calcmode="lin" valueType="num">
                                      <p:cBhvr additive="base">
                                        <p:cTn id="88" dur="900" fill="hold"/>
                                        <p:tgtEl>
                                          <p:spTgt spid="30"/>
                                        </p:tgtEl>
                                        <p:attrNameLst>
                                          <p:attrName>ppt_y</p:attrName>
                                        </p:attrNameLst>
                                      </p:cBhvr>
                                      <p:tavLst>
                                        <p:tav tm="0">
                                          <p:val>
                                            <p:strVal val="#ppt_y+0.03"/>
                                          </p:val>
                                        </p:tav>
                                        <p:tav tm="100000">
                                          <p:val>
                                            <p:strVal val="#ppt_y"/>
                                          </p:val>
                                        </p:tav>
                                      </p:tavLst>
                                    </p:anim>
                                    <p:animEffect transition="in" filter="fade">
                                      <p:cBhvr>
                                        <p:cTn id="89" dur="900"/>
                                        <p:tgtEl>
                                          <p:spTgt spid="30"/>
                                        </p:tgtEl>
                                      </p:cBhvr>
                                    </p:animEffect>
                                  </p:childTnLst>
                                </p:cTn>
                              </p:par>
                              <p:par>
                                <p:cTn id="93" presetID="10" presetClass="entr" presetSubtype="0" fill="hold" decel="100000" nodeType="withEffect">
                                  <p:stCondLst>
                                    <p:cond delay="1210"/>
                                  </p:stCondLst>
                                  <p:childTnLst>
                                    <p:set>
                                      <p:cBhvr>
                                        <p:cTn id="94" dur="1" fill="hold">
                                          <p:stCondLst>
                                            <p:cond delay="0"/>
                                          </p:stCondLst>
                                        </p:cTn>
                                        <p:tgtEl>
                                          <p:spTgt spid="31"/>
                                        </p:tgtEl>
                                        <p:attrNameLst>
                                          <p:attrName>style.visibility</p:attrName>
                                        </p:attrNameLst>
                                      </p:cBhvr>
                                      <p:to>
                                        <p:strVal val="visible"/>
                                      </p:to>
                                    </p:set>
                                    <p:animEffect transition="in" filter="fade">
                                      <p:cBhvr>
                                        <p:cTn id="92" dur="900"/>
                                        <p:tgtEl>
                                          <p:spTgt spid="31"/>
                                        </p:tgtEl>
                                      </p:cBhvr>
                                    </p:animEffect>
                                  </p:childTnLst>
                                </p:cTn>
                              </p:par>
                              <p:par>
                                <p:cTn id="96" presetID="10" presetClass="entr" presetSubtype="0" fill="hold" decel="100000" nodeType="withEffect">
                                  <p:stCondLst>
                                    <p:cond delay="900"/>
                                  </p:stCondLst>
                                  <p:childTnLst>
                                    <p:set>
                                      <p:cBhvr>
                                        <p:cTn id="97" dur="1" fill="hold">
                                          <p:stCondLst>
                                            <p:cond delay="0"/>
                                          </p:stCondLst>
                                        </p:cTn>
                                        <p:tgtEl>
                                          <p:spTgt spid="32"/>
                                        </p:tgtEl>
                                        <p:attrNameLst>
                                          <p:attrName>style.visibility</p:attrName>
                                        </p:attrNameLst>
                                      </p:cBhvr>
                                      <p:to>
                                        <p:strVal val="visible"/>
                                      </p:to>
                                    </p:set>
                                    <p:animEffect transition="in" filter="fade">
                                      <p:cBhvr>
                                        <p:cTn id="95" dur="900"/>
                                        <p:tgtEl>
                                          <p:spTgt spid="32"/>
                                        </p:tgtEl>
                                      </p:cBhvr>
                                    </p:animEffect>
                                  </p:childTnLst>
                                </p:cTn>
                              </p:par>
                              <p:par>
                                <p:cTn id="99" presetID="10" presetClass="entr" presetSubtype="0" fill="hold" decel="100000" nodeType="withEffect">
                                  <p:stCondLst>
                                    <p:cond delay="1020"/>
                                  </p:stCondLst>
                                  <p:childTnLst>
                                    <p:set>
                                      <p:cBhvr>
                                        <p:cTn id="100" dur="1" fill="hold">
                                          <p:stCondLst>
                                            <p:cond delay="0"/>
                                          </p:stCondLst>
                                        </p:cTn>
                                        <p:tgtEl>
                                          <p:spTgt spid="33"/>
                                        </p:tgtEl>
                                        <p:attrNameLst>
                                          <p:attrName>style.visibility</p:attrName>
                                        </p:attrNameLst>
                                      </p:cBhvr>
                                      <p:to>
                                        <p:strVal val="visible"/>
                                      </p:to>
                                    </p:set>
                                    <p:animEffect transition="in" filter="fade">
                                      <p:cBhvr>
                                        <p:cTn id="98" dur="900"/>
                                        <p:tgtEl>
                                          <p:spTgt spid="33"/>
                                        </p:tgtEl>
                                      </p:cBhvr>
                                    </p:animEffect>
                                  </p:childTnLst>
                                </p:cTn>
                              </p:par>
                              <p:par>
                                <p:cTn id="102" presetID="10" presetClass="entr" presetSubtype="0" fill="hold" decel="100000" nodeType="withEffect">
                                  <p:stCondLst>
                                    <p:cond delay="1020"/>
                                  </p:stCondLst>
                                  <p:childTnLst>
                                    <p:set>
                                      <p:cBhvr>
                                        <p:cTn id="103" dur="1" fill="hold">
                                          <p:stCondLst>
                                            <p:cond delay="0"/>
                                          </p:stCondLst>
                                        </p:cTn>
                                        <p:tgtEl>
                                          <p:spTgt spid="34"/>
                                        </p:tgtEl>
                                        <p:attrNameLst>
                                          <p:attrName>style.visibility</p:attrName>
                                        </p:attrNameLst>
                                      </p:cBhvr>
                                      <p:to>
                                        <p:strVal val="visible"/>
                                      </p:to>
                                    </p:set>
                                    <p:animEffect transition="in" filter="fade">
                                      <p:cBhvr>
                                        <p:cTn id="101" dur="900"/>
                                        <p:tgtEl>
                                          <p:spTgt spid="34"/>
                                        </p:tgtEl>
                                      </p:cBhvr>
                                    </p:animEffect>
                                  </p:childTnLst>
                                </p:cTn>
                              </p:par>
                              <p:par>
                                <p:cTn id="105" presetID="10" presetClass="entr" presetSubtype="0" fill="hold" decel="100000" nodeType="withEffect">
                                  <p:stCondLst>
                                    <p:cond delay="1020"/>
                                  </p:stCondLst>
                                  <p:childTnLst>
                                    <p:set>
                                      <p:cBhvr>
                                        <p:cTn id="106" dur="1" fill="hold">
                                          <p:stCondLst>
                                            <p:cond delay="0"/>
                                          </p:stCondLst>
                                        </p:cTn>
                                        <p:tgtEl>
                                          <p:spTgt spid="35"/>
                                        </p:tgtEl>
                                        <p:attrNameLst>
                                          <p:attrName>style.visibility</p:attrName>
                                        </p:attrNameLst>
                                      </p:cBhvr>
                                      <p:to>
                                        <p:strVal val="visible"/>
                                      </p:to>
                                    </p:set>
                                    <p:animEffect transition="in" filter="fade">
                                      <p:cBhvr>
                                        <p:cTn id="104" dur="900"/>
                                        <p:tgtEl>
                                          <p:spTgt spid="35"/>
                                        </p:tgtEl>
                                      </p:cBhvr>
                                    </p:animEffect>
                                  </p:childTnLst>
                                </p:cTn>
                              </p:par>
                              <p:par>
                                <p:cTn id="108" presetID="10" presetClass="entr" presetSubtype="0" fill="hold" decel="100000" nodeType="withEffect">
                                  <p:stCondLst>
                                    <p:cond delay="1020"/>
                                  </p:stCondLst>
                                  <p:childTnLst>
                                    <p:set>
                                      <p:cBhvr>
                                        <p:cTn id="109" dur="1" fill="hold">
                                          <p:stCondLst>
                                            <p:cond delay="0"/>
                                          </p:stCondLst>
                                        </p:cTn>
                                        <p:tgtEl>
                                          <p:spTgt spid="36"/>
                                        </p:tgtEl>
                                        <p:attrNameLst>
                                          <p:attrName>style.visibility</p:attrName>
                                        </p:attrNameLst>
                                      </p:cBhvr>
                                      <p:to>
                                        <p:strVal val="visible"/>
                                      </p:to>
                                    </p:set>
                                    <p:animEffect transition="in" filter="fade">
                                      <p:cBhvr>
                                        <p:cTn id="107" dur="900"/>
                                        <p:tgtEl>
                                          <p:spTgt spid="36"/>
                                        </p:tgtEl>
                                      </p:cBhvr>
                                    </p:animEffect>
                                  </p:childTnLst>
                                </p:cTn>
                              </p:par>
                              <p:par>
                                <p:cTn id="111" presetID="10" presetClass="entr" presetSubtype="0" fill="hold" decel="100000" nodeType="withEffect">
                                  <p:stCondLst>
                                    <p:cond delay="1140"/>
                                  </p:stCondLst>
                                  <p:childTnLst>
                                    <p:set>
                                      <p:cBhvr>
                                        <p:cTn id="112" dur="1" fill="hold">
                                          <p:stCondLst>
                                            <p:cond delay="0"/>
                                          </p:stCondLst>
                                        </p:cTn>
                                        <p:tgtEl>
                                          <p:spTgt spid="37"/>
                                        </p:tgtEl>
                                        <p:attrNameLst>
                                          <p:attrName>style.visibility</p:attrName>
                                        </p:attrNameLst>
                                      </p:cBhvr>
                                      <p:to>
                                        <p:strVal val="visible"/>
                                      </p:to>
                                    </p:set>
                                    <p:animEffect transition="in" filter="fade">
                                      <p:cBhvr>
                                        <p:cTn id="110" dur="900"/>
                                        <p:tgtEl>
                                          <p:spTgt spid="37"/>
                                        </p:tgtEl>
                                      </p:cBhvr>
                                    </p:animEffect>
                                  </p:childTnLst>
                                </p:cTn>
                              </p:par>
                              <p:par>
                                <p:cTn id="114" presetID="10" presetClass="entr" presetSubtype="0" fill="hold" decel="100000" nodeType="withEffect">
                                  <p:stCondLst>
                                    <p:cond delay="1140"/>
                                  </p:stCondLst>
                                  <p:childTnLst>
                                    <p:set>
                                      <p:cBhvr>
                                        <p:cTn id="115" dur="1" fill="hold">
                                          <p:stCondLst>
                                            <p:cond delay="0"/>
                                          </p:stCondLst>
                                        </p:cTn>
                                        <p:tgtEl>
                                          <p:spTgt spid="38"/>
                                        </p:tgtEl>
                                        <p:attrNameLst>
                                          <p:attrName>style.visibility</p:attrName>
                                        </p:attrNameLst>
                                      </p:cBhvr>
                                      <p:to>
                                        <p:strVal val="visible"/>
                                      </p:to>
                                    </p:set>
                                    <p:animEffect transition="in" filter="fade">
                                      <p:cBhvr>
                                        <p:cTn id="113" dur="900"/>
                                        <p:tgtEl>
                                          <p:spTgt spid="38"/>
                                        </p:tgtEl>
                                      </p:cBhvr>
                                    </p:animEffect>
                                  </p:childTnLst>
                                </p:cTn>
                              </p:par>
                              <p:par>
                                <p:cTn id="117" presetID="10" presetClass="entr" presetSubtype="0" fill="hold" decel="100000" nodeType="withEffect">
                                  <p:stCondLst>
                                    <p:cond delay="1140"/>
                                  </p:stCondLst>
                                  <p:childTnLst>
                                    <p:set>
                                      <p:cBhvr>
                                        <p:cTn id="118" dur="1" fill="hold">
                                          <p:stCondLst>
                                            <p:cond delay="0"/>
                                          </p:stCondLst>
                                        </p:cTn>
                                        <p:tgtEl>
                                          <p:spTgt spid="39"/>
                                        </p:tgtEl>
                                        <p:attrNameLst>
                                          <p:attrName>style.visibility</p:attrName>
                                        </p:attrNameLst>
                                      </p:cBhvr>
                                      <p:to>
                                        <p:strVal val="visible"/>
                                      </p:to>
                                    </p:set>
                                    <p:animEffect transition="in" filter="fade">
                                      <p:cBhvr>
                                        <p:cTn id="116" dur="900"/>
                                        <p:tgtEl>
                                          <p:spTgt spid="39"/>
                                        </p:tgtEl>
                                      </p:cBhvr>
                                    </p:animEffect>
                                  </p:childTnLst>
                                </p:cTn>
                              </p:par>
                              <p:par>
                                <p:cTn id="120" presetID="10" presetClass="entr" presetSubtype="0" fill="hold" decel="100000" nodeType="withEffect">
                                  <p:stCondLst>
                                    <p:cond delay="1260"/>
                                  </p:stCondLst>
                                  <p:childTnLst>
                                    <p:set>
                                      <p:cBhvr>
                                        <p:cTn id="121" dur="1" fill="hold">
                                          <p:stCondLst>
                                            <p:cond delay="0"/>
                                          </p:stCondLst>
                                        </p:cTn>
                                        <p:tgtEl>
                                          <p:spTgt spid="40"/>
                                        </p:tgtEl>
                                        <p:attrNameLst>
                                          <p:attrName>style.visibility</p:attrName>
                                        </p:attrNameLst>
                                      </p:cBhvr>
                                      <p:to>
                                        <p:strVal val="visible"/>
                                      </p:to>
                                    </p:set>
                                    <p:animEffect transition="in" filter="fade">
                                      <p:cBhvr>
                                        <p:cTn id="119" dur="900"/>
                                        <p:tgtEl>
                                          <p:spTgt spid="40"/>
                                        </p:tgtEl>
                                      </p:cBhvr>
                                    </p:animEffect>
                                  </p:childTnLst>
                                </p:cTn>
                              </p:par>
                              <p:par>
                                <p:cTn id="123" presetID="10" presetClass="entr" presetSubtype="0" fill="hold" decel="100000" nodeType="withEffect">
                                  <p:stCondLst>
                                    <p:cond delay="200"/>
                                  </p:stCondLst>
                                  <p:childTnLst>
                                    <p:set>
                                      <p:cBhvr>
                                        <p:cTn id="124" dur="1" fill="hold">
                                          <p:stCondLst>
                                            <p:cond delay="0"/>
                                          </p:stCondLst>
                                        </p:cTn>
                                        <p:tgtEl>
                                          <p:spTgt spid="41"/>
                                        </p:tgtEl>
                                        <p:attrNameLst>
                                          <p:attrName>style.visibility</p:attrName>
                                        </p:attrNameLst>
                                      </p:cBhvr>
                                      <p:to>
                                        <p:strVal val="visible"/>
                                      </p:to>
                                    </p:set>
                                    <p:animEffect transition="in" filter="fade">
                                      <p:cBhvr>
                                        <p:cTn id="122" dur="900"/>
                                        <p:tgtEl>
                                          <p:spTgt spid="4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ground" descr="The ask · The team it hires slide background"/>
          <p:cNvPicPr>
            <a:picLocks noChangeAspect="1"/>
          </p:cNvPicPr>
          <p:nvPr/>
        </p:nvPicPr>
        <p:blipFill>
          <a:blip r:embed="rId2"/>
          <a:stretch>
            <a:fillRect/>
          </a:stretch>
        </p:blipFill>
        <p:spPr>
          <a:xfrm>
            <a:off x="0" y="0"/>
            <a:ext cx="12192000" cy="6858000"/>
          </a:xfrm>
          <a:prstGeom prst="rect">
            <a:avLst/>
          </a:prstGeom>
        </p:spPr>
      </p:pic>
      <p:pic>
        <p:nvPicPr>
          <p:cNvPr id="3" name="00 fade · Planning assumptions · not mar" descr="Planning assumptions · not market rates"/>
          <p:cNvPicPr>
            <a:picLocks noChangeAspect="1"/>
          </p:cNvPicPr>
          <p:nvPr/>
        </p:nvPicPr>
        <p:blipFill>
          <a:blip r:embed="rId3"/>
          <a:stretch>
            <a:fillRect/>
          </a:stretch>
        </p:blipFill>
        <p:spPr>
          <a:xfrm>
            <a:off x="7829550" y="558800"/>
            <a:ext cx="3702050" cy="546100"/>
          </a:xfrm>
          <a:prstGeom prst="rect">
            <a:avLst/>
          </a:prstGeom>
        </p:spPr>
      </p:pic>
      <p:pic>
        <p:nvPicPr>
          <p:cNvPr id="4" name="01 fade · 17The ask · The team it hires" descr="17The ask · The team it hires"/>
          <p:cNvPicPr>
            <a:picLocks noChangeAspect="1"/>
          </p:cNvPicPr>
          <p:nvPr/>
        </p:nvPicPr>
        <p:blipFill>
          <a:blip r:embed="rId4"/>
          <a:stretch>
            <a:fillRect/>
          </a:stretch>
        </p:blipFill>
        <p:spPr>
          <a:xfrm>
            <a:off x="660400" y="609600"/>
            <a:ext cx="10871200" cy="444500"/>
          </a:xfrm>
          <a:prstGeom prst="rect">
            <a:avLst/>
          </a:prstGeom>
        </p:spPr>
      </p:pic>
      <p:pic>
        <p:nvPicPr>
          <p:cNvPr id="5" name="02 up · Five engineers, QAR 76,000 a m" descr="Five engineers, QAR 76,000 a month."/>
          <p:cNvPicPr>
            <a:picLocks noChangeAspect="1"/>
          </p:cNvPicPr>
          <p:nvPr/>
        </p:nvPicPr>
        <p:blipFill>
          <a:blip r:embed="rId5"/>
          <a:stretch>
            <a:fillRect/>
          </a:stretch>
        </p:blipFill>
        <p:spPr>
          <a:xfrm>
            <a:off x="660400" y="977900"/>
            <a:ext cx="9829800" cy="755650"/>
          </a:xfrm>
          <a:prstGeom prst="rect">
            <a:avLst/>
          </a:prstGeom>
        </p:spPr>
      </p:pic>
      <p:pic>
        <p:nvPicPr>
          <p:cNvPr id="6" name="03 up · Role Owns Monthly (QAR) Annual" descr="Role Owns Monthly (QAR) Annual (QAR) CTO · Systems &amp; Product Architect Architecture, scope, data contracts, security, delivery 20,000 240,000 Thermal Intelligence · Data Engineer Thermal state, exposu"/>
          <p:cNvPicPr>
            <a:picLocks noChangeAspect="1"/>
          </p:cNvPicPr>
          <p:nvPr/>
        </p:nvPicPr>
        <p:blipFill>
          <a:blip r:embed="rId6"/>
          <a:stretch>
            <a:fillRect/>
          </a:stretch>
        </p:blipFill>
        <p:spPr>
          <a:xfrm>
            <a:off x="660400" y="1625600"/>
            <a:ext cx="10871200" cy="3384550"/>
          </a:xfrm>
          <a:prstGeom prst="rect">
            <a:avLst/>
          </a:prstGeom>
        </p:spPr>
      </p:pic>
      <p:pic>
        <p:nvPicPr>
          <p:cNvPr id="7" name="04 up · The CEO leads investors, ancho" descr="The CEO leads investors, anchor customers and sales. Food-safety experts are hired fractionally, from the validation line."/>
          <p:cNvPicPr>
            <a:picLocks noChangeAspect="1"/>
          </p:cNvPicPr>
          <p:nvPr/>
        </p:nvPicPr>
        <p:blipFill>
          <a:blip r:embed="rId7"/>
          <a:stretch>
            <a:fillRect/>
          </a:stretch>
        </p:blipFill>
        <p:spPr>
          <a:xfrm>
            <a:off x="660400" y="4813300"/>
            <a:ext cx="10871200" cy="52705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4" presetID="10" presetClass="entr" presetSubtype="0" fill="hold" decel="100000" nodeType="withEffect">
                                  <p:stCondLst>
                                    <p:cond delay="200"/>
                                  </p:stCondLst>
                                  <p:childTnLst>
                                    <p:set>
                                      <p:cBhvr>
                                        <p:cTn id="5" dur="1" fill="hold">
                                          <p:stCondLst>
                                            <p:cond delay="0"/>
                                          </p:stCondLst>
                                        </p:cTn>
                                        <p:tgtEl>
                                          <p:spTgt spid="3"/>
                                        </p:tgtEl>
                                        <p:attrNameLst>
                                          <p:attrName>style.visibility</p:attrName>
                                        </p:attrNameLst>
                                      </p:cBhvr>
                                      <p:to>
                                        <p:strVal val="visible"/>
                                      </p:to>
                                    </p:set>
                                    <p:animEffect transition="in" filter="fade">
                                      <p:cBhvr>
                                        <p:cTn id="3" dur="900"/>
                                        <p:tgtEl>
                                          <p:spTgt spid="3"/>
                                        </p:tgtEl>
                                      </p:cBhvr>
                                    </p:animEffect>
                                  </p:childTnLst>
                                </p:cTn>
                              </p:par>
                              <p:par>
                                <p:cTn id="7" presetID="10" presetClass="entr" presetSubtype="0" fill="hold" decel="100000" nodeType="withEffect">
                                  <p:stCondLst>
                                    <p:cond delay="0"/>
                                  </p:stCondLst>
                                  <p:childTnLst>
                                    <p:set>
                                      <p:cBhvr>
                                        <p:cTn id="8" dur="1" fill="hold">
                                          <p:stCondLst>
                                            <p:cond delay="0"/>
                                          </p:stCondLst>
                                        </p:cTn>
                                        <p:tgtEl>
                                          <p:spTgt spid="4"/>
                                        </p:tgtEl>
                                        <p:attrNameLst>
                                          <p:attrName>style.visibility</p:attrName>
                                        </p:attrNameLst>
                                      </p:cBhvr>
                                      <p:to>
                                        <p:strVal val="visible"/>
                                      </p:to>
                                    </p:set>
                                    <p:animEffect transition="in" filter="fade">
                                      <p:cBhvr>
                                        <p:cTn id="6" dur="900"/>
                                        <p:tgtEl>
                                          <p:spTgt spid="4"/>
                                        </p:tgtEl>
                                      </p:cBhvr>
                                    </p:animEffect>
                                  </p:childTnLst>
                                </p:cTn>
                              </p:par>
                              <p:par>
                                <p:cTn id="11" presetID="2" presetClass="entr" presetSubtype="4" fill="hold" decel="100000" nodeType="withEffect">
                                  <p:stCondLst>
                                    <p:cond delay="120"/>
                                  </p:stCondLst>
                                  <p:childTnLst>
                                    <p:set>
                                      <p:cBhvr>
                                        <p:cTn id="12" dur="1" fill="hold">
                                          <p:stCondLst>
                                            <p:cond delay="0"/>
                                          </p:stCondLst>
                                        </p:cTn>
                                        <p:tgtEl>
                                          <p:spTgt spid="5"/>
                                        </p:tgtEl>
                                        <p:attrNameLst>
                                          <p:attrName>style.visibility</p:attrName>
                                        </p:attrNameLst>
                                      </p:cBhvr>
                                      <p:to>
                                        <p:strVal val="visible"/>
                                      </p:to>
                                    </p:set>
                                    <p:anim calcmode="lin" valueType="num">
                                      <p:cBhvr additive="base">
                                        <p:cTn id="9" dur="900" fill="hold"/>
                                        <p:tgtEl>
                                          <p:spTgt spid="5"/>
                                        </p:tgtEl>
                                        <p:attrNameLst>
                                          <p:attrName>ppt_y</p:attrName>
                                        </p:attrNameLst>
                                      </p:cBhvr>
                                      <p:tavLst>
                                        <p:tav tm="0">
                                          <p:val>
                                            <p:strVal val="#ppt_y+0.03"/>
                                          </p:val>
                                        </p:tav>
                                        <p:tav tm="100000">
                                          <p:val>
                                            <p:strVal val="#ppt_y"/>
                                          </p:val>
                                        </p:tav>
                                      </p:tavLst>
                                    </p:anim>
                                    <p:animEffect transition="in" filter="fade">
                                      <p:cBhvr>
                                        <p:cTn id="10" dur="900"/>
                                        <p:tgtEl>
                                          <p:spTgt spid="5"/>
                                        </p:tgtEl>
                                      </p:cBhvr>
                                    </p:animEffect>
                                  </p:childTnLst>
                                </p:cTn>
                              </p:par>
                              <p:par>
                                <p:cTn id="15" presetID="2" presetClass="entr" presetSubtype="4" fill="hold" decel="100000" nodeType="withEffect">
                                  <p:stCondLst>
                                    <p:cond delay="300"/>
                                  </p:stCondLst>
                                  <p:childTnLst>
                                    <p:set>
                                      <p:cBhvr>
                                        <p:cTn id="16" dur="1" fill="hold">
                                          <p:stCondLst>
                                            <p:cond delay="0"/>
                                          </p:stCondLst>
                                        </p:cTn>
                                        <p:tgtEl>
                                          <p:spTgt spid="6"/>
                                        </p:tgtEl>
                                        <p:attrNameLst>
                                          <p:attrName>style.visibility</p:attrName>
                                        </p:attrNameLst>
                                      </p:cBhvr>
                                      <p:to>
                                        <p:strVal val="visible"/>
                                      </p:to>
                                    </p:set>
                                    <p:anim calcmode="lin" valueType="num">
                                      <p:cBhvr additive="base">
                                        <p:cTn id="13" dur="900" fill="hold"/>
                                        <p:tgtEl>
                                          <p:spTgt spid="6"/>
                                        </p:tgtEl>
                                        <p:attrNameLst>
                                          <p:attrName>ppt_y</p:attrName>
                                        </p:attrNameLst>
                                      </p:cBhvr>
                                      <p:tavLst>
                                        <p:tav tm="0">
                                          <p:val>
                                            <p:strVal val="#ppt_y+0.03"/>
                                          </p:val>
                                        </p:tav>
                                        <p:tav tm="100000">
                                          <p:val>
                                            <p:strVal val="#ppt_y"/>
                                          </p:val>
                                        </p:tav>
                                      </p:tavLst>
                                    </p:anim>
                                    <p:animEffect transition="in" filter="fade">
                                      <p:cBhvr>
                                        <p:cTn id="14" dur="900"/>
                                        <p:tgtEl>
                                          <p:spTgt spid="6"/>
                                        </p:tgtEl>
                                      </p:cBhvr>
                                    </p:animEffect>
                                  </p:childTnLst>
                                </p:cTn>
                              </p:par>
                              <p:par>
                                <p:cTn id="19" presetID="2" presetClass="entr" presetSubtype="4" fill="hold" decel="100000" nodeType="withEffect">
                                  <p:stCondLst>
                                    <p:cond delay="600"/>
                                  </p:stCondLst>
                                  <p:childTnLst>
                                    <p:set>
                                      <p:cBhvr>
                                        <p:cTn id="20" dur="1" fill="hold">
                                          <p:stCondLst>
                                            <p:cond delay="0"/>
                                          </p:stCondLst>
                                        </p:cTn>
                                        <p:tgtEl>
                                          <p:spTgt spid="7"/>
                                        </p:tgtEl>
                                        <p:attrNameLst>
                                          <p:attrName>style.visibility</p:attrName>
                                        </p:attrNameLst>
                                      </p:cBhvr>
                                      <p:to>
                                        <p:strVal val="visible"/>
                                      </p:to>
                                    </p:set>
                                    <p:anim calcmode="lin" valueType="num">
                                      <p:cBhvr additive="base">
                                        <p:cTn id="17" dur="900" fill="hold"/>
                                        <p:tgtEl>
                                          <p:spTgt spid="7"/>
                                        </p:tgtEl>
                                        <p:attrNameLst>
                                          <p:attrName>ppt_y</p:attrName>
                                        </p:attrNameLst>
                                      </p:cBhvr>
                                      <p:tavLst>
                                        <p:tav tm="0">
                                          <p:val>
                                            <p:strVal val="#ppt_y+0.03"/>
                                          </p:val>
                                        </p:tav>
                                        <p:tav tm="100000">
                                          <p:val>
                                            <p:strVal val="#ppt_y"/>
                                          </p:val>
                                        </p:tav>
                                      </p:tavLst>
                                    </p:anim>
                                    <p:animEffect transition="in" filter="fade">
                                      <p:cBhvr>
                                        <p:cTn id="18" dur="9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ground" descr="The ask · What the rest buys slide background"/>
          <p:cNvPicPr>
            <a:picLocks noChangeAspect="1"/>
          </p:cNvPicPr>
          <p:nvPr/>
        </p:nvPicPr>
        <p:blipFill>
          <a:blip r:embed="rId2"/>
          <a:stretch>
            <a:fillRect/>
          </a:stretch>
        </p:blipFill>
        <p:spPr>
          <a:xfrm>
            <a:off x="0" y="0"/>
            <a:ext cx="12192000" cy="6858000"/>
          </a:xfrm>
          <a:prstGeom prst="rect">
            <a:avLst/>
          </a:prstGeom>
        </p:spPr>
      </p:pic>
      <p:pic>
        <p:nvPicPr>
          <p:cNvPr id="3" name="00 fade · 18The ask · What the rest buys" descr="18The ask · What the rest buys"/>
          <p:cNvPicPr>
            <a:picLocks noChangeAspect="1"/>
          </p:cNvPicPr>
          <p:nvPr/>
        </p:nvPicPr>
        <p:blipFill>
          <a:blip r:embed="rId3"/>
          <a:stretch>
            <a:fillRect/>
          </a:stretch>
        </p:blipFill>
        <p:spPr>
          <a:xfrm>
            <a:off x="660400" y="609600"/>
            <a:ext cx="10871200" cy="444500"/>
          </a:xfrm>
          <a:prstGeom prst="rect">
            <a:avLst/>
          </a:prstGeom>
        </p:spPr>
      </p:pic>
      <p:pic>
        <p:nvPicPr>
          <p:cNvPr id="4" name="01 up · The other QAR 830K, line by li" descr="The other QAR 830K, line by line."/>
          <p:cNvPicPr>
            <a:picLocks noChangeAspect="1"/>
          </p:cNvPicPr>
          <p:nvPr/>
        </p:nvPicPr>
        <p:blipFill>
          <a:blip r:embed="rId4"/>
          <a:stretch>
            <a:fillRect/>
          </a:stretch>
        </p:blipFill>
        <p:spPr>
          <a:xfrm>
            <a:off x="660400" y="977900"/>
            <a:ext cx="9829800" cy="755650"/>
          </a:xfrm>
          <a:prstGeom prst="rect">
            <a:avLst/>
          </a:prstGeom>
        </p:spPr>
      </p:pic>
      <p:pic>
        <p:nvPicPr>
          <p:cNvPr id="5" name="02 up · Hardware &amp; platform 435,000 Se" descr="Hardware &amp; platform 435,000 Sensors and edge equipment Sensors and gateways for 3–5 facilities: cold rooms, reefer trucks, dispatch areas 155,000 Deployment, calibration, field testing Install, calibr"/>
          <p:cNvPicPr>
            <a:picLocks noChangeAspect="1"/>
          </p:cNvPicPr>
          <p:nvPr/>
        </p:nvPicPr>
        <p:blipFill>
          <a:blip r:embed="rId5"/>
          <a:stretch>
            <a:fillRect/>
          </a:stretch>
        </p:blipFill>
        <p:spPr>
          <a:xfrm>
            <a:off x="660400" y="1612900"/>
            <a:ext cx="10871200" cy="374650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4" presetID="10" presetClass="entr" presetSubtype="0" fill="hold" decel="10000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3" dur="900"/>
                                        <p:tgtEl>
                                          <p:spTgt spid="3"/>
                                        </p:tgtEl>
                                      </p:cBhvr>
                                    </p:animEffect>
                                  </p:childTnLst>
                                </p:cTn>
                              </p:par>
                              <p:par>
                                <p:cTn id="8" presetID="2" presetClass="entr" presetSubtype="4" fill="hold" decel="100000" nodeType="withEffect">
                                  <p:stCondLst>
                                    <p:cond delay="120"/>
                                  </p:stCondLst>
                                  <p:childTnLst>
                                    <p:set>
                                      <p:cBhvr>
                                        <p:cTn id="9" dur="1" fill="hold">
                                          <p:stCondLst>
                                            <p:cond delay="0"/>
                                          </p:stCondLst>
                                        </p:cTn>
                                        <p:tgtEl>
                                          <p:spTgt spid="4"/>
                                        </p:tgtEl>
                                        <p:attrNameLst>
                                          <p:attrName>style.visibility</p:attrName>
                                        </p:attrNameLst>
                                      </p:cBhvr>
                                      <p:to>
                                        <p:strVal val="visible"/>
                                      </p:to>
                                    </p:set>
                                    <p:anim calcmode="lin" valueType="num">
                                      <p:cBhvr additive="base">
                                        <p:cTn id="6" dur="900" fill="hold"/>
                                        <p:tgtEl>
                                          <p:spTgt spid="4"/>
                                        </p:tgtEl>
                                        <p:attrNameLst>
                                          <p:attrName>ppt_y</p:attrName>
                                        </p:attrNameLst>
                                      </p:cBhvr>
                                      <p:tavLst>
                                        <p:tav tm="0">
                                          <p:val>
                                            <p:strVal val="#ppt_y+0.03"/>
                                          </p:val>
                                        </p:tav>
                                        <p:tav tm="100000">
                                          <p:val>
                                            <p:strVal val="#ppt_y"/>
                                          </p:val>
                                        </p:tav>
                                      </p:tavLst>
                                    </p:anim>
                                    <p:animEffect transition="in" filter="fade">
                                      <p:cBhvr>
                                        <p:cTn id="7" dur="900"/>
                                        <p:tgtEl>
                                          <p:spTgt spid="4"/>
                                        </p:tgtEl>
                                      </p:cBhvr>
                                    </p:animEffect>
                                  </p:childTnLst>
                                </p:cTn>
                              </p:par>
                              <p:par>
                                <p:cTn id="12" presetID="2" presetClass="entr" presetSubtype="4" fill="hold" decel="100000" nodeType="withEffect">
                                  <p:stCondLst>
                                    <p:cond delay="300"/>
                                  </p:stCondLst>
                                  <p:childTnLst>
                                    <p:set>
                                      <p:cBhvr>
                                        <p:cTn id="13" dur="1" fill="hold">
                                          <p:stCondLst>
                                            <p:cond delay="0"/>
                                          </p:stCondLst>
                                        </p:cTn>
                                        <p:tgtEl>
                                          <p:spTgt spid="5"/>
                                        </p:tgtEl>
                                        <p:attrNameLst>
                                          <p:attrName>style.visibility</p:attrName>
                                        </p:attrNameLst>
                                      </p:cBhvr>
                                      <p:to>
                                        <p:strVal val="visible"/>
                                      </p:to>
                                    </p:set>
                                    <p:anim calcmode="lin" valueType="num">
                                      <p:cBhvr additive="base">
                                        <p:cTn id="10" dur="900" fill="hold"/>
                                        <p:tgtEl>
                                          <p:spTgt spid="5"/>
                                        </p:tgtEl>
                                        <p:attrNameLst>
                                          <p:attrName>ppt_y</p:attrName>
                                        </p:attrNameLst>
                                      </p:cBhvr>
                                      <p:tavLst>
                                        <p:tav tm="0">
                                          <p:val>
                                            <p:strVal val="#ppt_y+0.03"/>
                                          </p:val>
                                        </p:tav>
                                        <p:tav tm="100000">
                                          <p:val>
                                            <p:strVal val="#ppt_y"/>
                                          </p:val>
                                        </p:tav>
                                      </p:tavLst>
                                    </p:anim>
                                    <p:animEffect transition="in" filter="fade">
                                      <p:cBhvr>
                                        <p:cTn id="11" dur="9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ground" descr="The ask · What the money proves slide background"/>
          <p:cNvPicPr>
            <a:picLocks noChangeAspect="1"/>
          </p:cNvPicPr>
          <p:nvPr/>
        </p:nvPicPr>
        <p:blipFill>
          <a:blip r:embed="rId2"/>
          <a:stretch>
            <a:fillRect/>
          </a:stretch>
        </p:blipFill>
        <p:spPr>
          <a:xfrm>
            <a:off x="0" y="0"/>
            <a:ext cx="12192000" cy="6858000"/>
          </a:xfrm>
          <a:prstGeom prst="rect">
            <a:avLst/>
          </a:prstGeom>
        </p:spPr>
      </p:pic>
      <p:pic>
        <p:nvPicPr>
          <p:cNvPr id="3" name="00 fade · Spend phasing indicative" descr="Spend phasing indicative"/>
          <p:cNvPicPr>
            <a:picLocks noChangeAspect="1"/>
          </p:cNvPicPr>
          <p:nvPr/>
        </p:nvPicPr>
        <p:blipFill>
          <a:blip r:embed="rId3"/>
          <a:stretch>
            <a:fillRect/>
          </a:stretch>
        </p:blipFill>
        <p:spPr>
          <a:xfrm>
            <a:off x="8997950" y="558800"/>
            <a:ext cx="2533650" cy="546100"/>
          </a:xfrm>
          <a:prstGeom prst="rect">
            <a:avLst/>
          </a:prstGeom>
        </p:spPr>
      </p:pic>
      <p:pic>
        <p:nvPicPr>
          <p:cNvPr id="4" name="01 fade · 19The ask · What the money pro" descr="19The ask · What the money proves"/>
          <p:cNvPicPr>
            <a:picLocks noChangeAspect="1"/>
          </p:cNvPicPr>
          <p:nvPr/>
        </p:nvPicPr>
        <p:blipFill>
          <a:blip r:embed="rId4"/>
          <a:stretch>
            <a:fillRect/>
          </a:stretch>
        </p:blipFill>
        <p:spPr>
          <a:xfrm>
            <a:off x="660400" y="609600"/>
            <a:ext cx="10871200" cy="444500"/>
          </a:xfrm>
          <a:prstGeom prst="rect">
            <a:avLst/>
          </a:prstGeom>
        </p:spPr>
      </p:pic>
      <p:pic>
        <p:nvPicPr>
          <p:cNvPr id="5" name="02 up · From pilot to recurring revenu" descr="From pilot to recurring revenue."/>
          <p:cNvPicPr>
            <a:picLocks noChangeAspect="1"/>
          </p:cNvPicPr>
          <p:nvPr/>
        </p:nvPicPr>
        <p:blipFill>
          <a:blip r:embed="rId5"/>
          <a:stretch>
            <a:fillRect/>
          </a:stretch>
        </p:blipFill>
        <p:spPr>
          <a:xfrm>
            <a:off x="660400" y="977900"/>
            <a:ext cx="9829800" cy="755650"/>
          </a:xfrm>
          <a:prstGeom prst="rect">
            <a:avLst/>
          </a:prstGeom>
        </p:spPr>
      </p:pic>
      <p:pic>
        <p:nvPicPr>
          <p:cNvPr id="6" name="03 up · M1–2 Secure the pilot, survey " descr="M1–2 Secure the pilot, survey sites, agree how value is measured, build the baseline. CustomersLegal"/>
          <p:cNvPicPr>
            <a:picLocks noChangeAspect="1"/>
          </p:cNvPicPr>
          <p:nvPr/>
        </p:nvPicPr>
        <p:blipFill>
          <a:blip r:embed="rId6"/>
          <a:stretch>
            <a:fillRect/>
          </a:stretch>
        </p:blipFill>
        <p:spPr>
          <a:xfrm>
            <a:off x="660400" y="1651000"/>
            <a:ext cx="2387600" cy="2089150"/>
          </a:xfrm>
          <a:prstGeom prst="rect">
            <a:avLst/>
          </a:prstGeom>
        </p:spPr>
      </p:pic>
      <p:pic>
        <p:nvPicPr>
          <p:cNvPr id="7" name="04 up · M3–4 Install devices, build in" descr="M3–4 Install devices, build ingestion and asset history, test outages and alerts. SensorsDeploymentIntegration"/>
          <p:cNvPicPr>
            <a:picLocks noChangeAspect="1"/>
          </p:cNvPicPr>
          <p:nvPr/>
        </p:nvPicPr>
        <p:blipFill>
          <a:blip r:embed="rId7"/>
          <a:stretch>
            <a:fillRect/>
          </a:stretch>
        </p:blipFill>
        <p:spPr>
          <a:xfrm>
            <a:off x="2781300" y="1651000"/>
            <a:ext cx="2387600" cy="2089150"/>
          </a:xfrm>
          <a:prstGeom prst="rect">
            <a:avLst/>
          </a:prstGeom>
        </p:spPr>
      </p:pic>
      <p:pic>
        <p:nvPicPr>
          <p:cNvPr id="8" name="05 up · M5–6 Run excursion logic, risk" descr="M5–6 Run excursion logic, risk estimates and the approved intervention workflow. ValidationCloud"/>
          <p:cNvPicPr>
            <a:picLocks noChangeAspect="1"/>
          </p:cNvPicPr>
          <p:nvPr/>
        </p:nvPicPr>
        <p:blipFill>
          <a:blip r:embed="rId8"/>
          <a:stretch>
            <a:fillRect/>
          </a:stretch>
        </p:blipFill>
        <p:spPr>
          <a:xfrm>
            <a:off x="4902200" y="1651000"/>
            <a:ext cx="2387600" cy="2089150"/>
          </a:xfrm>
          <a:prstGeom prst="rect">
            <a:avLst/>
          </a:prstGeom>
        </p:spPr>
      </p:pic>
      <p:pic>
        <p:nvPicPr>
          <p:cNvPr id="9" name="06 up · M7–9 Compare to baseline, quan" descr="M7–9 Compare to baseline, quantify value, start controlled Commercial Reserve tests. ValidationCustomers"/>
          <p:cNvPicPr>
            <a:picLocks noChangeAspect="1"/>
          </p:cNvPicPr>
          <p:nvPr/>
        </p:nvPicPr>
        <p:blipFill>
          <a:blip r:embed="rId9"/>
          <a:stretch>
            <a:fillRect/>
          </a:stretch>
        </p:blipFill>
        <p:spPr>
          <a:xfrm>
            <a:off x="7023100" y="1651000"/>
            <a:ext cx="2387600" cy="2089150"/>
          </a:xfrm>
          <a:prstGeom prst="rect">
            <a:avLst/>
          </a:prstGeom>
        </p:spPr>
      </p:pic>
      <p:pic>
        <p:nvPicPr>
          <p:cNvPr id="10" name="07 up · M10–12 Convert to an annual co" descr="M10–12 Convert to an annual contract and pursue a second customer. LegalCustomers"/>
          <p:cNvPicPr>
            <a:picLocks noChangeAspect="1"/>
          </p:cNvPicPr>
          <p:nvPr/>
        </p:nvPicPr>
        <p:blipFill>
          <a:blip r:embed="rId10"/>
          <a:stretch>
            <a:fillRect/>
          </a:stretch>
        </p:blipFill>
        <p:spPr>
          <a:xfrm>
            <a:off x="9144000" y="1651000"/>
            <a:ext cx="2387600" cy="2089150"/>
          </a:xfrm>
          <a:prstGeom prst="rect">
            <a:avLst/>
          </a:prstGeom>
        </p:spPr>
      </p:pic>
      <p:pic>
        <p:nvPicPr>
          <p:cNvPr id="11" name="08 up · Team ≈ QAR 85K / month, all 12" descr="Team ≈ QAR 85K / month, all 12 months"/>
          <p:cNvPicPr>
            <a:picLocks noChangeAspect="1"/>
          </p:cNvPicPr>
          <p:nvPr/>
        </p:nvPicPr>
        <p:blipFill>
          <a:blip r:embed="rId11"/>
          <a:stretch>
            <a:fillRect/>
          </a:stretch>
        </p:blipFill>
        <p:spPr>
          <a:xfrm>
            <a:off x="660400" y="3581400"/>
            <a:ext cx="10871200" cy="450850"/>
          </a:xfrm>
          <a:prstGeom prst="rect">
            <a:avLst/>
          </a:prstGeom>
        </p:spPr>
      </p:pic>
      <p:pic>
        <p:nvPicPr>
          <p:cNvPr id="12" name="09 grow · graphic" descr=""/>
          <p:cNvPicPr>
            <a:picLocks noChangeAspect="1"/>
          </p:cNvPicPr>
          <p:nvPr/>
        </p:nvPicPr>
        <p:blipFill>
          <a:blip r:embed="rId12"/>
          <a:stretch>
            <a:fillRect/>
          </a:stretch>
        </p:blipFill>
        <p:spPr>
          <a:xfrm>
            <a:off x="1549400" y="3581400"/>
            <a:ext cx="7175500" cy="450850"/>
          </a:xfrm>
          <a:prstGeom prst="rect">
            <a:avLst/>
          </a:prstGeom>
        </p:spPr>
      </p:pic>
      <p:pic>
        <p:nvPicPr>
          <p:cNvPr id="13" name="10 up · The pilot must prove Measured " descr="The pilot must prove Measured avoided loss ≥ 3× the platform fee, from equipment anomaly to economic exposure."/>
          <p:cNvPicPr>
            <a:picLocks noChangeAspect="1"/>
          </p:cNvPicPr>
          <p:nvPr/>
        </p:nvPicPr>
        <p:blipFill>
          <a:blip r:embed="rId13"/>
          <a:stretch>
            <a:fillRect/>
          </a:stretch>
        </p:blipFill>
        <p:spPr>
          <a:xfrm>
            <a:off x="660400" y="3873500"/>
            <a:ext cx="5511800" cy="1143000"/>
          </a:xfrm>
          <a:prstGeom prst="rect">
            <a:avLst/>
          </a:prstGeom>
        </p:spPr>
      </p:pic>
      <p:pic>
        <p:nvPicPr>
          <p:cNvPr id="14" name="11 up · Month 12 A credible path to re" descr="Month 12 A credible path to repeatable deployments: QAR 300–500K contracted ARR. A target, not a forecast."/>
          <p:cNvPicPr>
            <a:picLocks noChangeAspect="1"/>
          </p:cNvPicPr>
          <p:nvPr/>
        </p:nvPicPr>
        <p:blipFill>
          <a:blip r:embed="rId14"/>
          <a:stretch>
            <a:fillRect/>
          </a:stretch>
        </p:blipFill>
        <p:spPr>
          <a:xfrm>
            <a:off x="6019800" y="3873500"/>
            <a:ext cx="5511800" cy="114300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4" presetID="10" presetClass="entr" presetSubtype="0" fill="hold" decel="100000" nodeType="withEffect">
                                  <p:stCondLst>
                                    <p:cond delay="200"/>
                                  </p:stCondLst>
                                  <p:childTnLst>
                                    <p:set>
                                      <p:cBhvr>
                                        <p:cTn id="5" dur="1" fill="hold">
                                          <p:stCondLst>
                                            <p:cond delay="0"/>
                                          </p:stCondLst>
                                        </p:cTn>
                                        <p:tgtEl>
                                          <p:spTgt spid="3"/>
                                        </p:tgtEl>
                                        <p:attrNameLst>
                                          <p:attrName>style.visibility</p:attrName>
                                        </p:attrNameLst>
                                      </p:cBhvr>
                                      <p:to>
                                        <p:strVal val="visible"/>
                                      </p:to>
                                    </p:set>
                                    <p:animEffect transition="in" filter="fade">
                                      <p:cBhvr>
                                        <p:cTn id="3" dur="900"/>
                                        <p:tgtEl>
                                          <p:spTgt spid="3"/>
                                        </p:tgtEl>
                                      </p:cBhvr>
                                    </p:animEffect>
                                  </p:childTnLst>
                                </p:cTn>
                              </p:par>
                              <p:par>
                                <p:cTn id="7" presetID="10" presetClass="entr" presetSubtype="0" fill="hold" decel="100000" nodeType="withEffect">
                                  <p:stCondLst>
                                    <p:cond delay="0"/>
                                  </p:stCondLst>
                                  <p:childTnLst>
                                    <p:set>
                                      <p:cBhvr>
                                        <p:cTn id="8" dur="1" fill="hold">
                                          <p:stCondLst>
                                            <p:cond delay="0"/>
                                          </p:stCondLst>
                                        </p:cTn>
                                        <p:tgtEl>
                                          <p:spTgt spid="4"/>
                                        </p:tgtEl>
                                        <p:attrNameLst>
                                          <p:attrName>style.visibility</p:attrName>
                                        </p:attrNameLst>
                                      </p:cBhvr>
                                      <p:to>
                                        <p:strVal val="visible"/>
                                      </p:to>
                                    </p:set>
                                    <p:animEffect transition="in" filter="fade">
                                      <p:cBhvr>
                                        <p:cTn id="6" dur="900"/>
                                        <p:tgtEl>
                                          <p:spTgt spid="4"/>
                                        </p:tgtEl>
                                      </p:cBhvr>
                                    </p:animEffect>
                                  </p:childTnLst>
                                </p:cTn>
                              </p:par>
                              <p:par>
                                <p:cTn id="11" presetID="2" presetClass="entr" presetSubtype="4" fill="hold" decel="100000" nodeType="withEffect">
                                  <p:stCondLst>
                                    <p:cond delay="120"/>
                                  </p:stCondLst>
                                  <p:childTnLst>
                                    <p:set>
                                      <p:cBhvr>
                                        <p:cTn id="12" dur="1" fill="hold">
                                          <p:stCondLst>
                                            <p:cond delay="0"/>
                                          </p:stCondLst>
                                        </p:cTn>
                                        <p:tgtEl>
                                          <p:spTgt spid="5"/>
                                        </p:tgtEl>
                                        <p:attrNameLst>
                                          <p:attrName>style.visibility</p:attrName>
                                        </p:attrNameLst>
                                      </p:cBhvr>
                                      <p:to>
                                        <p:strVal val="visible"/>
                                      </p:to>
                                    </p:set>
                                    <p:anim calcmode="lin" valueType="num">
                                      <p:cBhvr additive="base">
                                        <p:cTn id="9" dur="900" fill="hold"/>
                                        <p:tgtEl>
                                          <p:spTgt spid="5"/>
                                        </p:tgtEl>
                                        <p:attrNameLst>
                                          <p:attrName>ppt_y</p:attrName>
                                        </p:attrNameLst>
                                      </p:cBhvr>
                                      <p:tavLst>
                                        <p:tav tm="0">
                                          <p:val>
                                            <p:strVal val="#ppt_y+0.03"/>
                                          </p:val>
                                        </p:tav>
                                        <p:tav tm="100000">
                                          <p:val>
                                            <p:strVal val="#ppt_y"/>
                                          </p:val>
                                        </p:tav>
                                      </p:tavLst>
                                    </p:anim>
                                    <p:animEffect transition="in" filter="fade">
                                      <p:cBhvr>
                                        <p:cTn id="10" dur="900"/>
                                        <p:tgtEl>
                                          <p:spTgt spid="5"/>
                                        </p:tgtEl>
                                      </p:cBhvr>
                                    </p:animEffect>
                                  </p:childTnLst>
                                </p:cTn>
                              </p:par>
                              <p:par>
                                <p:cTn id="15" presetID="2" presetClass="entr" presetSubtype="4" fill="hold" decel="100000" nodeType="withEffect">
                                  <p:stCondLst>
                                    <p:cond delay="300"/>
                                  </p:stCondLst>
                                  <p:childTnLst>
                                    <p:set>
                                      <p:cBhvr>
                                        <p:cTn id="16" dur="1" fill="hold">
                                          <p:stCondLst>
                                            <p:cond delay="0"/>
                                          </p:stCondLst>
                                        </p:cTn>
                                        <p:tgtEl>
                                          <p:spTgt spid="6"/>
                                        </p:tgtEl>
                                        <p:attrNameLst>
                                          <p:attrName>style.visibility</p:attrName>
                                        </p:attrNameLst>
                                      </p:cBhvr>
                                      <p:to>
                                        <p:strVal val="visible"/>
                                      </p:to>
                                    </p:set>
                                    <p:anim calcmode="lin" valueType="num">
                                      <p:cBhvr additive="base">
                                        <p:cTn id="13" dur="900" fill="hold"/>
                                        <p:tgtEl>
                                          <p:spTgt spid="6"/>
                                        </p:tgtEl>
                                        <p:attrNameLst>
                                          <p:attrName>ppt_y</p:attrName>
                                        </p:attrNameLst>
                                      </p:cBhvr>
                                      <p:tavLst>
                                        <p:tav tm="0">
                                          <p:val>
                                            <p:strVal val="#ppt_y+0.03"/>
                                          </p:val>
                                        </p:tav>
                                        <p:tav tm="100000">
                                          <p:val>
                                            <p:strVal val="#ppt_y"/>
                                          </p:val>
                                        </p:tav>
                                      </p:tavLst>
                                    </p:anim>
                                    <p:animEffect transition="in" filter="fade">
                                      <p:cBhvr>
                                        <p:cTn id="14" dur="900"/>
                                        <p:tgtEl>
                                          <p:spTgt spid="6"/>
                                        </p:tgtEl>
                                      </p:cBhvr>
                                    </p:animEffect>
                                  </p:childTnLst>
                                </p:cTn>
                              </p:par>
                              <p:par>
                                <p:cTn id="19" presetID="2" presetClass="entr" presetSubtype="4" fill="hold" decel="100000" nodeType="withEffect">
                                  <p:stCondLst>
                                    <p:cond delay="400"/>
                                  </p:stCondLst>
                                  <p:childTnLst>
                                    <p:set>
                                      <p:cBhvr>
                                        <p:cTn id="20" dur="1" fill="hold">
                                          <p:stCondLst>
                                            <p:cond delay="0"/>
                                          </p:stCondLst>
                                        </p:cTn>
                                        <p:tgtEl>
                                          <p:spTgt spid="7"/>
                                        </p:tgtEl>
                                        <p:attrNameLst>
                                          <p:attrName>style.visibility</p:attrName>
                                        </p:attrNameLst>
                                      </p:cBhvr>
                                      <p:to>
                                        <p:strVal val="visible"/>
                                      </p:to>
                                    </p:set>
                                    <p:anim calcmode="lin" valueType="num">
                                      <p:cBhvr additive="base">
                                        <p:cTn id="17" dur="900" fill="hold"/>
                                        <p:tgtEl>
                                          <p:spTgt spid="7"/>
                                        </p:tgtEl>
                                        <p:attrNameLst>
                                          <p:attrName>ppt_y</p:attrName>
                                        </p:attrNameLst>
                                      </p:cBhvr>
                                      <p:tavLst>
                                        <p:tav tm="0">
                                          <p:val>
                                            <p:strVal val="#ppt_y+0.03"/>
                                          </p:val>
                                        </p:tav>
                                        <p:tav tm="100000">
                                          <p:val>
                                            <p:strVal val="#ppt_y"/>
                                          </p:val>
                                        </p:tav>
                                      </p:tavLst>
                                    </p:anim>
                                    <p:animEffect transition="in" filter="fade">
                                      <p:cBhvr>
                                        <p:cTn id="18" dur="900"/>
                                        <p:tgtEl>
                                          <p:spTgt spid="7"/>
                                        </p:tgtEl>
                                      </p:cBhvr>
                                    </p:animEffect>
                                  </p:childTnLst>
                                </p:cTn>
                              </p:par>
                              <p:par>
                                <p:cTn id="23" presetID="2" presetClass="entr" presetSubtype="4" fill="hold" decel="100000" nodeType="withEffect">
                                  <p:stCondLst>
                                    <p:cond delay="500"/>
                                  </p:stCondLst>
                                  <p:childTnLst>
                                    <p:set>
                                      <p:cBhvr>
                                        <p:cTn id="24" dur="1" fill="hold">
                                          <p:stCondLst>
                                            <p:cond delay="0"/>
                                          </p:stCondLst>
                                        </p:cTn>
                                        <p:tgtEl>
                                          <p:spTgt spid="8"/>
                                        </p:tgtEl>
                                        <p:attrNameLst>
                                          <p:attrName>style.visibility</p:attrName>
                                        </p:attrNameLst>
                                      </p:cBhvr>
                                      <p:to>
                                        <p:strVal val="visible"/>
                                      </p:to>
                                    </p:set>
                                    <p:anim calcmode="lin" valueType="num">
                                      <p:cBhvr additive="base">
                                        <p:cTn id="21" dur="900" fill="hold"/>
                                        <p:tgtEl>
                                          <p:spTgt spid="8"/>
                                        </p:tgtEl>
                                        <p:attrNameLst>
                                          <p:attrName>ppt_y</p:attrName>
                                        </p:attrNameLst>
                                      </p:cBhvr>
                                      <p:tavLst>
                                        <p:tav tm="0">
                                          <p:val>
                                            <p:strVal val="#ppt_y+0.03"/>
                                          </p:val>
                                        </p:tav>
                                        <p:tav tm="100000">
                                          <p:val>
                                            <p:strVal val="#ppt_y"/>
                                          </p:val>
                                        </p:tav>
                                      </p:tavLst>
                                    </p:anim>
                                    <p:animEffect transition="in" filter="fade">
                                      <p:cBhvr>
                                        <p:cTn id="22" dur="900"/>
                                        <p:tgtEl>
                                          <p:spTgt spid="8"/>
                                        </p:tgtEl>
                                      </p:cBhvr>
                                    </p:animEffect>
                                  </p:childTnLst>
                                </p:cTn>
                              </p:par>
                              <p:par>
                                <p:cTn id="27" presetID="2" presetClass="entr" presetSubtype="4" fill="hold" decel="100000" nodeType="withEffect">
                                  <p:stCondLst>
                                    <p:cond delay="600"/>
                                  </p:stCondLst>
                                  <p:childTnLst>
                                    <p:set>
                                      <p:cBhvr>
                                        <p:cTn id="28" dur="1" fill="hold">
                                          <p:stCondLst>
                                            <p:cond delay="0"/>
                                          </p:stCondLst>
                                        </p:cTn>
                                        <p:tgtEl>
                                          <p:spTgt spid="9"/>
                                        </p:tgtEl>
                                        <p:attrNameLst>
                                          <p:attrName>style.visibility</p:attrName>
                                        </p:attrNameLst>
                                      </p:cBhvr>
                                      <p:to>
                                        <p:strVal val="visible"/>
                                      </p:to>
                                    </p:set>
                                    <p:anim calcmode="lin" valueType="num">
                                      <p:cBhvr additive="base">
                                        <p:cTn id="25" dur="900" fill="hold"/>
                                        <p:tgtEl>
                                          <p:spTgt spid="9"/>
                                        </p:tgtEl>
                                        <p:attrNameLst>
                                          <p:attrName>ppt_y</p:attrName>
                                        </p:attrNameLst>
                                      </p:cBhvr>
                                      <p:tavLst>
                                        <p:tav tm="0">
                                          <p:val>
                                            <p:strVal val="#ppt_y+0.03"/>
                                          </p:val>
                                        </p:tav>
                                        <p:tav tm="100000">
                                          <p:val>
                                            <p:strVal val="#ppt_y"/>
                                          </p:val>
                                        </p:tav>
                                      </p:tavLst>
                                    </p:anim>
                                    <p:animEffect transition="in" filter="fade">
                                      <p:cBhvr>
                                        <p:cTn id="26" dur="900"/>
                                        <p:tgtEl>
                                          <p:spTgt spid="9"/>
                                        </p:tgtEl>
                                      </p:cBhvr>
                                    </p:animEffect>
                                  </p:childTnLst>
                                </p:cTn>
                              </p:par>
                              <p:par>
                                <p:cTn id="31" presetID="2" presetClass="entr" presetSubtype="4" fill="hold" decel="100000" nodeType="withEffect">
                                  <p:stCondLst>
                                    <p:cond delay="700"/>
                                  </p:stCondLst>
                                  <p:childTnLst>
                                    <p:set>
                                      <p:cBhvr>
                                        <p:cTn id="32" dur="1" fill="hold">
                                          <p:stCondLst>
                                            <p:cond delay="0"/>
                                          </p:stCondLst>
                                        </p:cTn>
                                        <p:tgtEl>
                                          <p:spTgt spid="10"/>
                                        </p:tgtEl>
                                        <p:attrNameLst>
                                          <p:attrName>style.visibility</p:attrName>
                                        </p:attrNameLst>
                                      </p:cBhvr>
                                      <p:to>
                                        <p:strVal val="visible"/>
                                      </p:to>
                                    </p:set>
                                    <p:anim calcmode="lin" valueType="num">
                                      <p:cBhvr additive="base">
                                        <p:cTn id="29" dur="900" fill="hold"/>
                                        <p:tgtEl>
                                          <p:spTgt spid="10"/>
                                        </p:tgtEl>
                                        <p:attrNameLst>
                                          <p:attrName>ppt_y</p:attrName>
                                        </p:attrNameLst>
                                      </p:cBhvr>
                                      <p:tavLst>
                                        <p:tav tm="0">
                                          <p:val>
                                            <p:strVal val="#ppt_y+0.03"/>
                                          </p:val>
                                        </p:tav>
                                        <p:tav tm="100000">
                                          <p:val>
                                            <p:strVal val="#ppt_y"/>
                                          </p:val>
                                        </p:tav>
                                      </p:tavLst>
                                    </p:anim>
                                    <p:animEffect transition="in" filter="fade">
                                      <p:cBhvr>
                                        <p:cTn id="30" dur="900"/>
                                        <p:tgtEl>
                                          <p:spTgt spid="10"/>
                                        </p:tgtEl>
                                      </p:cBhvr>
                                    </p:animEffect>
                                  </p:childTnLst>
                                </p:cTn>
                              </p:par>
                              <p:par>
                                <p:cTn id="35" presetID="2" presetClass="entr" presetSubtype="4" fill="hold" decel="100000" nodeType="withEffect">
                                  <p:stCondLst>
                                    <p:cond delay="850"/>
                                  </p:stCondLst>
                                  <p:childTnLst>
                                    <p:set>
                                      <p:cBhvr>
                                        <p:cTn id="36" dur="1" fill="hold">
                                          <p:stCondLst>
                                            <p:cond delay="0"/>
                                          </p:stCondLst>
                                        </p:cTn>
                                        <p:tgtEl>
                                          <p:spTgt spid="11"/>
                                        </p:tgtEl>
                                        <p:attrNameLst>
                                          <p:attrName>style.visibility</p:attrName>
                                        </p:attrNameLst>
                                      </p:cBhvr>
                                      <p:to>
                                        <p:strVal val="visible"/>
                                      </p:to>
                                    </p:set>
                                    <p:anim calcmode="lin" valueType="num">
                                      <p:cBhvr additive="base">
                                        <p:cTn id="33" dur="900" fill="hold"/>
                                        <p:tgtEl>
                                          <p:spTgt spid="11"/>
                                        </p:tgtEl>
                                        <p:attrNameLst>
                                          <p:attrName>ppt_y</p:attrName>
                                        </p:attrNameLst>
                                      </p:cBhvr>
                                      <p:tavLst>
                                        <p:tav tm="0">
                                          <p:val>
                                            <p:strVal val="#ppt_y+0.03"/>
                                          </p:val>
                                        </p:tav>
                                        <p:tav tm="100000">
                                          <p:val>
                                            <p:strVal val="#ppt_y"/>
                                          </p:val>
                                        </p:tav>
                                      </p:tavLst>
                                    </p:anim>
                                    <p:animEffect transition="in" filter="fade">
                                      <p:cBhvr>
                                        <p:cTn id="34" dur="900"/>
                                        <p:tgtEl>
                                          <p:spTgt spid="11"/>
                                        </p:tgtEl>
                                      </p:cBhvr>
                                    </p:animEffect>
                                  </p:childTnLst>
                                </p:cTn>
                              </p:par>
                              <p:par>
                                <p:cTn id="38" presetID="22" presetClass="entr" presetSubtype="8" fill="hold" decel="100000" nodeType="withEffect">
                                  <p:stCondLst>
                                    <p:cond delay="1000"/>
                                  </p:stCondLst>
                                  <p:childTnLst>
                                    <p:set>
                                      <p:cBhvr>
                                        <p:cTn id="39" dur="1" fill="hold">
                                          <p:stCondLst>
                                            <p:cond delay="0"/>
                                          </p:stCondLst>
                                        </p:cTn>
                                        <p:tgtEl>
                                          <p:spTgt spid="12"/>
                                        </p:tgtEl>
                                        <p:attrNameLst>
                                          <p:attrName>style.visibility</p:attrName>
                                        </p:attrNameLst>
                                      </p:cBhvr>
                                      <p:to>
                                        <p:strVal val="visible"/>
                                      </p:to>
                                    </p:set>
                                    <p:animEffect transition="in" filter="wipe(left)">
                                      <p:cBhvr>
                                        <p:cTn id="37" dur="1400"/>
                                        <p:tgtEl>
                                          <p:spTgt spid="12"/>
                                        </p:tgtEl>
                                      </p:cBhvr>
                                    </p:animEffect>
                                  </p:childTnLst>
                                </p:cTn>
                              </p:par>
                              <p:par>
                                <p:cTn id="42" presetID="2" presetClass="entr" presetSubtype="4" fill="hold" decel="100000" nodeType="withEffect">
                                  <p:stCondLst>
                                    <p:cond delay="1100"/>
                                  </p:stCondLst>
                                  <p:childTnLst>
                                    <p:set>
                                      <p:cBhvr>
                                        <p:cTn id="43" dur="1" fill="hold">
                                          <p:stCondLst>
                                            <p:cond delay="0"/>
                                          </p:stCondLst>
                                        </p:cTn>
                                        <p:tgtEl>
                                          <p:spTgt spid="13"/>
                                        </p:tgtEl>
                                        <p:attrNameLst>
                                          <p:attrName>style.visibility</p:attrName>
                                        </p:attrNameLst>
                                      </p:cBhvr>
                                      <p:to>
                                        <p:strVal val="visible"/>
                                      </p:to>
                                    </p:set>
                                    <p:anim calcmode="lin" valueType="num">
                                      <p:cBhvr additive="base">
                                        <p:cTn id="40" dur="900" fill="hold"/>
                                        <p:tgtEl>
                                          <p:spTgt spid="13"/>
                                        </p:tgtEl>
                                        <p:attrNameLst>
                                          <p:attrName>ppt_y</p:attrName>
                                        </p:attrNameLst>
                                      </p:cBhvr>
                                      <p:tavLst>
                                        <p:tav tm="0">
                                          <p:val>
                                            <p:strVal val="#ppt_y+0.03"/>
                                          </p:val>
                                        </p:tav>
                                        <p:tav tm="100000">
                                          <p:val>
                                            <p:strVal val="#ppt_y"/>
                                          </p:val>
                                        </p:tav>
                                      </p:tavLst>
                                    </p:anim>
                                    <p:animEffect transition="in" filter="fade">
                                      <p:cBhvr>
                                        <p:cTn id="41" dur="900"/>
                                        <p:tgtEl>
                                          <p:spTgt spid="13"/>
                                        </p:tgtEl>
                                      </p:cBhvr>
                                    </p:animEffect>
                                  </p:childTnLst>
                                </p:cTn>
                              </p:par>
                              <p:par>
                                <p:cTn id="46" presetID="2" presetClass="entr" presetSubtype="4" fill="hold" decel="100000" nodeType="withEffect">
                                  <p:stCondLst>
                                    <p:cond delay="1200"/>
                                  </p:stCondLst>
                                  <p:childTnLst>
                                    <p:set>
                                      <p:cBhvr>
                                        <p:cTn id="47" dur="1" fill="hold">
                                          <p:stCondLst>
                                            <p:cond delay="0"/>
                                          </p:stCondLst>
                                        </p:cTn>
                                        <p:tgtEl>
                                          <p:spTgt spid="14"/>
                                        </p:tgtEl>
                                        <p:attrNameLst>
                                          <p:attrName>style.visibility</p:attrName>
                                        </p:attrNameLst>
                                      </p:cBhvr>
                                      <p:to>
                                        <p:strVal val="visible"/>
                                      </p:to>
                                    </p:set>
                                    <p:anim calcmode="lin" valueType="num">
                                      <p:cBhvr additive="base">
                                        <p:cTn id="44" dur="900" fill="hold"/>
                                        <p:tgtEl>
                                          <p:spTgt spid="14"/>
                                        </p:tgtEl>
                                        <p:attrNameLst>
                                          <p:attrName>ppt_y</p:attrName>
                                        </p:attrNameLst>
                                      </p:cBhvr>
                                      <p:tavLst>
                                        <p:tav tm="0">
                                          <p:val>
                                            <p:strVal val="#ppt_y+0.03"/>
                                          </p:val>
                                        </p:tav>
                                        <p:tav tm="100000">
                                          <p:val>
                                            <p:strVal val="#ppt_y"/>
                                          </p:val>
                                        </p:tav>
                                      </p:tavLst>
                                    </p:anim>
                                    <p:animEffect transition="in" filter="fade">
                                      <p:cBhvr>
                                        <p:cTn id="45" dur="9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ground" descr="The ask · Risks slide background"/>
          <p:cNvPicPr>
            <a:picLocks noChangeAspect="1"/>
          </p:cNvPicPr>
          <p:nvPr/>
        </p:nvPicPr>
        <p:blipFill>
          <a:blip r:embed="rId2"/>
          <a:stretch>
            <a:fillRect/>
          </a:stretch>
        </p:blipFill>
        <p:spPr>
          <a:xfrm>
            <a:off x="0" y="0"/>
            <a:ext cx="12192000" cy="6858000"/>
          </a:xfrm>
          <a:prstGeom prst="rect">
            <a:avLst/>
          </a:prstGeom>
        </p:spPr>
      </p:pic>
      <p:pic>
        <p:nvPicPr>
          <p:cNvPr id="3" name="00 fade · 20The ask · Risks" descr="20The ask · Risks"/>
          <p:cNvPicPr>
            <a:picLocks noChangeAspect="1"/>
          </p:cNvPicPr>
          <p:nvPr/>
        </p:nvPicPr>
        <p:blipFill>
          <a:blip r:embed="rId3"/>
          <a:stretch>
            <a:fillRect/>
          </a:stretch>
        </p:blipFill>
        <p:spPr>
          <a:xfrm>
            <a:off x="660400" y="609600"/>
            <a:ext cx="10871200" cy="444500"/>
          </a:xfrm>
          <a:prstGeom prst="rect">
            <a:avLst/>
          </a:prstGeom>
        </p:spPr>
      </p:pic>
      <p:pic>
        <p:nvPicPr>
          <p:cNvPr id="4" name="01 up · Known risks, planned responses" descr="Known risks, planned responses."/>
          <p:cNvPicPr>
            <a:picLocks noChangeAspect="1"/>
          </p:cNvPicPr>
          <p:nvPr/>
        </p:nvPicPr>
        <p:blipFill>
          <a:blip r:embed="rId4"/>
          <a:stretch>
            <a:fillRect/>
          </a:stretch>
        </p:blipFill>
        <p:spPr>
          <a:xfrm>
            <a:off x="660400" y="977900"/>
            <a:ext cx="9829800" cy="838200"/>
          </a:xfrm>
          <a:prstGeom prst="rect">
            <a:avLst/>
          </a:prstGeom>
        </p:spPr>
      </p:pic>
      <p:pic>
        <p:nvPicPr>
          <p:cNvPr id="5" name="02 up · Risk Mitigation Customer data " descr="Risk Mitigation Customer data access Sign data access and a named sponsor first False precision Validated assumptions, uncertainty shown, domain review Integration complexity A few high-value data flo"/>
          <p:cNvPicPr>
            <a:picLocks noChangeAspect="1"/>
          </p:cNvPicPr>
          <p:nvPr/>
        </p:nvPicPr>
        <p:blipFill>
          <a:blip r:embed="rId5"/>
          <a:stretch>
            <a:fillRect/>
          </a:stretch>
        </p:blipFill>
        <p:spPr>
          <a:xfrm>
            <a:off x="660400" y="1809750"/>
            <a:ext cx="7721600" cy="2901950"/>
          </a:xfrm>
          <a:prstGeom prst="rect">
            <a:avLst/>
          </a:prstGeom>
        </p:spPr>
      </p:pic>
      <p:pic>
        <p:nvPicPr>
          <p:cNvPr id="6" name="03 right · 10.5% Contingency reserve QAR " descr="10.5% Contingency reserve QAR 195,000 held back. Spent only with documented approval from founders and investors."/>
          <p:cNvPicPr>
            <a:picLocks noChangeAspect="1"/>
          </p:cNvPicPr>
          <p:nvPr/>
        </p:nvPicPr>
        <p:blipFill>
          <a:blip r:embed="rId6"/>
          <a:stretch>
            <a:fillRect/>
          </a:stretch>
        </p:blipFill>
        <p:spPr>
          <a:xfrm>
            <a:off x="8432800" y="1809750"/>
            <a:ext cx="3098800" cy="238125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4" presetID="10" presetClass="entr" presetSubtype="0" fill="hold" decel="10000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3" dur="900"/>
                                        <p:tgtEl>
                                          <p:spTgt spid="3"/>
                                        </p:tgtEl>
                                      </p:cBhvr>
                                    </p:animEffect>
                                  </p:childTnLst>
                                </p:cTn>
                              </p:par>
                              <p:par>
                                <p:cTn id="8" presetID="2" presetClass="entr" presetSubtype="4" fill="hold" decel="100000" nodeType="withEffect">
                                  <p:stCondLst>
                                    <p:cond delay="120"/>
                                  </p:stCondLst>
                                  <p:childTnLst>
                                    <p:set>
                                      <p:cBhvr>
                                        <p:cTn id="9" dur="1" fill="hold">
                                          <p:stCondLst>
                                            <p:cond delay="0"/>
                                          </p:stCondLst>
                                        </p:cTn>
                                        <p:tgtEl>
                                          <p:spTgt spid="4"/>
                                        </p:tgtEl>
                                        <p:attrNameLst>
                                          <p:attrName>style.visibility</p:attrName>
                                        </p:attrNameLst>
                                      </p:cBhvr>
                                      <p:to>
                                        <p:strVal val="visible"/>
                                      </p:to>
                                    </p:set>
                                    <p:anim calcmode="lin" valueType="num">
                                      <p:cBhvr additive="base">
                                        <p:cTn id="6" dur="900" fill="hold"/>
                                        <p:tgtEl>
                                          <p:spTgt spid="4"/>
                                        </p:tgtEl>
                                        <p:attrNameLst>
                                          <p:attrName>ppt_y</p:attrName>
                                        </p:attrNameLst>
                                      </p:cBhvr>
                                      <p:tavLst>
                                        <p:tav tm="0">
                                          <p:val>
                                            <p:strVal val="#ppt_y+0.03"/>
                                          </p:val>
                                        </p:tav>
                                        <p:tav tm="100000">
                                          <p:val>
                                            <p:strVal val="#ppt_y"/>
                                          </p:val>
                                        </p:tav>
                                      </p:tavLst>
                                    </p:anim>
                                    <p:animEffect transition="in" filter="fade">
                                      <p:cBhvr>
                                        <p:cTn id="7" dur="900"/>
                                        <p:tgtEl>
                                          <p:spTgt spid="4"/>
                                        </p:tgtEl>
                                      </p:cBhvr>
                                    </p:animEffect>
                                  </p:childTnLst>
                                </p:cTn>
                              </p:par>
                              <p:par>
                                <p:cTn id="12" presetID="2" presetClass="entr" presetSubtype="4" fill="hold" decel="100000" nodeType="withEffect">
                                  <p:stCondLst>
                                    <p:cond delay="300"/>
                                  </p:stCondLst>
                                  <p:childTnLst>
                                    <p:set>
                                      <p:cBhvr>
                                        <p:cTn id="13" dur="1" fill="hold">
                                          <p:stCondLst>
                                            <p:cond delay="0"/>
                                          </p:stCondLst>
                                        </p:cTn>
                                        <p:tgtEl>
                                          <p:spTgt spid="5"/>
                                        </p:tgtEl>
                                        <p:attrNameLst>
                                          <p:attrName>style.visibility</p:attrName>
                                        </p:attrNameLst>
                                      </p:cBhvr>
                                      <p:to>
                                        <p:strVal val="visible"/>
                                      </p:to>
                                    </p:set>
                                    <p:anim calcmode="lin" valueType="num">
                                      <p:cBhvr additive="base">
                                        <p:cTn id="10" dur="900" fill="hold"/>
                                        <p:tgtEl>
                                          <p:spTgt spid="5"/>
                                        </p:tgtEl>
                                        <p:attrNameLst>
                                          <p:attrName>ppt_y</p:attrName>
                                        </p:attrNameLst>
                                      </p:cBhvr>
                                      <p:tavLst>
                                        <p:tav tm="0">
                                          <p:val>
                                            <p:strVal val="#ppt_y+0.03"/>
                                          </p:val>
                                        </p:tav>
                                        <p:tav tm="100000">
                                          <p:val>
                                            <p:strVal val="#ppt_y"/>
                                          </p:val>
                                        </p:tav>
                                      </p:tavLst>
                                    </p:anim>
                                    <p:animEffect transition="in" filter="fade">
                                      <p:cBhvr>
                                        <p:cTn id="11" dur="900"/>
                                        <p:tgtEl>
                                          <p:spTgt spid="5"/>
                                        </p:tgtEl>
                                      </p:cBhvr>
                                    </p:animEffect>
                                  </p:childTnLst>
                                </p:cTn>
                              </p:par>
                              <p:par>
                                <p:cTn id="16" presetID="2" presetClass="entr" presetSubtype="2" fill="hold" decel="100000" nodeType="withEffect">
                                  <p:stCondLst>
                                    <p:cond delay="600"/>
                                  </p:stCondLst>
                                  <p:childTnLst>
                                    <p:set>
                                      <p:cBhvr>
                                        <p:cTn id="17" dur="1" fill="hold">
                                          <p:stCondLst>
                                            <p:cond delay="0"/>
                                          </p:stCondLst>
                                        </p:cTn>
                                        <p:tgtEl>
                                          <p:spTgt spid="6"/>
                                        </p:tgtEl>
                                        <p:attrNameLst>
                                          <p:attrName>style.visibility</p:attrName>
                                        </p:attrNameLst>
                                      </p:cBhvr>
                                      <p:to>
                                        <p:strVal val="visible"/>
                                      </p:to>
                                    </p:set>
                                    <p:anim calcmode="lin" valueType="num">
                                      <p:cBhvr additive="base">
                                        <p:cTn id="14" dur="900" fill="hold"/>
                                        <p:tgtEl>
                                          <p:spTgt spid="6"/>
                                        </p:tgtEl>
                                        <p:attrNameLst>
                                          <p:attrName>ppt_x</p:attrName>
                                        </p:attrNameLst>
                                      </p:cBhvr>
                                      <p:tavLst>
                                        <p:tav tm="0">
                                          <p:val>
                                            <p:strVal val="#ppt_x+0.025"/>
                                          </p:val>
                                        </p:tav>
                                        <p:tav tm="100000">
                                          <p:val>
                                            <p:strVal val="#ppt_x"/>
                                          </p:val>
                                        </p:tav>
                                      </p:tavLst>
                                    </p:anim>
                                    <p:animEffect transition="in" filter="fade">
                                      <p:cBhvr>
                                        <p:cTn id="15" dur="9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ground" descr="Beyond food slide background"/>
          <p:cNvPicPr>
            <a:picLocks noChangeAspect="1"/>
          </p:cNvPicPr>
          <p:nvPr/>
        </p:nvPicPr>
        <p:blipFill>
          <a:blip r:embed="rId2"/>
          <a:stretch>
            <a:fillRect/>
          </a:stretch>
        </p:blipFill>
        <p:spPr>
          <a:xfrm>
            <a:off x="0" y="0"/>
            <a:ext cx="12192000" cy="6858000"/>
          </a:xfrm>
          <a:prstGeom prst="rect">
            <a:avLst/>
          </a:prstGeom>
        </p:spPr>
      </p:pic>
      <p:pic>
        <p:nvPicPr>
          <p:cNvPr id="3" name="00 fade · Vision · not built" descr="Vision · not built"/>
          <p:cNvPicPr>
            <a:picLocks noChangeAspect="1"/>
          </p:cNvPicPr>
          <p:nvPr/>
        </p:nvPicPr>
        <p:blipFill>
          <a:blip r:embed="rId3"/>
          <a:stretch>
            <a:fillRect/>
          </a:stretch>
        </p:blipFill>
        <p:spPr>
          <a:xfrm>
            <a:off x="9461500" y="558800"/>
            <a:ext cx="2070100" cy="546100"/>
          </a:xfrm>
          <a:prstGeom prst="rect">
            <a:avLst/>
          </a:prstGeom>
        </p:spPr>
      </p:pic>
      <p:pic>
        <p:nvPicPr>
          <p:cNvPr id="4" name="01 fade · 21Beyond food" descr="21Beyond food"/>
          <p:cNvPicPr>
            <a:picLocks noChangeAspect="1"/>
          </p:cNvPicPr>
          <p:nvPr/>
        </p:nvPicPr>
        <p:blipFill>
          <a:blip r:embed="rId4"/>
          <a:stretch>
            <a:fillRect/>
          </a:stretch>
        </p:blipFill>
        <p:spPr>
          <a:xfrm>
            <a:off x="660400" y="609600"/>
            <a:ext cx="10871200" cy="444500"/>
          </a:xfrm>
          <a:prstGeom prst="rect">
            <a:avLst/>
          </a:prstGeom>
        </p:spPr>
      </p:pic>
      <p:pic>
        <p:nvPicPr>
          <p:cNvPr id="5" name="02 up · One primitive, many industries" descr="One primitive, many industries."/>
          <p:cNvPicPr>
            <a:picLocks noChangeAspect="1"/>
          </p:cNvPicPr>
          <p:nvPr/>
        </p:nvPicPr>
        <p:blipFill>
          <a:blip r:embed="rId5"/>
          <a:stretch>
            <a:fillRect/>
          </a:stretch>
        </p:blipFill>
        <p:spPr>
          <a:xfrm>
            <a:off x="660400" y="977900"/>
            <a:ext cx="9829800" cy="781050"/>
          </a:xfrm>
          <a:prstGeom prst="rect">
            <a:avLst/>
          </a:prstGeom>
        </p:spPr>
      </p:pic>
      <p:pic>
        <p:nvPicPr>
          <p:cNvPr id="6" name="03 up · Any asset that deteriorates, c" descr="Any asset that deteriorates, cures or loses viability under the stress of time needs this architecture."/>
          <p:cNvPicPr>
            <a:picLocks noChangeAspect="1"/>
          </p:cNvPicPr>
          <p:nvPr/>
        </p:nvPicPr>
        <p:blipFill>
          <a:blip r:embed="rId6"/>
          <a:stretch>
            <a:fillRect/>
          </a:stretch>
        </p:blipFill>
        <p:spPr>
          <a:xfrm>
            <a:off x="660400" y="1574800"/>
            <a:ext cx="8686800" cy="565150"/>
          </a:xfrm>
          <a:prstGeom prst="rect">
            <a:avLst/>
          </a:prstGeom>
        </p:spPr>
      </p:pic>
      <p:pic>
        <p:nvPicPr>
          <p:cNvPr id="7" name="04 fade · graphic" descr=""/>
          <p:cNvPicPr>
            <a:picLocks noChangeAspect="1"/>
          </p:cNvPicPr>
          <p:nvPr/>
        </p:nvPicPr>
        <p:blipFill>
          <a:blip r:embed="rId7"/>
          <a:stretch>
            <a:fillRect/>
          </a:stretch>
        </p:blipFill>
        <p:spPr>
          <a:xfrm>
            <a:off x="4216400" y="3225800"/>
            <a:ext cx="3759200" cy="1327150"/>
          </a:xfrm>
          <a:prstGeom prst="rect">
            <a:avLst/>
          </a:prstGeom>
        </p:spPr>
      </p:pic>
      <p:pic>
        <p:nvPicPr>
          <p:cNvPr id="8" name="05 up · Biopharma zero-trust complianc" descr="Biopharma zero-trust compliance Physics stability budgets Calculates active-cooling intercepts on the tarmac"/>
          <p:cNvPicPr>
            <a:picLocks noChangeAspect="1"/>
          </p:cNvPicPr>
          <p:nvPr/>
        </p:nvPicPr>
        <p:blipFill>
          <a:blip r:embed="rId8"/>
          <a:stretch>
            <a:fillRect/>
          </a:stretch>
        </p:blipFill>
        <p:spPr>
          <a:xfrm>
            <a:off x="660400" y="2019300"/>
            <a:ext cx="3860800" cy="1581150"/>
          </a:xfrm>
          <a:prstGeom prst="rect">
            <a:avLst/>
          </a:prstGeom>
        </p:spPr>
      </p:pic>
      <p:pic>
        <p:nvPicPr>
          <p:cNvPr id="9" name="06 up · Energy the grid trace Physics " descr="Energy the grid trace Physics grid signals, inverter telemetry Calculates grid flexibility reserve"/>
          <p:cNvPicPr>
            <a:picLocks noChangeAspect="1"/>
          </p:cNvPicPr>
          <p:nvPr/>
        </p:nvPicPr>
        <p:blipFill>
          <a:blip r:embed="rId9"/>
          <a:stretch>
            <a:fillRect/>
          </a:stretch>
        </p:blipFill>
        <p:spPr>
          <a:xfrm>
            <a:off x="7670800" y="2019300"/>
            <a:ext cx="3860800" cy="1384300"/>
          </a:xfrm>
          <a:prstGeom prst="rect">
            <a:avLst/>
          </a:prstGeom>
        </p:spPr>
      </p:pic>
      <p:pic>
        <p:nvPicPr>
          <p:cNvPr id="10" name="07 up · Space cargo the orbital trace " descr="Space cargo the orbital trace Physics propellant bleed, thermal cycling Calculates mission reserve for manoeuvres"/>
          <p:cNvPicPr>
            <a:picLocks noChangeAspect="1"/>
          </p:cNvPicPr>
          <p:nvPr/>
        </p:nvPicPr>
        <p:blipFill>
          <a:blip r:embed="rId10"/>
          <a:stretch>
            <a:fillRect/>
          </a:stretch>
        </p:blipFill>
        <p:spPr>
          <a:xfrm>
            <a:off x="660400" y="4375150"/>
            <a:ext cx="3860800" cy="1384300"/>
          </a:xfrm>
          <a:prstGeom prst="rect">
            <a:avLst/>
          </a:prstGeom>
        </p:spPr>
      </p:pic>
      <p:pic>
        <p:nvPicPr>
          <p:cNvPr id="11" name="08 up · Defence the kinetic trace Phys" descr="Defence the kinetic trace Physics munition shock and degradation Calculates operational readiness reserve"/>
          <p:cNvPicPr>
            <a:picLocks noChangeAspect="1"/>
          </p:cNvPicPr>
          <p:nvPr/>
        </p:nvPicPr>
        <p:blipFill>
          <a:blip r:embed="rId11"/>
          <a:stretch>
            <a:fillRect/>
          </a:stretch>
        </p:blipFill>
        <p:spPr>
          <a:xfrm>
            <a:off x="7670800" y="4375150"/>
            <a:ext cx="3860800" cy="1384300"/>
          </a:xfrm>
          <a:prstGeom prst="rect">
            <a:avLst/>
          </a:prstGeom>
        </p:spPr>
      </p:pic>
      <p:pic>
        <p:nvPicPr>
          <p:cNvPr id="12" name="09 zoom · Trace → State → Reserve → Deci" descr="Trace → State → Reserve → Decision Built first for the food cold chain"/>
          <p:cNvPicPr>
            <a:picLocks noChangeAspect="1"/>
          </p:cNvPicPr>
          <p:nvPr/>
        </p:nvPicPr>
        <p:blipFill>
          <a:blip r:embed="rId12"/>
          <a:stretch>
            <a:fillRect/>
          </a:stretch>
        </p:blipFill>
        <p:spPr>
          <a:xfrm>
            <a:off x="2743200" y="3333750"/>
            <a:ext cx="6705600" cy="111760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4" presetID="10" presetClass="entr" presetSubtype="0" fill="hold" decel="100000" nodeType="withEffect">
                                  <p:stCondLst>
                                    <p:cond delay="200"/>
                                  </p:stCondLst>
                                  <p:childTnLst>
                                    <p:set>
                                      <p:cBhvr>
                                        <p:cTn id="5" dur="1" fill="hold">
                                          <p:stCondLst>
                                            <p:cond delay="0"/>
                                          </p:stCondLst>
                                        </p:cTn>
                                        <p:tgtEl>
                                          <p:spTgt spid="3"/>
                                        </p:tgtEl>
                                        <p:attrNameLst>
                                          <p:attrName>style.visibility</p:attrName>
                                        </p:attrNameLst>
                                      </p:cBhvr>
                                      <p:to>
                                        <p:strVal val="visible"/>
                                      </p:to>
                                    </p:set>
                                    <p:animEffect transition="in" filter="fade">
                                      <p:cBhvr>
                                        <p:cTn id="3" dur="900"/>
                                        <p:tgtEl>
                                          <p:spTgt spid="3"/>
                                        </p:tgtEl>
                                      </p:cBhvr>
                                    </p:animEffect>
                                  </p:childTnLst>
                                </p:cTn>
                              </p:par>
                              <p:par>
                                <p:cTn id="7" presetID="10" presetClass="entr" presetSubtype="0" fill="hold" decel="100000" nodeType="withEffect">
                                  <p:stCondLst>
                                    <p:cond delay="0"/>
                                  </p:stCondLst>
                                  <p:childTnLst>
                                    <p:set>
                                      <p:cBhvr>
                                        <p:cTn id="8" dur="1" fill="hold">
                                          <p:stCondLst>
                                            <p:cond delay="0"/>
                                          </p:stCondLst>
                                        </p:cTn>
                                        <p:tgtEl>
                                          <p:spTgt spid="4"/>
                                        </p:tgtEl>
                                        <p:attrNameLst>
                                          <p:attrName>style.visibility</p:attrName>
                                        </p:attrNameLst>
                                      </p:cBhvr>
                                      <p:to>
                                        <p:strVal val="visible"/>
                                      </p:to>
                                    </p:set>
                                    <p:animEffect transition="in" filter="fade">
                                      <p:cBhvr>
                                        <p:cTn id="6" dur="900"/>
                                        <p:tgtEl>
                                          <p:spTgt spid="4"/>
                                        </p:tgtEl>
                                      </p:cBhvr>
                                    </p:animEffect>
                                  </p:childTnLst>
                                </p:cTn>
                              </p:par>
                              <p:par>
                                <p:cTn id="11" presetID="2" presetClass="entr" presetSubtype="4" fill="hold" decel="100000" nodeType="withEffect">
                                  <p:stCondLst>
                                    <p:cond delay="120"/>
                                  </p:stCondLst>
                                  <p:childTnLst>
                                    <p:set>
                                      <p:cBhvr>
                                        <p:cTn id="12" dur="1" fill="hold">
                                          <p:stCondLst>
                                            <p:cond delay="0"/>
                                          </p:stCondLst>
                                        </p:cTn>
                                        <p:tgtEl>
                                          <p:spTgt spid="5"/>
                                        </p:tgtEl>
                                        <p:attrNameLst>
                                          <p:attrName>style.visibility</p:attrName>
                                        </p:attrNameLst>
                                      </p:cBhvr>
                                      <p:to>
                                        <p:strVal val="visible"/>
                                      </p:to>
                                    </p:set>
                                    <p:anim calcmode="lin" valueType="num">
                                      <p:cBhvr additive="base">
                                        <p:cTn id="9" dur="900" fill="hold"/>
                                        <p:tgtEl>
                                          <p:spTgt spid="5"/>
                                        </p:tgtEl>
                                        <p:attrNameLst>
                                          <p:attrName>ppt_y</p:attrName>
                                        </p:attrNameLst>
                                      </p:cBhvr>
                                      <p:tavLst>
                                        <p:tav tm="0">
                                          <p:val>
                                            <p:strVal val="#ppt_y+0.03"/>
                                          </p:val>
                                        </p:tav>
                                        <p:tav tm="100000">
                                          <p:val>
                                            <p:strVal val="#ppt_y"/>
                                          </p:val>
                                        </p:tav>
                                      </p:tavLst>
                                    </p:anim>
                                    <p:animEffect transition="in" filter="fade">
                                      <p:cBhvr>
                                        <p:cTn id="10" dur="900"/>
                                        <p:tgtEl>
                                          <p:spTgt spid="5"/>
                                        </p:tgtEl>
                                      </p:cBhvr>
                                    </p:animEffect>
                                  </p:childTnLst>
                                </p:cTn>
                              </p:par>
                              <p:par>
                                <p:cTn id="15" presetID="2" presetClass="entr" presetSubtype="4" fill="hold" decel="100000" nodeType="withEffect">
                                  <p:stCondLst>
                                    <p:cond delay="250"/>
                                  </p:stCondLst>
                                  <p:childTnLst>
                                    <p:set>
                                      <p:cBhvr>
                                        <p:cTn id="16" dur="1" fill="hold">
                                          <p:stCondLst>
                                            <p:cond delay="0"/>
                                          </p:stCondLst>
                                        </p:cTn>
                                        <p:tgtEl>
                                          <p:spTgt spid="6"/>
                                        </p:tgtEl>
                                        <p:attrNameLst>
                                          <p:attrName>style.visibility</p:attrName>
                                        </p:attrNameLst>
                                      </p:cBhvr>
                                      <p:to>
                                        <p:strVal val="visible"/>
                                      </p:to>
                                    </p:set>
                                    <p:anim calcmode="lin" valueType="num">
                                      <p:cBhvr additive="base">
                                        <p:cTn id="13" dur="900" fill="hold"/>
                                        <p:tgtEl>
                                          <p:spTgt spid="6"/>
                                        </p:tgtEl>
                                        <p:attrNameLst>
                                          <p:attrName>ppt_y</p:attrName>
                                        </p:attrNameLst>
                                      </p:cBhvr>
                                      <p:tavLst>
                                        <p:tav tm="0">
                                          <p:val>
                                            <p:strVal val="#ppt_y+0.03"/>
                                          </p:val>
                                        </p:tav>
                                        <p:tav tm="100000">
                                          <p:val>
                                            <p:strVal val="#ppt_y"/>
                                          </p:val>
                                        </p:tav>
                                      </p:tavLst>
                                    </p:anim>
                                    <p:animEffect transition="in" filter="fade">
                                      <p:cBhvr>
                                        <p:cTn id="14" dur="900"/>
                                        <p:tgtEl>
                                          <p:spTgt spid="6"/>
                                        </p:tgtEl>
                                      </p:cBhvr>
                                    </p:animEffect>
                                  </p:childTnLst>
                                </p:cTn>
                              </p:par>
                              <p:par>
                                <p:cTn id="18" presetID="10" presetClass="entr" presetSubtype="0" fill="hold" decel="100000" nodeType="withEffect">
                                  <p:stCondLst>
                                    <p:cond delay="900"/>
                                  </p:stCondLst>
                                  <p:childTnLst>
                                    <p:set>
                                      <p:cBhvr>
                                        <p:cTn id="19" dur="1" fill="hold">
                                          <p:stCondLst>
                                            <p:cond delay="0"/>
                                          </p:stCondLst>
                                        </p:cTn>
                                        <p:tgtEl>
                                          <p:spTgt spid="7"/>
                                        </p:tgtEl>
                                        <p:attrNameLst>
                                          <p:attrName>style.visibility</p:attrName>
                                        </p:attrNameLst>
                                      </p:cBhvr>
                                      <p:to>
                                        <p:strVal val="visible"/>
                                      </p:to>
                                    </p:set>
                                    <p:animEffect transition="in" filter="fade">
                                      <p:cBhvr>
                                        <p:cTn id="17" dur="900"/>
                                        <p:tgtEl>
                                          <p:spTgt spid="7"/>
                                        </p:tgtEl>
                                      </p:cBhvr>
                                    </p:animEffect>
                                  </p:childTnLst>
                                </p:cTn>
                              </p:par>
                              <p:par>
                                <p:cTn id="22" presetID="2" presetClass="entr" presetSubtype="4" fill="hold" decel="100000" nodeType="withEffect">
                                  <p:stCondLst>
                                    <p:cond delay="500"/>
                                  </p:stCondLst>
                                  <p:childTnLst>
                                    <p:set>
                                      <p:cBhvr>
                                        <p:cTn id="23" dur="1" fill="hold">
                                          <p:stCondLst>
                                            <p:cond delay="0"/>
                                          </p:stCondLst>
                                        </p:cTn>
                                        <p:tgtEl>
                                          <p:spTgt spid="8"/>
                                        </p:tgtEl>
                                        <p:attrNameLst>
                                          <p:attrName>style.visibility</p:attrName>
                                        </p:attrNameLst>
                                      </p:cBhvr>
                                      <p:to>
                                        <p:strVal val="visible"/>
                                      </p:to>
                                    </p:set>
                                    <p:anim calcmode="lin" valueType="num">
                                      <p:cBhvr additive="base">
                                        <p:cTn id="20" dur="900" fill="hold"/>
                                        <p:tgtEl>
                                          <p:spTgt spid="8"/>
                                        </p:tgtEl>
                                        <p:attrNameLst>
                                          <p:attrName>ppt_y</p:attrName>
                                        </p:attrNameLst>
                                      </p:cBhvr>
                                      <p:tavLst>
                                        <p:tav tm="0">
                                          <p:val>
                                            <p:strVal val="#ppt_y+0.03"/>
                                          </p:val>
                                        </p:tav>
                                        <p:tav tm="100000">
                                          <p:val>
                                            <p:strVal val="#ppt_y"/>
                                          </p:val>
                                        </p:tav>
                                      </p:tavLst>
                                    </p:anim>
                                    <p:animEffect transition="in" filter="fade">
                                      <p:cBhvr>
                                        <p:cTn id="21" dur="900"/>
                                        <p:tgtEl>
                                          <p:spTgt spid="8"/>
                                        </p:tgtEl>
                                      </p:cBhvr>
                                    </p:animEffect>
                                  </p:childTnLst>
                                </p:cTn>
                              </p:par>
                              <p:par>
                                <p:cTn id="26" presetID="2" presetClass="entr" presetSubtype="4" fill="hold" decel="100000" nodeType="withEffect">
                                  <p:stCondLst>
                                    <p:cond delay="600"/>
                                  </p:stCondLst>
                                  <p:childTnLst>
                                    <p:set>
                                      <p:cBhvr>
                                        <p:cTn id="27" dur="1" fill="hold">
                                          <p:stCondLst>
                                            <p:cond delay="0"/>
                                          </p:stCondLst>
                                        </p:cTn>
                                        <p:tgtEl>
                                          <p:spTgt spid="9"/>
                                        </p:tgtEl>
                                        <p:attrNameLst>
                                          <p:attrName>style.visibility</p:attrName>
                                        </p:attrNameLst>
                                      </p:cBhvr>
                                      <p:to>
                                        <p:strVal val="visible"/>
                                      </p:to>
                                    </p:set>
                                    <p:anim calcmode="lin" valueType="num">
                                      <p:cBhvr additive="base">
                                        <p:cTn id="24" dur="900" fill="hold"/>
                                        <p:tgtEl>
                                          <p:spTgt spid="9"/>
                                        </p:tgtEl>
                                        <p:attrNameLst>
                                          <p:attrName>ppt_y</p:attrName>
                                        </p:attrNameLst>
                                      </p:cBhvr>
                                      <p:tavLst>
                                        <p:tav tm="0">
                                          <p:val>
                                            <p:strVal val="#ppt_y+0.03"/>
                                          </p:val>
                                        </p:tav>
                                        <p:tav tm="100000">
                                          <p:val>
                                            <p:strVal val="#ppt_y"/>
                                          </p:val>
                                        </p:tav>
                                      </p:tavLst>
                                    </p:anim>
                                    <p:animEffect transition="in" filter="fade">
                                      <p:cBhvr>
                                        <p:cTn id="25" dur="900"/>
                                        <p:tgtEl>
                                          <p:spTgt spid="9"/>
                                        </p:tgtEl>
                                      </p:cBhvr>
                                    </p:animEffect>
                                  </p:childTnLst>
                                </p:cTn>
                              </p:par>
                              <p:par>
                                <p:cTn id="30" presetID="2" presetClass="entr" presetSubtype="4" fill="hold" decel="100000" nodeType="withEffect">
                                  <p:stCondLst>
                                    <p:cond delay="700"/>
                                  </p:stCondLst>
                                  <p:childTnLst>
                                    <p:set>
                                      <p:cBhvr>
                                        <p:cTn id="31" dur="1" fill="hold">
                                          <p:stCondLst>
                                            <p:cond delay="0"/>
                                          </p:stCondLst>
                                        </p:cTn>
                                        <p:tgtEl>
                                          <p:spTgt spid="10"/>
                                        </p:tgtEl>
                                        <p:attrNameLst>
                                          <p:attrName>style.visibility</p:attrName>
                                        </p:attrNameLst>
                                      </p:cBhvr>
                                      <p:to>
                                        <p:strVal val="visible"/>
                                      </p:to>
                                    </p:set>
                                    <p:anim calcmode="lin" valueType="num">
                                      <p:cBhvr additive="base">
                                        <p:cTn id="28" dur="900" fill="hold"/>
                                        <p:tgtEl>
                                          <p:spTgt spid="10"/>
                                        </p:tgtEl>
                                        <p:attrNameLst>
                                          <p:attrName>ppt_y</p:attrName>
                                        </p:attrNameLst>
                                      </p:cBhvr>
                                      <p:tavLst>
                                        <p:tav tm="0">
                                          <p:val>
                                            <p:strVal val="#ppt_y+0.03"/>
                                          </p:val>
                                        </p:tav>
                                        <p:tav tm="100000">
                                          <p:val>
                                            <p:strVal val="#ppt_y"/>
                                          </p:val>
                                        </p:tav>
                                      </p:tavLst>
                                    </p:anim>
                                    <p:animEffect transition="in" filter="fade">
                                      <p:cBhvr>
                                        <p:cTn id="29" dur="900"/>
                                        <p:tgtEl>
                                          <p:spTgt spid="10"/>
                                        </p:tgtEl>
                                      </p:cBhvr>
                                    </p:animEffect>
                                  </p:childTnLst>
                                </p:cTn>
                              </p:par>
                              <p:par>
                                <p:cTn id="34" presetID="2" presetClass="entr" presetSubtype="4" fill="hold" decel="100000" nodeType="withEffect">
                                  <p:stCondLst>
                                    <p:cond delay="800"/>
                                  </p:stCondLst>
                                  <p:childTnLst>
                                    <p:set>
                                      <p:cBhvr>
                                        <p:cTn id="35" dur="1" fill="hold">
                                          <p:stCondLst>
                                            <p:cond delay="0"/>
                                          </p:stCondLst>
                                        </p:cTn>
                                        <p:tgtEl>
                                          <p:spTgt spid="11"/>
                                        </p:tgtEl>
                                        <p:attrNameLst>
                                          <p:attrName>style.visibility</p:attrName>
                                        </p:attrNameLst>
                                      </p:cBhvr>
                                      <p:to>
                                        <p:strVal val="visible"/>
                                      </p:to>
                                    </p:set>
                                    <p:anim calcmode="lin" valueType="num">
                                      <p:cBhvr additive="base">
                                        <p:cTn id="32" dur="900" fill="hold"/>
                                        <p:tgtEl>
                                          <p:spTgt spid="11"/>
                                        </p:tgtEl>
                                        <p:attrNameLst>
                                          <p:attrName>ppt_y</p:attrName>
                                        </p:attrNameLst>
                                      </p:cBhvr>
                                      <p:tavLst>
                                        <p:tav tm="0">
                                          <p:val>
                                            <p:strVal val="#ppt_y+0.03"/>
                                          </p:val>
                                        </p:tav>
                                        <p:tav tm="100000">
                                          <p:val>
                                            <p:strVal val="#ppt_y"/>
                                          </p:val>
                                        </p:tav>
                                      </p:tavLst>
                                    </p:anim>
                                    <p:animEffect transition="in" filter="fade">
                                      <p:cBhvr>
                                        <p:cTn id="33" dur="900"/>
                                        <p:tgtEl>
                                          <p:spTgt spid="11"/>
                                        </p:tgtEl>
                                      </p:cBhvr>
                                    </p:animEffect>
                                  </p:childTnLst>
                                </p:cTn>
                              </p:par>
                              <p:par>
                                <p:cTn id="39" presetID="53" presetClass="entr" presetSubtype="16" fill="hold" decel="100000" nodeType="withEffect">
                                  <p:stCondLst>
                                    <p:cond delay="300"/>
                                  </p:stCondLst>
                                  <p:childTnLst>
                                    <p:set>
                                      <p:cBhvr>
                                        <p:cTn id="40" dur="1" fill="hold">
                                          <p:stCondLst>
                                            <p:cond delay="0"/>
                                          </p:stCondLst>
                                        </p:cTn>
                                        <p:tgtEl>
                                          <p:spTgt spid="12"/>
                                        </p:tgtEl>
                                        <p:attrNameLst>
                                          <p:attrName>style.visibility</p:attrName>
                                        </p:attrNameLst>
                                      </p:cBhvr>
                                      <p:to>
                                        <p:strVal val="visible"/>
                                      </p:to>
                                    </p:set>
                                    <p:anim calcmode="lin" valueType="num">
                                      <p:cBhvr additive="base">
                                        <p:cTn id="36" dur="900" fill="hold"/>
                                        <p:tgtEl>
                                          <p:spTgt spid="12"/>
                                        </p:tgtEl>
                                        <p:attrNameLst>
                                          <p:attrName>ppt_w</p:attrName>
                                        </p:attrNameLst>
                                      </p:cBhvr>
                                      <p:tavLst>
                                        <p:tav tm="0">
                                          <p:val>
                                            <p:strVal val="#ppt_w*0.94"/>
                                          </p:val>
                                        </p:tav>
                                        <p:tav tm="100000">
                                          <p:val>
                                            <p:strVal val="#ppt_w"/>
                                          </p:val>
                                        </p:tav>
                                      </p:tavLst>
                                    </p:anim>
                                    <p:anim calcmode="lin" valueType="num">
                                      <p:cBhvr additive="base">
                                        <p:cTn id="37" dur="900" fill="hold"/>
                                        <p:tgtEl>
                                          <p:spTgt spid="12"/>
                                        </p:tgtEl>
                                        <p:attrNameLst>
                                          <p:attrName>ppt_h</p:attrName>
                                        </p:attrNameLst>
                                      </p:cBhvr>
                                      <p:tavLst>
                                        <p:tav tm="0">
                                          <p:val>
                                            <p:strVal val="#ppt_h*0.94"/>
                                          </p:val>
                                        </p:tav>
                                        <p:tav tm="100000">
                                          <p:val>
                                            <p:strVal val="#ppt_h"/>
                                          </p:val>
                                        </p:tav>
                                      </p:tavLst>
                                    </p:anim>
                                    <p:animEffect transition="in" filter="fade">
                                      <p:cBhvr>
                                        <p:cTn id="38" dur="9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ground" descr="Thank you slide background"/>
          <p:cNvPicPr>
            <a:picLocks noChangeAspect="1"/>
          </p:cNvPicPr>
          <p:nvPr/>
        </p:nvPicPr>
        <p:blipFill>
          <a:blip r:embed="rId2"/>
          <a:stretch>
            <a:fillRect/>
          </a:stretch>
        </p:blipFill>
        <p:spPr>
          <a:xfrm>
            <a:off x="0" y="0"/>
            <a:ext cx="12192000" cy="6858000"/>
          </a:xfrm>
          <a:prstGeom prst="rect">
            <a:avLst/>
          </a:prstGeom>
        </p:spPr>
      </p:pic>
      <p:pic>
        <p:nvPicPr>
          <p:cNvPr id="3" name="00 fade · graphic" descr=""/>
          <p:cNvPicPr>
            <a:picLocks noChangeAspect="1"/>
          </p:cNvPicPr>
          <p:nvPr/>
        </p:nvPicPr>
        <p:blipFill>
          <a:blip r:embed="rId3"/>
          <a:stretch>
            <a:fillRect/>
          </a:stretch>
        </p:blipFill>
        <p:spPr>
          <a:xfrm>
            <a:off x="8686800" y="508000"/>
            <a:ext cx="2844800" cy="1739900"/>
          </a:xfrm>
          <a:prstGeom prst="rect">
            <a:avLst/>
          </a:prstGeom>
        </p:spPr>
      </p:pic>
      <p:pic>
        <p:nvPicPr>
          <p:cNvPr id="4" name="01 fade · —Thermal Trace · by Generative" descr="—Thermal Trace · by Generative Gains"/>
          <p:cNvPicPr>
            <a:picLocks noChangeAspect="1"/>
          </p:cNvPicPr>
          <p:nvPr/>
        </p:nvPicPr>
        <p:blipFill>
          <a:blip r:embed="rId4"/>
          <a:stretch>
            <a:fillRect/>
          </a:stretch>
        </p:blipFill>
        <p:spPr>
          <a:xfrm>
            <a:off x="660400" y="869950"/>
            <a:ext cx="10871200" cy="450850"/>
          </a:xfrm>
          <a:prstGeom prst="rect">
            <a:avLst/>
          </a:prstGeom>
        </p:spPr>
      </p:pic>
      <p:pic>
        <p:nvPicPr>
          <p:cNvPr id="5" name="02 up · Thank you." descr="Thank you."/>
          <p:cNvPicPr>
            <a:picLocks noChangeAspect="1"/>
          </p:cNvPicPr>
          <p:nvPr/>
        </p:nvPicPr>
        <p:blipFill>
          <a:blip r:embed="rId5"/>
          <a:stretch>
            <a:fillRect/>
          </a:stretch>
        </p:blipFill>
        <p:spPr>
          <a:xfrm>
            <a:off x="660400" y="1238250"/>
            <a:ext cx="9829800" cy="1104900"/>
          </a:xfrm>
          <a:prstGeom prst="rect">
            <a:avLst/>
          </a:prstGeom>
        </p:spPr>
      </p:pic>
      <p:pic>
        <p:nvPicPr>
          <p:cNvPr id="6" name="03 up · Generative Gains is raising QA" descr="Generative Gains is raising QAR 1.85M to prove Thermal Trace in the field: that what a failing fridge costs can be measured, and recovered."/>
          <p:cNvPicPr>
            <a:picLocks noChangeAspect="1"/>
          </p:cNvPicPr>
          <p:nvPr/>
        </p:nvPicPr>
        <p:blipFill>
          <a:blip r:embed="rId6"/>
          <a:stretch>
            <a:fillRect/>
          </a:stretch>
        </p:blipFill>
        <p:spPr>
          <a:xfrm>
            <a:off x="660400" y="2260600"/>
            <a:ext cx="8686800" cy="927100"/>
          </a:xfrm>
          <a:prstGeom prst="rect">
            <a:avLst/>
          </a:prstGeom>
        </p:spPr>
      </p:pic>
      <p:pic>
        <p:nvPicPr>
          <p:cNvPr id="7" name="04 up · Najeeb AbdiMath · Frontend" descr="Najeeb AbdiMath · Frontend"/>
          <p:cNvPicPr>
            <a:picLocks noChangeAspect="1"/>
          </p:cNvPicPr>
          <p:nvPr/>
        </p:nvPicPr>
        <p:blipFill>
          <a:blip r:embed="rId7"/>
          <a:stretch>
            <a:fillRect/>
          </a:stretch>
        </p:blipFill>
        <p:spPr>
          <a:xfrm>
            <a:off x="660400" y="3333750"/>
            <a:ext cx="2317750" cy="1682750"/>
          </a:xfrm>
          <a:prstGeom prst="rect">
            <a:avLst/>
          </a:prstGeom>
        </p:spPr>
      </p:pic>
      <p:pic>
        <p:nvPicPr>
          <p:cNvPr id="8" name="05 up · IslambekHardware engineer" descr="IslambekHardware engineer"/>
          <p:cNvPicPr>
            <a:picLocks noChangeAspect="1"/>
          </p:cNvPicPr>
          <p:nvPr/>
        </p:nvPicPr>
        <p:blipFill>
          <a:blip r:embed="rId8"/>
          <a:stretch>
            <a:fillRect/>
          </a:stretch>
        </p:blipFill>
        <p:spPr>
          <a:xfrm>
            <a:off x="2794000" y="3333750"/>
            <a:ext cx="2324100" cy="1682750"/>
          </a:xfrm>
          <a:prstGeom prst="rect">
            <a:avLst/>
          </a:prstGeom>
        </p:spPr>
      </p:pic>
      <p:pic>
        <p:nvPicPr>
          <p:cNvPr id="9" name="06 up · Param Anand TrimbakeFrontend" descr="Param Anand TrimbakeFrontend"/>
          <p:cNvPicPr>
            <a:picLocks noChangeAspect="1"/>
          </p:cNvPicPr>
          <p:nvPr/>
        </p:nvPicPr>
        <p:blipFill>
          <a:blip r:embed="rId9"/>
          <a:stretch>
            <a:fillRect/>
          </a:stretch>
        </p:blipFill>
        <p:spPr>
          <a:xfrm>
            <a:off x="4933950" y="3333750"/>
            <a:ext cx="2324100" cy="1682750"/>
          </a:xfrm>
          <a:prstGeom prst="rect">
            <a:avLst/>
          </a:prstGeom>
        </p:spPr>
      </p:pic>
      <p:pic>
        <p:nvPicPr>
          <p:cNvPr id="10" name="07 up · Ahad HussainAI engineer" descr="Ahad HussainAI engineer"/>
          <p:cNvPicPr>
            <a:picLocks noChangeAspect="1"/>
          </p:cNvPicPr>
          <p:nvPr/>
        </p:nvPicPr>
        <p:blipFill>
          <a:blip r:embed="rId10"/>
          <a:stretch>
            <a:fillRect/>
          </a:stretch>
        </p:blipFill>
        <p:spPr>
          <a:xfrm>
            <a:off x="7073900" y="3333750"/>
            <a:ext cx="2324100" cy="1682750"/>
          </a:xfrm>
          <a:prstGeom prst="rect">
            <a:avLst/>
          </a:prstGeom>
        </p:spPr>
      </p:pic>
      <p:pic>
        <p:nvPicPr>
          <p:cNvPr id="11" name="08 up · Robin ThomasBusiness · Product" descr="Robin ThomasBusiness · Product"/>
          <p:cNvPicPr>
            <a:picLocks noChangeAspect="1"/>
          </p:cNvPicPr>
          <p:nvPr/>
        </p:nvPicPr>
        <p:blipFill>
          <a:blip r:embed="rId11"/>
          <a:stretch>
            <a:fillRect/>
          </a:stretch>
        </p:blipFill>
        <p:spPr>
          <a:xfrm>
            <a:off x="9213850" y="3333750"/>
            <a:ext cx="2317750" cy="1682750"/>
          </a:xfrm>
          <a:prstGeom prst="rect">
            <a:avLst/>
          </a:prstGeom>
        </p:spPr>
      </p:pic>
      <p:pic>
        <p:nvPicPr>
          <p:cNvPr id="12" name="09 fade · Generative Gains · Pre-seed · " descr="Generative Gains · Pre-seed · QAR 1.85M · Qatar first, GCC next github.com/Isl-d/Reboot-The-Earth-Cold-Chain-Logistics"/>
          <p:cNvPicPr>
            <a:picLocks noChangeAspect="1"/>
          </p:cNvPicPr>
          <p:nvPr/>
        </p:nvPicPr>
        <p:blipFill>
          <a:blip r:embed="rId12"/>
          <a:stretch>
            <a:fillRect/>
          </a:stretch>
        </p:blipFill>
        <p:spPr>
          <a:xfrm>
            <a:off x="660400" y="5111750"/>
            <a:ext cx="10871200" cy="74930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4" presetID="10" presetClass="entr" presetSubtype="0" fill="hold" decel="100000" nodeType="withEffect">
                                  <p:stCondLst>
                                    <p:cond delay="400"/>
                                  </p:stCondLst>
                                  <p:childTnLst>
                                    <p:set>
                                      <p:cBhvr>
                                        <p:cTn id="5" dur="1" fill="hold">
                                          <p:stCondLst>
                                            <p:cond delay="0"/>
                                          </p:stCondLst>
                                        </p:cTn>
                                        <p:tgtEl>
                                          <p:spTgt spid="3"/>
                                        </p:tgtEl>
                                        <p:attrNameLst>
                                          <p:attrName>style.visibility</p:attrName>
                                        </p:attrNameLst>
                                      </p:cBhvr>
                                      <p:to>
                                        <p:strVal val="visible"/>
                                      </p:to>
                                    </p:set>
                                    <p:animEffect transition="in" filter="fade">
                                      <p:cBhvr>
                                        <p:cTn id="3" dur="900"/>
                                        <p:tgtEl>
                                          <p:spTgt spid="3"/>
                                        </p:tgtEl>
                                      </p:cBhvr>
                                    </p:animEffect>
                                  </p:childTnLst>
                                </p:cTn>
                              </p:par>
                              <p:par>
                                <p:cTn id="7" presetID="10" presetClass="entr" presetSubtype="0" fill="hold" decel="100000" nodeType="withEffect">
                                  <p:stCondLst>
                                    <p:cond delay="0"/>
                                  </p:stCondLst>
                                  <p:childTnLst>
                                    <p:set>
                                      <p:cBhvr>
                                        <p:cTn id="8" dur="1" fill="hold">
                                          <p:stCondLst>
                                            <p:cond delay="0"/>
                                          </p:stCondLst>
                                        </p:cTn>
                                        <p:tgtEl>
                                          <p:spTgt spid="4"/>
                                        </p:tgtEl>
                                        <p:attrNameLst>
                                          <p:attrName>style.visibility</p:attrName>
                                        </p:attrNameLst>
                                      </p:cBhvr>
                                      <p:to>
                                        <p:strVal val="visible"/>
                                      </p:to>
                                    </p:set>
                                    <p:animEffect transition="in" filter="fade">
                                      <p:cBhvr>
                                        <p:cTn id="6" dur="900"/>
                                        <p:tgtEl>
                                          <p:spTgt spid="4"/>
                                        </p:tgtEl>
                                      </p:cBhvr>
                                    </p:animEffect>
                                  </p:childTnLst>
                                </p:cTn>
                              </p:par>
                              <p:par>
                                <p:cTn id="11" presetID="2" presetClass="entr" presetSubtype="4" fill="hold" decel="100000" nodeType="withEffect">
                                  <p:stCondLst>
                                    <p:cond delay="120"/>
                                  </p:stCondLst>
                                  <p:childTnLst>
                                    <p:set>
                                      <p:cBhvr>
                                        <p:cTn id="12" dur="1" fill="hold">
                                          <p:stCondLst>
                                            <p:cond delay="0"/>
                                          </p:stCondLst>
                                        </p:cTn>
                                        <p:tgtEl>
                                          <p:spTgt spid="5"/>
                                        </p:tgtEl>
                                        <p:attrNameLst>
                                          <p:attrName>style.visibility</p:attrName>
                                        </p:attrNameLst>
                                      </p:cBhvr>
                                      <p:to>
                                        <p:strVal val="visible"/>
                                      </p:to>
                                    </p:set>
                                    <p:anim calcmode="lin" valueType="num">
                                      <p:cBhvr additive="base">
                                        <p:cTn id="9" dur="900" fill="hold"/>
                                        <p:tgtEl>
                                          <p:spTgt spid="5"/>
                                        </p:tgtEl>
                                        <p:attrNameLst>
                                          <p:attrName>ppt_y</p:attrName>
                                        </p:attrNameLst>
                                      </p:cBhvr>
                                      <p:tavLst>
                                        <p:tav tm="0">
                                          <p:val>
                                            <p:strVal val="#ppt_y+0.03"/>
                                          </p:val>
                                        </p:tav>
                                        <p:tav tm="100000">
                                          <p:val>
                                            <p:strVal val="#ppt_y"/>
                                          </p:val>
                                        </p:tav>
                                      </p:tavLst>
                                    </p:anim>
                                    <p:animEffect transition="in" filter="fade">
                                      <p:cBhvr>
                                        <p:cTn id="10" dur="900"/>
                                        <p:tgtEl>
                                          <p:spTgt spid="5"/>
                                        </p:tgtEl>
                                      </p:cBhvr>
                                    </p:animEffect>
                                  </p:childTnLst>
                                </p:cTn>
                              </p:par>
                              <p:par>
                                <p:cTn id="15" presetID="2" presetClass="entr" presetSubtype="4" fill="hold" decel="100000" nodeType="withEffect">
                                  <p:stCondLst>
                                    <p:cond delay="300"/>
                                  </p:stCondLst>
                                  <p:childTnLst>
                                    <p:set>
                                      <p:cBhvr>
                                        <p:cTn id="16" dur="1" fill="hold">
                                          <p:stCondLst>
                                            <p:cond delay="0"/>
                                          </p:stCondLst>
                                        </p:cTn>
                                        <p:tgtEl>
                                          <p:spTgt spid="6"/>
                                        </p:tgtEl>
                                        <p:attrNameLst>
                                          <p:attrName>style.visibility</p:attrName>
                                        </p:attrNameLst>
                                      </p:cBhvr>
                                      <p:to>
                                        <p:strVal val="visible"/>
                                      </p:to>
                                    </p:set>
                                    <p:anim calcmode="lin" valueType="num">
                                      <p:cBhvr additive="base">
                                        <p:cTn id="13" dur="900" fill="hold"/>
                                        <p:tgtEl>
                                          <p:spTgt spid="6"/>
                                        </p:tgtEl>
                                        <p:attrNameLst>
                                          <p:attrName>ppt_y</p:attrName>
                                        </p:attrNameLst>
                                      </p:cBhvr>
                                      <p:tavLst>
                                        <p:tav tm="0">
                                          <p:val>
                                            <p:strVal val="#ppt_y+0.03"/>
                                          </p:val>
                                        </p:tav>
                                        <p:tav tm="100000">
                                          <p:val>
                                            <p:strVal val="#ppt_y"/>
                                          </p:val>
                                        </p:tav>
                                      </p:tavLst>
                                    </p:anim>
                                    <p:animEffect transition="in" filter="fade">
                                      <p:cBhvr>
                                        <p:cTn id="14" dur="900"/>
                                        <p:tgtEl>
                                          <p:spTgt spid="6"/>
                                        </p:tgtEl>
                                      </p:cBhvr>
                                    </p:animEffect>
                                  </p:childTnLst>
                                </p:cTn>
                              </p:par>
                              <p:par>
                                <p:cTn id="19" presetID="2" presetClass="entr" presetSubtype="4" fill="hold" decel="100000" nodeType="withEffect">
                                  <p:stCondLst>
                                    <p:cond delay="500"/>
                                  </p:stCondLst>
                                  <p:childTnLst>
                                    <p:set>
                                      <p:cBhvr>
                                        <p:cTn id="20" dur="1" fill="hold">
                                          <p:stCondLst>
                                            <p:cond delay="0"/>
                                          </p:stCondLst>
                                        </p:cTn>
                                        <p:tgtEl>
                                          <p:spTgt spid="7"/>
                                        </p:tgtEl>
                                        <p:attrNameLst>
                                          <p:attrName>style.visibility</p:attrName>
                                        </p:attrNameLst>
                                      </p:cBhvr>
                                      <p:to>
                                        <p:strVal val="visible"/>
                                      </p:to>
                                    </p:set>
                                    <p:anim calcmode="lin" valueType="num">
                                      <p:cBhvr additive="base">
                                        <p:cTn id="17" dur="900" fill="hold"/>
                                        <p:tgtEl>
                                          <p:spTgt spid="7"/>
                                        </p:tgtEl>
                                        <p:attrNameLst>
                                          <p:attrName>ppt_y</p:attrName>
                                        </p:attrNameLst>
                                      </p:cBhvr>
                                      <p:tavLst>
                                        <p:tav tm="0">
                                          <p:val>
                                            <p:strVal val="#ppt_y+0.03"/>
                                          </p:val>
                                        </p:tav>
                                        <p:tav tm="100000">
                                          <p:val>
                                            <p:strVal val="#ppt_y"/>
                                          </p:val>
                                        </p:tav>
                                      </p:tavLst>
                                    </p:anim>
                                    <p:animEffect transition="in" filter="fade">
                                      <p:cBhvr>
                                        <p:cTn id="18" dur="900"/>
                                        <p:tgtEl>
                                          <p:spTgt spid="7"/>
                                        </p:tgtEl>
                                      </p:cBhvr>
                                    </p:animEffect>
                                  </p:childTnLst>
                                </p:cTn>
                              </p:par>
                              <p:par>
                                <p:cTn id="23" presetID="2" presetClass="entr" presetSubtype="4" fill="hold" decel="100000" nodeType="withEffect">
                                  <p:stCondLst>
                                    <p:cond delay="600"/>
                                  </p:stCondLst>
                                  <p:childTnLst>
                                    <p:set>
                                      <p:cBhvr>
                                        <p:cTn id="24" dur="1" fill="hold">
                                          <p:stCondLst>
                                            <p:cond delay="0"/>
                                          </p:stCondLst>
                                        </p:cTn>
                                        <p:tgtEl>
                                          <p:spTgt spid="8"/>
                                        </p:tgtEl>
                                        <p:attrNameLst>
                                          <p:attrName>style.visibility</p:attrName>
                                        </p:attrNameLst>
                                      </p:cBhvr>
                                      <p:to>
                                        <p:strVal val="visible"/>
                                      </p:to>
                                    </p:set>
                                    <p:anim calcmode="lin" valueType="num">
                                      <p:cBhvr additive="base">
                                        <p:cTn id="21" dur="900" fill="hold"/>
                                        <p:tgtEl>
                                          <p:spTgt spid="8"/>
                                        </p:tgtEl>
                                        <p:attrNameLst>
                                          <p:attrName>ppt_y</p:attrName>
                                        </p:attrNameLst>
                                      </p:cBhvr>
                                      <p:tavLst>
                                        <p:tav tm="0">
                                          <p:val>
                                            <p:strVal val="#ppt_y+0.03"/>
                                          </p:val>
                                        </p:tav>
                                        <p:tav tm="100000">
                                          <p:val>
                                            <p:strVal val="#ppt_y"/>
                                          </p:val>
                                        </p:tav>
                                      </p:tavLst>
                                    </p:anim>
                                    <p:animEffect transition="in" filter="fade">
                                      <p:cBhvr>
                                        <p:cTn id="22" dur="900"/>
                                        <p:tgtEl>
                                          <p:spTgt spid="8"/>
                                        </p:tgtEl>
                                      </p:cBhvr>
                                    </p:animEffect>
                                  </p:childTnLst>
                                </p:cTn>
                              </p:par>
                              <p:par>
                                <p:cTn id="27" presetID="2" presetClass="entr" presetSubtype="4" fill="hold" decel="100000" nodeType="withEffect">
                                  <p:stCondLst>
                                    <p:cond delay="700"/>
                                  </p:stCondLst>
                                  <p:childTnLst>
                                    <p:set>
                                      <p:cBhvr>
                                        <p:cTn id="28" dur="1" fill="hold">
                                          <p:stCondLst>
                                            <p:cond delay="0"/>
                                          </p:stCondLst>
                                        </p:cTn>
                                        <p:tgtEl>
                                          <p:spTgt spid="9"/>
                                        </p:tgtEl>
                                        <p:attrNameLst>
                                          <p:attrName>style.visibility</p:attrName>
                                        </p:attrNameLst>
                                      </p:cBhvr>
                                      <p:to>
                                        <p:strVal val="visible"/>
                                      </p:to>
                                    </p:set>
                                    <p:anim calcmode="lin" valueType="num">
                                      <p:cBhvr additive="base">
                                        <p:cTn id="25" dur="900" fill="hold"/>
                                        <p:tgtEl>
                                          <p:spTgt spid="9"/>
                                        </p:tgtEl>
                                        <p:attrNameLst>
                                          <p:attrName>ppt_y</p:attrName>
                                        </p:attrNameLst>
                                      </p:cBhvr>
                                      <p:tavLst>
                                        <p:tav tm="0">
                                          <p:val>
                                            <p:strVal val="#ppt_y+0.03"/>
                                          </p:val>
                                        </p:tav>
                                        <p:tav tm="100000">
                                          <p:val>
                                            <p:strVal val="#ppt_y"/>
                                          </p:val>
                                        </p:tav>
                                      </p:tavLst>
                                    </p:anim>
                                    <p:animEffect transition="in" filter="fade">
                                      <p:cBhvr>
                                        <p:cTn id="26" dur="900"/>
                                        <p:tgtEl>
                                          <p:spTgt spid="9"/>
                                        </p:tgtEl>
                                      </p:cBhvr>
                                    </p:animEffect>
                                  </p:childTnLst>
                                </p:cTn>
                              </p:par>
                              <p:par>
                                <p:cTn id="31" presetID="2" presetClass="entr" presetSubtype="4" fill="hold" decel="100000" nodeType="withEffect">
                                  <p:stCondLst>
                                    <p:cond delay="800"/>
                                  </p:stCondLst>
                                  <p:childTnLst>
                                    <p:set>
                                      <p:cBhvr>
                                        <p:cTn id="32" dur="1" fill="hold">
                                          <p:stCondLst>
                                            <p:cond delay="0"/>
                                          </p:stCondLst>
                                        </p:cTn>
                                        <p:tgtEl>
                                          <p:spTgt spid="10"/>
                                        </p:tgtEl>
                                        <p:attrNameLst>
                                          <p:attrName>style.visibility</p:attrName>
                                        </p:attrNameLst>
                                      </p:cBhvr>
                                      <p:to>
                                        <p:strVal val="visible"/>
                                      </p:to>
                                    </p:set>
                                    <p:anim calcmode="lin" valueType="num">
                                      <p:cBhvr additive="base">
                                        <p:cTn id="29" dur="900" fill="hold"/>
                                        <p:tgtEl>
                                          <p:spTgt spid="10"/>
                                        </p:tgtEl>
                                        <p:attrNameLst>
                                          <p:attrName>ppt_y</p:attrName>
                                        </p:attrNameLst>
                                      </p:cBhvr>
                                      <p:tavLst>
                                        <p:tav tm="0">
                                          <p:val>
                                            <p:strVal val="#ppt_y+0.03"/>
                                          </p:val>
                                        </p:tav>
                                        <p:tav tm="100000">
                                          <p:val>
                                            <p:strVal val="#ppt_y"/>
                                          </p:val>
                                        </p:tav>
                                      </p:tavLst>
                                    </p:anim>
                                    <p:animEffect transition="in" filter="fade">
                                      <p:cBhvr>
                                        <p:cTn id="30" dur="900"/>
                                        <p:tgtEl>
                                          <p:spTgt spid="10"/>
                                        </p:tgtEl>
                                      </p:cBhvr>
                                    </p:animEffect>
                                  </p:childTnLst>
                                </p:cTn>
                              </p:par>
                              <p:par>
                                <p:cTn id="35" presetID="2" presetClass="entr" presetSubtype="4" fill="hold" decel="100000" nodeType="withEffect">
                                  <p:stCondLst>
                                    <p:cond delay="900"/>
                                  </p:stCondLst>
                                  <p:childTnLst>
                                    <p:set>
                                      <p:cBhvr>
                                        <p:cTn id="36" dur="1" fill="hold">
                                          <p:stCondLst>
                                            <p:cond delay="0"/>
                                          </p:stCondLst>
                                        </p:cTn>
                                        <p:tgtEl>
                                          <p:spTgt spid="11"/>
                                        </p:tgtEl>
                                        <p:attrNameLst>
                                          <p:attrName>style.visibility</p:attrName>
                                        </p:attrNameLst>
                                      </p:cBhvr>
                                      <p:to>
                                        <p:strVal val="visible"/>
                                      </p:to>
                                    </p:set>
                                    <p:anim calcmode="lin" valueType="num">
                                      <p:cBhvr additive="base">
                                        <p:cTn id="33" dur="900" fill="hold"/>
                                        <p:tgtEl>
                                          <p:spTgt spid="11"/>
                                        </p:tgtEl>
                                        <p:attrNameLst>
                                          <p:attrName>ppt_y</p:attrName>
                                        </p:attrNameLst>
                                      </p:cBhvr>
                                      <p:tavLst>
                                        <p:tav tm="0">
                                          <p:val>
                                            <p:strVal val="#ppt_y+0.03"/>
                                          </p:val>
                                        </p:tav>
                                        <p:tav tm="100000">
                                          <p:val>
                                            <p:strVal val="#ppt_y"/>
                                          </p:val>
                                        </p:tav>
                                      </p:tavLst>
                                    </p:anim>
                                    <p:animEffect transition="in" filter="fade">
                                      <p:cBhvr>
                                        <p:cTn id="34" dur="900"/>
                                        <p:tgtEl>
                                          <p:spTgt spid="11"/>
                                        </p:tgtEl>
                                      </p:cBhvr>
                                    </p:animEffect>
                                  </p:childTnLst>
                                </p:cTn>
                              </p:par>
                              <p:par>
                                <p:cTn id="38" presetID="10" presetClass="entr" presetSubtype="0" fill="hold" decel="100000" nodeType="withEffect">
                                  <p:stCondLst>
                                    <p:cond delay="1200"/>
                                  </p:stCondLst>
                                  <p:childTnLst>
                                    <p:set>
                                      <p:cBhvr>
                                        <p:cTn id="39" dur="1" fill="hold">
                                          <p:stCondLst>
                                            <p:cond delay="0"/>
                                          </p:stCondLst>
                                        </p:cTn>
                                        <p:tgtEl>
                                          <p:spTgt spid="12"/>
                                        </p:tgtEl>
                                        <p:attrNameLst>
                                          <p:attrName>style.visibility</p:attrName>
                                        </p:attrNameLst>
                                      </p:cBhvr>
                                      <p:to>
                                        <p:strVal val="visible"/>
                                      </p:to>
                                    </p:set>
                                    <p:animEffect transition="in" filter="fade">
                                      <p:cBhvr>
                                        <p:cTn id="37" dur="9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Thermal Trace — Pitch</dc:title>
  <dc:subject/>
  <dc:creator>Generative Gains</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